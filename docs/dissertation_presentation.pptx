
<file path=[Content_Types].xml><?xml version="1.0" encoding="utf-8"?>
<Types xmlns="http://schemas.openxmlformats.org/package/2006/content-types">
  <Default Extension="emf" ContentType="image/x-emf"/>
  <Default Extension="jpeg" ContentType="image/jpeg"/>
  <Default Extension="mov" ContentType="video/quicktime"/>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3" r:id="rId1"/>
  </p:sldMasterIdLst>
  <p:notesMasterIdLst>
    <p:notesMasterId r:id="rId22"/>
  </p:notesMasterIdLst>
  <p:sldIdLst>
    <p:sldId id="256" r:id="rId2"/>
    <p:sldId id="258" r:id="rId3"/>
    <p:sldId id="283" r:id="rId4"/>
    <p:sldId id="271" r:id="rId5"/>
    <p:sldId id="272" r:id="rId6"/>
    <p:sldId id="273" r:id="rId7"/>
    <p:sldId id="274" r:id="rId8"/>
    <p:sldId id="275" r:id="rId9"/>
    <p:sldId id="276" r:id="rId10"/>
    <p:sldId id="262" r:id="rId11"/>
    <p:sldId id="284" r:id="rId12"/>
    <p:sldId id="280" r:id="rId13"/>
    <p:sldId id="279" r:id="rId14"/>
    <p:sldId id="265" r:id="rId15"/>
    <p:sldId id="266" r:id="rId16"/>
    <p:sldId id="277" r:id="rId17"/>
    <p:sldId id="267" r:id="rId18"/>
    <p:sldId id="269" r:id="rId19"/>
    <p:sldId id="281" r:id="rId20"/>
    <p:sldId id="257"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092"/>
    <p:restoredTop sz="75356"/>
  </p:normalViewPr>
  <p:slideViewPr>
    <p:cSldViewPr snapToGrid="0">
      <p:cViewPr>
        <p:scale>
          <a:sx n="118" d="100"/>
          <a:sy n="118" d="100"/>
        </p:scale>
        <p:origin x="440" y="232"/>
      </p:cViewPr>
      <p:guideLst/>
    </p:cSldViewPr>
  </p:slideViewPr>
  <p:notesTextViewPr>
    <p:cViewPr>
      <p:scale>
        <a:sx n="114" d="100"/>
        <a:sy n="114"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A02273D-8C00-8347-969D-1E5BD6DABD3F}" type="datetimeFigureOut">
              <a:rPr lang="en-US" smtClean="0"/>
              <a:t>6/19/26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178704-411C-A44A-B302-BFAB6B480A97}" type="slidenum">
              <a:rPr lang="en-US" smtClean="0"/>
              <a:t>‹#›</a:t>
            </a:fld>
            <a:endParaRPr lang="en-US"/>
          </a:p>
        </p:txBody>
      </p:sp>
    </p:spTree>
    <p:extLst>
      <p:ext uri="{BB962C8B-B14F-4D97-AF65-F5344CB8AC3E}">
        <p14:creationId xmlns:p14="http://schemas.microsoft.com/office/powerpoint/2010/main" val="314026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RPA could </a:t>
            </a:r>
            <a:r>
              <a:rPr lang="en-US" dirty="0" err="1"/>
              <a:t>revolutionise</a:t>
            </a:r>
            <a:r>
              <a:rPr lang="en-US" dirty="0"/>
              <a:t> DNA diagnostics. </a:t>
            </a:r>
          </a:p>
          <a:p>
            <a:r>
              <a:rPr lang="en-US" dirty="0"/>
              <a:t>Untrained personnel would be able to use RPA to amplify and detect the presence of DNA in the most remote or populated places in the world. Without the need of expensive equipment or thermocycling. </a:t>
            </a:r>
          </a:p>
          <a:p>
            <a:endParaRPr lang="en-US" dirty="0"/>
          </a:p>
          <a:p>
            <a:r>
              <a:rPr lang="en-US" dirty="0" err="1"/>
              <a:t>UvsX</a:t>
            </a:r>
            <a:r>
              <a:rPr lang="en-US" dirty="0"/>
              <a:t> comes from a phage. RPA is adapted version of how viruses reproduce. We wanted to look to see if we could identify </a:t>
            </a:r>
            <a:r>
              <a:rPr lang="en-US" dirty="0" err="1"/>
              <a:t>UvsX</a:t>
            </a:r>
            <a:r>
              <a:rPr lang="en-US" dirty="0"/>
              <a:t> ortholog from a psychrophilic phage. Remove the need for heating entirely.</a:t>
            </a:r>
          </a:p>
          <a:p>
            <a:endParaRPr lang="en-US" dirty="0"/>
          </a:p>
          <a:p>
            <a:endParaRPr lang="en-US" dirty="0"/>
          </a:p>
        </p:txBody>
      </p:sp>
      <p:sp>
        <p:nvSpPr>
          <p:cNvPr id="4" name="Slide Number Placeholder 3"/>
          <p:cNvSpPr>
            <a:spLocks noGrp="1"/>
          </p:cNvSpPr>
          <p:nvPr>
            <p:ph type="sldNum" sz="quarter" idx="5"/>
          </p:nvPr>
        </p:nvSpPr>
        <p:spPr/>
        <p:txBody>
          <a:bodyPr/>
          <a:lstStyle/>
          <a:p>
            <a:fld id="{EF178704-411C-A44A-B302-BFAB6B480A97}" type="slidenum">
              <a:rPr lang="en-US" smtClean="0"/>
              <a:t>2</a:t>
            </a:fld>
            <a:endParaRPr lang="en-US"/>
          </a:p>
        </p:txBody>
      </p:sp>
    </p:spTree>
    <p:extLst>
      <p:ext uri="{BB962C8B-B14F-4D97-AF65-F5344CB8AC3E}">
        <p14:creationId xmlns:p14="http://schemas.microsoft.com/office/powerpoint/2010/main" val="16366450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E5DF59-F0B0-F2C2-B298-BD07644DE2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A223CD-D28C-AB7B-0F14-B32E13586F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7C8A56-71A3-F2C3-D525-3A7253379A9F}"/>
              </a:ext>
            </a:extLst>
          </p:cNvPr>
          <p:cNvSpPr>
            <a:spLocks noGrp="1"/>
          </p:cNvSpPr>
          <p:nvPr>
            <p:ph type="body" idx="1"/>
          </p:nvPr>
        </p:nvSpPr>
        <p:spPr/>
        <p:txBody>
          <a:bodyPr/>
          <a:lstStyle/>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t>Identifying cold-adapted </a:t>
            </a:r>
            <a:r>
              <a:rPr lang="en-GB" sz="1200" dirty="0" err="1"/>
              <a:t>UvsX</a:t>
            </a:r>
            <a:r>
              <a:rPr lang="en-GB" sz="1200" dirty="0"/>
              <a:t> orthologs may improve RPA performance at lower temperatures, expanding its use in resource-limited and environmentally challenging settings.</a:t>
            </a:r>
          </a:p>
          <a:p>
            <a:endParaRPr lang="en-US" dirty="0"/>
          </a:p>
          <a:p>
            <a:r>
              <a:rPr lang="en-US" dirty="0"/>
              <a:t>In silico screening, exploring tools available online, developed an agentic tool for literature searching</a:t>
            </a:r>
          </a:p>
          <a:p>
            <a:endParaRPr lang="en-US" dirty="0"/>
          </a:p>
          <a:p>
            <a:r>
              <a:rPr lang="en-US" dirty="0"/>
              <a:t>Molecular dynamics using predicted structure to understand protein </a:t>
            </a:r>
            <a:r>
              <a:rPr lang="en-US" dirty="0" err="1"/>
              <a:t>behaviour</a:t>
            </a:r>
            <a:r>
              <a:rPr lang="en-US" dirty="0"/>
              <a:t> at different temperatures.</a:t>
            </a:r>
          </a:p>
        </p:txBody>
      </p:sp>
      <p:sp>
        <p:nvSpPr>
          <p:cNvPr id="4" name="Slide Number Placeholder 3">
            <a:extLst>
              <a:ext uri="{FF2B5EF4-FFF2-40B4-BE49-F238E27FC236}">
                <a16:creationId xmlns:a16="http://schemas.microsoft.com/office/drawing/2014/main" id="{610DF6B0-AB38-6399-5D38-6AB4CF3A1684}"/>
              </a:ext>
            </a:extLst>
          </p:cNvPr>
          <p:cNvSpPr>
            <a:spLocks noGrp="1"/>
          </p:cNvSpPr>
          <p:nvPr>
            <p:ph type="sldNum" sz="quarter" idx="5"/>
          </p:nvPr>
        </p:nvSpPr>
        <p:spPr/>
        <p:txBody>
          <a:bodyPr/>
          <a:lstStyle/>
          <a:p>
            <a:fld id="{EF178704-411C-A44A-B302-BFAB6B480A97}" type="slidenum">
              <a:rPr lang="en-US" smtClean="0"/>
              <a:t>3</a:t>
            </a:fld>
            <a:endParaRPr lang="en-US"/>
          </a:p>
        </p:txBody>
      </p:sp>
    </p:spTree>
    <p:extLst>
      <p:ext uri="{BB962C8B-B14F-4D97-AF65-F5344CB8AC3E}">
        <p14:creationId xmlns:p14="http://schemas.microsoft.com/office/powerpoint/2010/main" val="20044860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Mention what the temperature ranges are for mesophiles, psychrophiles and thermophiles. </a:t>
            </a:r>
          </a:p>
          <a:p>
            <a:endParaRPr lang="en-US" dirty="0"/>
          </a:p>
          <a:p>
            <a:r>
              <a:rPr lang="en-US" dirty="0"/>
              <a:t>Why </a:t>
            </a:r>
            <a:r>
              <a:rPr lang="en-US" dirty="0" err="1"/>
              <a:t>RecA</a:t>
            </a:r>
            <a:r>
              <a:rPr lang="en-US" dirty="0"/>
              <a:t> wasn’t included as a gold standard. – Could bias results away from phage systems, which are adapted to more rapid replication cycles seen in viruses. ATP kinetics are slightly different and </a:t>
            </a:r>
            <a:r>
              <a:rPr lang="en-US" dirty="0" err="1"/>
              <a:t>UvsX</a:t>
            </a:r>
            <a:r>
              <a:rPr lang="en-US" dirty="0"/>
              <a:t> requires fewer accessory proteins and functions as part of a simpler pathway, making it ideal for biotechnological applications</a:t>
            </a:r>
          </a:p>
        </p:txBody>
      </p:sp>
      <p:sp>
        <p:nvSpPr>
          <p:cNvPr id="4" name="Slide Number Placeholder 3"/>
          <p:cNvSpPr>
            <a:spLocks noGrp="1"/>
          </p:cNvSpPr>
          <p:nvPr>
            <p:ph type="sldNum" sz="quarter" idx="5"/>
          </p:nvPr>
        </p:nvSpPr>
        <p:spPr/>
        <p:txBody>
          <a:bodyPr/>
          <a:lstStyle/>
          <a:p>
            <a:fld id="{EF178704-411C-A44A-B302-BFAB6B480A97}" type="slidenum">
              <a:rPr lang="en-US" smtClean="0"/>
              <a:t>4</a:t>
            </a:fld>
            <a:endParaRPr lang="en-US"/>
          </a:p>
        </p:txBody>
      </p:sp>
    </p:spTree>
    <p:extLst>
      <p:ext uri="{BB962C8B-B14F-4D97-AF65-F5344CB8AC3E}">
        <p14:creationId xmlns:p14="http://schemas.microsoft.com/office/powerpoint/2010/main" val="29676703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31BEAA-D121-3067-A5D0-026BDEB718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334B21-4F83-06AB-97B9-1298CF3B93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2829CF-2A06-8B89-35B7-AB22EDE6F97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63AF04F-669D-A2EF-ADC1-B04639674A82}"/>
              </a:ext>
            </a:extLst>
          </p:cNvPr>
          <p:cNvSpPr>
            <a:spLocks noGrp="1"/>
          </p:cNvSpPr>
          <p:nvPr>
            <p:ph type="sldNum" sz="quarter" idx="5"/>
          </p:nvPr>
        </p:nvSpPr>
        <p:spPr/>
        <p:txBody>
          <a:bodyPr/>
          <a:lstStyle/>
          <a:p>
            <a:fld id="{EF178704-411C-A44A-B302-BFAB6B480A97}" type="slidenum">
              <a:rPr lang="en-US" smtClean="0"/>
              <a:t>5</a:t>
            </a:fld>
            <a:endParaRPr lang="en-US"/>
          </a:p>
        </p:txBody>
      </p:sp>
    </p:spTree>
    <p:extLst>
      <p:ext uri="{BB962C8B-B14F-4D97-AF65-F5344CB8AC3E}">
        <p14:creationId xmlns:p14="http://schemas.microsoft.com/office/powerpoint/2010/main" val="33518830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AD65AE-5147-B196-A4CE-3DBF51562D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8A9F05-65DD-4412-48C3-F9FF7DBF78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7EFABD-C12F-8C54-FFF7-69151DB6E1E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2C23745-AA0E-452E-EF5A-55BBF1F433C0}"/>
              </a:ext>
            </a:extLst>
          </p:cNvPr>
          <p:cNvSpPr>
            <a:spLocks noGrp="1"/>
          </p:cNvSpPr>
          <p:nvPr>
            <p:ph type="sldNum" sz="quarter" idx="5"/>
          </p:nvPr>
        </p:nvSpPr>
        <p:spPr/>
        <p:txBody>
          <a:bodyPr/>
          <a:lstStyle/>
          <a:p>
            <a:fld id="{EF178704-411C-A44A-B302-BFAB6B480A97}" type="slidenum">
              <a:rPr lang="en-US" smtClean="0"/>
              <a:t>6</a:t>
            </a:fld>
            <a:endParaRPr lang="en-US"/>
          </a:p>
        </p:txBody>
      </p:sp>
    </p:spTree>
    <p:extLst>
      <p:ext uri="{BB962C8B-B14F-4D97-AF65-F5344CB8AC3E}">
        <p14:creationId xmlns:p14="http://schemas.microsoft.com/office/powerpoint/2010/main" val="12239415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04FA52-6C0B-3D2E-1FE6-163A73C7B6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EBC936-A3E2-3AE8-CEC2-81E83281F4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406EEB-9DA1-32CB-BFFC-5F4F8316908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CFCAAD8-0BC1-B7D5-1CFE-0A5C4C9101DF}"/>
              </a:ext>
            </a:extLst>
          </p:cNvPr>
          <p:cNvSpPr>
            <a:spLocks noGrp="1"/>
          </p:cNvSpPr>
          <p:nvPr>
            <p:ph type="sldNum" sz="quarter" idx="5"/>
          </p:nvPr>
        </p:nvSpPr>
        <p:spPr/>
        <p:txBody>
          <a:bodyPr/>
          <a:lstStyle/>
          <a:p>
            <a:fld id="{EF178704-411C-A44A-B302-BFAB6B480A97}" type="slidenum">
              <a:rPr lang="en-US" smtClean="0"/>
              <a:t>7</a:t>
            </a:fld>
            <a:endParaRPr lang="en-US"/>
          </a:p>
        </p:txBody>
      </p:sp>
    </p:spTree>
    <p:extLst>
      <p:ext uri="{BB962C8B-B14F-4D97-AF65-F5344CB8AC3E}">
        <p14:creationId xmlns:p14="http://schemas.microsoft.com/office/powerpoint/2010/main" val="40779568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B2166D-BC43-9878-E014-03F3607691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11A020-6B6A-EA59-5AA0-C075D25778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60F6CC-1D7D-3429-38AA-030CBB85DE7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3600" dirty="0"/>
              <a:t>HMMs were used to assess whether candidate sequences fit the overall recombinase family profile based on a probabilistic model derived from multiple sequence alignments. Unlike pairwise alignment methods, HMMs capture position-specific conservation patterns, allowing detection of distant homologs and divergent members of the family.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36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36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sz="4800" dirty="0"/>
              <a:t>My HMM profiles tell me how likely the proteins in my database would be produced by the hidden states encoded in the alignment used to create the profile.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4800" dirty="0"/>
          </a:p>
          <a:p>
            <a:r>
              <a:rPr lang="en-GB" dirty="0"/>
              <a:t>Amino acids are observed states and the hidden states are the match, insert, and delete states that generated them (from the alignment).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36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36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3600" dirty="0"/>
          </a:p>
          <a:p>
            <a:endParaRPr lang="en-US" sz="2400" dirty="0"/>
          </a:p>
        </p:txBody>
      </p:sp>
      <p:sp>
        <p:nvSpPr>
          <p:cNvPr id="4" name="Slide Number Placeholder 3">
            <a:extLst>
              <a:ext uri="{FF2B5EF4-FFF2-40B4-BE49-F238E27FC236}">
                <a16:creationId xmlns:a16="http://schemas.microsoft.com/office/drawing/2014/main" id="{BF2D7E25-7491-3DEC-32EC-C9946E6E92C5}"/>
              </a:ext>
            </a:extLst>
          </p:cNvPr>
          <p:cNvSpPr>
            <a:spLocks noGrp="1"/>
          </p:cNvSpPr>
          <p:nvPr>
            <p:ph type="sldNum" sz="quarter" idx="5"/>
          </p:nvPr>
        </p:nvSpPr>
        <p:spPr/>
        <p:txBody>
          <a:bodyPr/>
          <a:lstStyle/>
          <a:p>
            <a:fld id="{EF178704-411C-A44A-B302-BFAB6B480A97}" type="slidenum">
              <a:rPr lang="en-US" smtClean="0"/>
              <a:t>8</a:t>
            </a:fld>
            <a:endParaRPr lang="en-US"/>
          </a:p>
        </p:txBody>
      </p:sp>
    </p:spTree>
    <p:extLst>
      <p:ext uri="{BB962C8B-B14F-4D97-AF65-F5344CB8AC3E}">
        <p14:creationId xmlns:p14="http://schemas.microsoft.com/office/powerpoint/2010/main" val="12423292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8C1689-9C3B-09B8-DF17-2E7384AB0D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5061AE-0C1E-7ADF-58BE-65F5F869D0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5B54E0-DB95-05FE-3794-1EEED4C4BF2F}"/>
              </a:ext>
            </a:extLst>
          </p:cNvPr>
          <p:cNvSpPr>
            <a:spLocks noGrp="1"/>
          </p:cNvSpPr>
          <p:nvPr>
            <p:ph type="body" idx="1"/>
          </p:nvPr>
        </p:nvSpPr>
        <p:spPr/>
        <p:txBody>
          <a:bodyPr/>
          <a:lstStyle/>
          <a:p>
            <a:r>
              <a:rPr lang="en-US" sz="1200" dirty="0"/>
              <a:t>Walker a and b are conserved sequence motifs. </a:t>
            </a:r>
          </a:p>
          <a:p>
            <a:endParaRPr lang="en-US" sz="1200" dirty="0"/>
          </a:p>
          <a:p>
            <a:r>
              <a:rPr lang="en-US" sz="1200" dirty="0"/>
              <a:t>This results in a scoring matrix for my filtered database. I went to the downstream analysis that hit for every metric. HMMs and motifs.</a:t>
            </a:r>
          </a:p>
          <a:p>
            <a:r>
              <a:rPr lang="en-US" sz="1200" dirty="0"/>
              <a:t>Filtered in this way as a purely alignment / distance based method wouldn’t account for convergence.</a:t>
            </a:r>
          </a:p>
          <a:p>
            <a:r>
              <a:rPr lang="en-US" sz="1200" dirty="0"/>
              <a:t>This method ensures the proteins have the correct domains to behave as a recombinase as well as fitting the statistical profile of my gold standards.</a:t>
            </a:r>
          </a:p>
        </p:txBody>
      </p:sp>
      <p:sp>
        <p:nvSpPr>
          <p:cNvPr id="4" name="Slide Number Placeholder 3">
            <a:extLst>
              <a:ext uri="{FF2B5EF4-FFF2-40B4-BE49-F238E27FC236}">
                <a16:creationId xmlns:a16="http://schemas.microsoft.com/office/drawing/2014/main" id="{580A71AC-F6B0-DD44-64ED-8895103AEE0F}"/>
              </a:ext>
            </a:extLst>
          </p:cNvPr>
          <p:cNvSpPr>
            <a:spLocks noGrp="1"/>
          </p:cNvSpPr>
          <p:nvPr>
            <p:ph type="sldNum" sz="quarter" idx="5"/>
          </p:nvPr>
        </p:nvSpPr>
        <p:spPr/>
        <p:txBody>
          <a:bodyPr/>
          <a:lstStyle/>
          <a:p>
            <a:fld id="{EF178704-411C-A44A-B302-BFAB6B480A97}" type="slidenum">
              <a:rPr lang="en-US" smtClean="0"/>
              <a:t>9</a:t>
            </a:fld>
            <a:endParaRPr lang="en-US"/>
          </a:p>
        </p:txBody>
      </p:sp>
    </p:spTree>
    <p:extLst>
      <p:ext uri="{BB962C8B-B14F-4D97-AF65-F5344CB8AC3E}">
        <p14:creationId xmlns:p14="http://schemas.microsoft.com/office/powerpoint/2010/main" val="36352325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 was mostly trained on thermophilic proteins and so may bias results.</a:t>
            </a:r>
          </a:p>
          <a:p>
            <a:endParaRPr lang="en-US" dirty="0"/>
          </a:p>
          <a:p>
            <a:r>
              <a:rPr lang="en-US" dirty="0"/>
              <a:t>Due to poor performance of Seq2topt wanted another method to make predictions of thermal adaptation.</a:t>
            </a:r>
          </a:p>
          <a:p>
            <a:endParaRPr lang="en-US" dirty="0"/>
          </a:p>
          <a:p>
            <a:endParaRPr lang="en-US" dirty="0"/>
          </a:p>
        </p:txBody>
      </p:sp>
      <p:sp>
        <p:nvSpPr>
          <p:cNvPr id="4" name="Slide Number Placeholder 3"/>
          <p:cNvSpPr>
            <a:spLocks noGrp="1"/>
          </p:cNvSpPr>
          <p:nvPr>
            <p:ph type="sldNum" sz="quarter" idx="5"/>
          </p:nvPr>
        </p:nvSpPr>
        <p:spPr/>
        <p:txBody>
          <a:bodyPr/>
          <a:lstStyle/>
          <a:p>
            <a:fld id="{EF178704-411C-A44A-B302-BFAB6B480A97}" type="slidenum">
              <a:rPr lang="en-US" smtClean="0"/>
              <a:t>10</a:t>
            </a:fld>
            <a:endParaRPr lang="en-US"/>
          </a:p>
        </p:txBody>
      </p:sp>
    </p:spTree>
    <p:extLst>
      <p:ext uri="{BB962C8B-B14F-4D97-AF65-F5344CB8AC3E}">
        <p14:creationId xmlns:p14="http://schemas.microsoft.com/office/powerpoint/2010/main" val="5521165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C121C6-8C13-CB71-9371-EAD4428827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76C809-6A03-0062-2B24-0E703A65C9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4C82CD-5562-BE5C-6674-EDF8437E52D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F520CF3-765D-0FA1-E729-1FFE81673D24}"/>
              </a:ext>
            </a:extLst>
          </p:cNvPr>
          <p:cNvSpPr>
            <a:spLocks noGrp="1"/>
          </p:cNvSpPr>
          <p:nvPr>
            <p:ph type="sldNum" sz="quarter" idx="5"/>
          </p:nvPr>
        </p:nvSpPr>
        <p:spPr/>
        <p:txBody>
          <a:bodyPr/>
          <a:lstStyle/>
          <a:p>
            <a:fld id="{EF178704-411C-A44A-B302-BFAB6B480A97}" type="slidenum">
              <a:rPr lang="en-US" smtClean="0"/>
              <a:t>11</a:t>
            </a:fld>
            <a:endParaRPr lang="en-US"/>
          </a:p>
        </p:txBody>
      </p:sp>
    </p:spTree>
    <p:extLst>
      <p:ext uri="{BB962C8B-B14F-4D97-AF65-F5344CB8AC3E}">
        <p14:creationId xmlns:p14="http://schemas.microsoft.com/office/powerpoint/2010/main" val="15933476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BEF403-0A1B-16F4-0E81-580C0CEFED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D69668-E11D-51EF-06D4-55F9441F56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02D17E-B3B3-D615-4C6D-06E46A8E1BCE}"/>
              </a:ext>
            </a:extLst>
          </p:cNvPr>
          <p:cNvSpPr>
            <a:spLocks noGrp="1"/>
          </p:cNvSpPr>
          <p:nvPr>
            <p:ph type="body" idx="1"/>
          </p:nvPr>
        </p:nvSpPr>
        <p:spPr/>
        <p:txBody>
          <a:bodyPr/>
          <a:lstStyle/>
          <a:p>
            <a:r>
              <a:rPr lang="en-US" dirty="0"/>
              <a:t>Fix over lapping labels</a:t>
            </a:r>
          </a:p>
        </p:txBody>
      </p:sp>
      <p:sp>
        <p:nvSpPr>
          <p:cNvPr id="4" name="Slide Number Placeholder 3">
            <a:extLst>
              <a:ext uri="{FF2B5EF4-FFF2-40B4-BE49-F238E27FC236}">
                <a16:creationId xmlns:a16="http://schemas.microsoft.com/office/drawing/2014/main" id="{FC672C64-F17B-41EB-9420-DE8E00916BFD}"/>
              </a:ext>
            </a:extLst>
          </p:cNvPr>
          <p:cNvSpPr>
            <a:spLocks noGrp="1"/>
          </p:cNvSpPr>
          <p:nvPr>
            <p:ph type="sldNum" sz="quarter" idx="5"/>
          </p:nvPr>
        </p:nvSpPr>
        <p:spPr/>
        <p:txBody>
          <a:bodyPr/>
          <a:lstStyle/>
          <a:p>
            <a:fld id="{EF178704-411C-A44A-B302-BFAB6B480A97}" type="slidenum">
              <a:rPr lang="en-US" smtClean="0"/>
              <a:t>12</a:t>
            </a:fld>
            <a:endParaRPr lang="en-US"/>
          </a:p>
        </p:txBody>
      </p:sp>
    </p:spTree>
    <p:extLst>
      <p:ext uri="{BB962C8B-B14F-4D97-AF65-F5344CB8AC3E}">
        <p14:creationId xmlns:p14="http://schemas.microsoft.com/office/powerpoint/2010/main" val="5816170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2B96F1-633C-75FC-D6F3-FCAB3D7D48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4344E2-03DD-ECCB-73D2-98A390F634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51D4E7-4F2C-4590-5F87-4353C519B74B}"/>
              </a:ext>
            </a:extLst>
          </p:cNvPr>
          <p:cNvSpPr>
            <a:spLocks noGrp="1"/>
          </p:cNvSpPr>
          <p:nvPr>
            <p:ph type="body" idx="1"/>
          </p:nvPr>
        </p:nvSpPr>
        <p:spPr/>
        <p:txBody>
          <a:bodyPr/>
          <a:lstStyle/>
          <a:p>
            <a:r>
              <a:rPr lang="en-US" dirty="0"/>
              <a:t>An underlying trend begins to emerge with both tools used in tandem</a:t>
            </a:r>
          </a:p>
        </p:txBody>
      </p:sp>
      <p:sp>
        <p:nvSpPr>
          <p:cNvPr id="4" name="Slide Number Placeholder 3">
            <a:extLst>
              <a:ext uri="{FF2B5EF4-FFF2-40B4-BE49-F238E27FC236}">
                <a16:creationId xmlns:a16="http://schemas.microsoft.com/office/drawing/2014/main" id="{2F87D198-44B7-E1C8-CA3F-E075E8CBBFE0}"/>
              </a:ext>
            </a:extLst>
          </p:cNvPr>
          <p:cNvSpPr>
            <a:spLocks noGrp="1"/>
          </p:cNvSpPr>
          <p:nvPr>
            <p:ph type="sldNum" sz="quarter" idx="5"/>
          </p:nvPr>
        </p:nvSpPr>
        <p:spPr/>
        <p:txBody>
          <a:bodyPr/>
          <a:lstStyle/>
          <a:p>
            <a:fld id="{EF178704-411C-A44A-B302-BFAB6B480A97}" type="slidenum">
              <a:rPr lang="en-US" smtClean="0"/>
              <a:t>13</a:t>
            </a:fld>
            <a:endParaRPr lang="en-US"/>
          </a:p>
        </p:txBody>
      </p:sp>
    </p:spTree>
    <p:extLst>
      <p:ext uri="{BB962C8B-B14F-4D97-AF65-F5344CB8AC3E}">
        <p14:creationId xmlns:p14="http://schemas.microsoft.com/office/powerpoint/2010/main" val="49378586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Why we are doing structural modelling</a:t>
            </a:r>
          </a:p>
          <a:p>
            <a:endParaRPr lang="en-US" dirty="0"/>
          </a:p>
          <a:p>
            <a:r>
              <a:rPr lang="en-US" dirty="0"/>
              <a:t>Computational method is much cheaper. Can we understand differences in protein structure and temperatures. Developing classifier</a:t>
            </a:r>
          </a:p>
        </p:txBody>
      </p:sp>
      <p:sp>
        <p:nvSpPr>
          <p:cNvPr id="4" name="Slide Number Placeholder 3"/>
          <p:cNvSpPr>
            <a:spLocks noGrp="1"/>
          </p:cNvSpPr>
          <p:nvPr>
            <p:ph type="sldNum" sz="quarter" idx="5"/>
          </p:nvPr>
        </p:nvSpPr>
        <p:spPr/>
        <p:txBody>
          <a:bodyPr/>
          <a:lstStyle/>
          <a:p>
            <a:fld id="{EF178704-411C-A44A-B302-BFAB6B480A97}" type="slidenum">
              <a:rPr lang="en-US" smtClean="0"/>
              <a:t>14</a:t>
            </a:fld>
            <a:endParaRPr lang="en-US"/>
          </a:p>
        </p:txBody>
      </p:sp>
    </p:spTree>
    <p:extLst>
      <p:ext uri="{BB962C8B-B14F-4D97-AF65-F5344CB8AC3E}">
        <p14:creationId xmlns:p14="http://schemas.microsoft.com/office/powerpoint/2010/main" val="67028154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F178704-411C-A44A-B302-BFAB6B480A97}" type="slidenum">
              <a:rPr lang="en-US" smtClean="0"/>
              <a:t>15</a:t>
            </a:fld>
            <a:endParaRPr lang="en-US"/>
          </a:p>
        </p:txBody>
      </p:sp>
    </p:spTree>
    <p:extLst>
      <p:ext uri="{BB962C8B-B14F-4D97-AF65-F5344CB8AC3E}">
        <p14:creationId xmlns:p14="http://schemas.microsoft.com/office/powerpoint/2010/main" val="6497175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Psychrophilic proteins are more flexible mainly because evolution has tuned them to keep high catalytic activity at low temperatures, where chemical reactions slow down dramatically. Flexibility is one of the most effective ways to compensate for that slowdown—but it comes with trade-offs.</a:t>
            </a:r>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EF178704-411C-A44A-B302-BFAB6B480A97}" type="slidenum">
              <a:rPr lang="en-US" smtClean="0"/>
              <a:t>16</a:t>
            </a:fld>
            <a:endParaRPr lang="en-US"/>
          </a:p>
        </p:txBody>
      </p:sp>
    </p:spTree>
    <p:extLst>
      <p:ext uri="{BB962C8B-B14F-4D97-AF65-F5344CB8AC3E}">
        <p14:creationId xmlns:p14="http://schemas.microsoft.com/office/powerpoint/2010/main" val="166005124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Condense </a:t>
            </a:r>
            <a:r>
              <a:rPr lang="en-US" dirty="0" err="1"/>
              <a:t>bothfuture</a:t>
            </a:r>
            <a:r>
              <a:rPr lang="en-US" dirty="0"/>
              <a:t> work slides.</a:t>
            </a:r>
          </a:p>
        </p:txBody>
      </p:sp>
      <p:sp>
        <p:nvSpPr>
          <p:cNvPr id="4" name="Slide Number Placeholder 3"/>
          <p:cNvSpPr>
            <a:spLocks noGrp="1"/>
          </p:cNvSpPr>
          <p:nvPr>
            <p:ph type="sldNum" sz="quarter" idx="5"/>
          </p:nvPr>
        </p:nvSpPr>
        <p:spPr/>
        <p:txBody>
          <a:bodyPr/>
          <a:lstStyle/>
          <a:p>
            <a:fld id="{EF178704-411C-A44A-B302-BFAB6B480A97}" type="slidenum">
              <a:rPr lang="en-US" smtClean="0"/>
              <a:t>17</a:t>
            </a:fld>
            <a:endParaRPr lang="en-US"/>
          </a:p>
        </p:txBody>
      </p:sp>
    </p:spTree>
    <p:extLst>
      <p:ext uri="{BB962C8B-B14F-4D97-AF65-F5344CB8AC3E}">
        <p14:creationId xmlns:p14="http://schemas.microsoft.com/office/powerpoint/2010/main" val="102269191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F178704-411C-A44A-B302-BFAB6B480A97}" type="slidenum">
              <a:rPr lang="en-US" smtClean="0"/>
              <a:t>20</a:t>
            </a:fld>
            <a:endParaRPr lang="en-US"/>
          </a:p>
        </p:txBody>
      </p:sp>
    </p:spTree>
    <p:extLst>
      <p:ext uri="{BB962C8B-B14F-4D97-AF65-F5344CB8AC3E}">
        <p14:creationId xmlns:p14="http://schemas.microsoft.com/office/powerpoint/2010/main" val="4835698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DE6C8-AB1D-4204-BC9C-3366B0BF0435}"/>
              </a:ext>
            </a:extLst>
          </p:cNvPr>
          <p:cNvSpPr>
            <a:spLocks noGrp="1"/>
          </p:cNvSpPr>
          <p:nvPr>
            <p:ph type="ctrTitle"/>
          </p:nvPr>
        </p:nvSpPr>
        <p:spPr>
          <a:xfrm>
            <a:off x="704088" y="889820"/>
            <a:ext cx="9989574" cy="3598606"/>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7A7B9009-EE50-4EE5-B6EB-CD6EC83D3FA3}"/>
              </a:ext>
            </a:extLst>
          </p:cNvPr>
          <p:cNvSpPr>
            <a:spLocks noGrp="1"/>
          </p:cNvSpPr>
          <p:nvPr>
            <p:ph type="subTitle" idx="1"/>
          </p:nvPr>
        </p:nvSpPr>
        <p:spPr>
          <a:xfrm>
            <a:off x="704088" y="4488426"/>
            <a:ext cx="6991776" cy="130277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99C8667E-058A-436F-B8EA-5B3A99D43D09}"/>
              </a:ext>
            </a:extLst>
          </p:cNvPr>
          <p:cNvSpPr>
            <a:spLocks noGrp="1"/>
          </p:cNvSpPr>
          <p:nvPr>
            <p:ph type="dt" sz="half" idx="10"/>
          </p:nvPr>
        </p:nvSpPr>
        <p:spPr/>
        <p:txBody>
          <a:bodyPr/>
          <a:lstStyle/>
          <a:p>
            <a:fld id="{D1D1EADE-8E88-4C7C-8AC5-FB148DE4940E}" type="datetime1">
              <a:rPr lang="en-US" smtClean="0"/>
              <a:t>6/19/26</a:t>
            </a:fld>
            <a:endParaRPr lang="en-US"/>
          </a:p>
        </p:txBody>
      </p:sp>
      <p:sp>
        <p:nvSpPr>
          <p:cNvPr id="5" name="Footer Placeholder 4">
            <a:extLst>
              <a:ext uri="{FF2B5EF4-FFF2-40B4-BE49-F238E27FC236}">
                <a16:creationId xmlns:a16="http://schemas.microsoft.com/office/drawing/2014/main" id="{52680305-1AD7-482D-BFFD-6CDB83AB39A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E5762A1-52E9-402D-B65E-DF193E44CE83}"/>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0015273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87CA6-BFD9-4CB1-8892-F6B062E82445}"/>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0CDA8C3-9C0C-4E52-9A62-E4DB159E6B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CC3EC35-E02F-41FF-9232-F90692A902FC}"/>
              </a:ext>
            </a:extLst>
          </p:cNvPr>
          <p:cNvSpPr>
            <a:spLocks noGrp="1"/>
          </p:cNvSpPr>
          <p:nvPr>
            <p:ph type="dt" sz="half" idx="10"/>
          </p:nvPr>
        </p:nvSpPr>
        <p:spPr/>
        <p:txBody>
          <a:bodyPr/>
          <a:lstStyle/>
          <a:p>
            <a:fld id="{157B6794-849E-4626-908B-D15793550EFB}" type="datetime1">
              <a:rPr lang="en-US" smtClean="0"/>
              <a:t>6/19/26</a:t>
            </a:fld>
            <a:endParaRPr lang="en-US"/>
          </a:p>
        </p:txBody>
      </p:sp>
      <p:sp>
        <p:nvSpPr>
          <p:cNvPr id="5" name="Footer Placeholder 4">
            <a:extLst>
              <a:ext uri="{FF2B5EF4-FFF2-40B4-BE49-F238E27FC236}">
                <a16:creationId xmlns:a16="http://schemas.microsoft.com/office/drawing/2014/main" id="{39D13D38-5DF1-443B-8A12-71E834FDC6A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25E644A-4A37-4757-9809-5B035E2874E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1671732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6578B-CD85-4BF1-A729-E8E8079B595F}"/>
              </a:ext>
            </a:extLst>
          </p:cNvPr>
          <p:cNvSpPr>
            <a:spLocks noGrp="1"/>
          </p:cNvSpPr>
          <p:nvPr>
            <p:ph type="title"/>
          </p:nvPr>
        </p:nvSpPr>
        <p:spPr>
          <a:xfrm>
            <a:off x="715383" y="1709738"/>
            <a:ext cx="10632067" cy="2852737"/>
          </a:xfrm>
        </p:spPr>
        <p:txBody>
          <a:bodyPr anchor="b"/>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58448C1-C13F-4826-8347-EEB00A6643D6}"/>
              </a:ext>
            </a:extLst>
          </p:cNvPr>
          <p:cNvSpPr>
            <a:spLocks noGrp="1"/>
          </p:cNvSpPr>
          <p:nvPr>
            <p:ph type="body" idx="1"/>
          </p:nvPr>
        </p:nvSpPr>
        <p:spPr>
          <a:xfrm>
            <a:off x="715383" y="4589463"/>
            <a:ext cx="10632067"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06546A-957F-4C4D-9744-1177AD258E10}"/>
              </a:ext>
            </a:extLst>
          </p:cNvPr>
          <p:cNvSpPr>
            <a:spLocks noGrp="1"/>
          </p:cNvSpPr>
          <p:nvPr>
            <p:ph type="dt" sz="half" idx="10"/>
          </p:nvPr>
        </p:nvSpPr>
        <p:spPr/>
        <p:txBody>
          <a:bodyPr/>
          <a:lstStyle/>
          <a:p>
            <a:fld id="{63DB64E7-5594-42A3-ADBF-E95A7ACEAD64}" type="datetime1">
              <a:rPr lang="en-US" smtClean="0"/>
              <a:t>6/19/26</a:t>
            </a:fld>
            <a:endParaRPr lang="en-US"/>
          </a:p>
        </p:txBody>
      </p:sp>
      <p:sp>
        <p:nvSpPr>
          <p:cNvPr id="5" name="Footer Placeholder 4">
            <a:extLst>
              <a:ext uri="{FF2B5EF4-FFF2-40B4-BE49-F238E27FC236}">
                <a16:creationId xmlns:a16="http://schemas.microsoft.com/office/drawing/2014/main" id="{B1DB149C-CC63-4E3A-A83D-EF637EB5197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DB94775-7982-41EC-B584-D51224D38F77}"/>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41339881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E4BD8-507D-48E4-A624-F16A741C3609}"/>
              </a:ext>
            </a:extLst>
          </p:cNvPr>
          <p:cNvSpPr>
            <a:spLocks noGrp="1"/>
          </p:cNvSpPr>
          <p:nvPr>
            <p:ph type="title"/>
          </p:nvPr>
        </p:nvSpPr>
        <p:spPr>
          <a:xfrm>
            <a:off x="700635" y="914400"/>
            <a:ext cx="10691265" cy="1307592"/>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10A07E4-3A39-457C-A059-7DFB6039D947}"/>
              </a:ext>
            </a:extLst>
          </p:cNvPr>
          <p:cNvSpPr>
            <a:spLocks noGrp="1"/>
          </p:cNvSpPr>
          <p:nvPr>
            <p:ph sz="half" idx="1"/>
          </p:nvPr>
        </p:nvSpPr>
        <p:spPr>
          <a:xfrm>
            <a:off x="704088"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B141E17-47CE-4A78-B0FA-0E9786DA67C5}"/>
              </a:ext>
            </a:extLst>
          </p:cNvPr>
          <p:cNvSpPr>
            <a:spLocks noGrp="1"/>
          </p:cNvSpPr>
          <p:nvPr>
            <p:ph sz="half" idx="2"/>
          </p:nvPr>
        </p:nvSpPr>
        <p:spPr>
          <a:xfrm>
            <a:off x="6181344"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F02C13-D3ED-4044-9716-F29D79A184C9}"/>
              </a:ext>
            </a:extLst>
          </p:cNvPr>
          <p:cNvSpPr>
            <a:spLocks noGrp="1"/>
          </p:cNvSpPr>
          <p:nvPr>
            <p:ph type="dt" sz="half" idx="10"/>
          </p:nvPr>
        </p:nvSpPr>
        <p:spPr/>
        <p:txBody>
          <a:bodyPr/>
          <a:lstStyle/>
          <a:p>
            <a:fld id="{18462B0B-D248-4FFB-8695-AD7FA4B1284A}" type="datetime1">
              <a:rPr lang="en-US" smtClean="0"/>
              <a:t>6/19/26</a:t>
            </a:fld>
            <a:endParaRPr lang="en-US"/>
          </a:p>
        </p:txBody>
      </p:sp>
      <p:sp>
        <p:nvSpPr>
          <p:cNvPr id="6" name="Footer Placeholder 5">
            <a:extLst>
              <a:ext uri="{FF2B5EF4-FFF2-40B4-BE49-F238E27FC236}">
                <a16:creationId xmlns:a16="http://schemas.microsoft.com/office/drawing/2014/main" id="{8AF334AD-FB29-4355-B5CF-85E61B4F340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A5AA154-790C-4774-9C21-8C543E733F2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4072008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7DD35-7673-4F88-86B0-634883B5E345}"/>
              </a:ext>
            </a:extLst>
          </p:cNvPr>
          <p:cNvSpPr>
            <a:spLocks noGrp="1"/>
          </p:cNvSpPr>
          <p:nvPr>
            <p:ph type="title"/>
          </p:nvPr>
        </p:nvSpPr>
        <p:spPr>
          <a:xfrm>
            <a:off x="704087" y="929147"/>
            <a:ext cx="10689336" cy="798451"/>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EC820D7-3E0B-47C6-A583-C4C839C5AF03}"/>
              </a:ext>
            </a:extLst>
          </p:cNvPr>
          <p:cNvSpPr>
            <a:spLocks noGrp="1"/>
          </p:cNvSpPr>
          <p:nvPr>
            <p:ph type="body" idx="1"/>
          </p:nvPr>
        </p:nvSpPr>
        <p:spPr>
          <a:xfrm>
            <a:off x="704088"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839A7B-97D5-400F-B802-A0FF28FE9F15}"/>
              </a:ext>
            </a:extLst>
          </p:cNvPr>
          <p:cNvSpPr>
            <a:spLocks noGrp="1"/>
          </p:cNvSpPr>
          <p:nvPr>
            <p:ph sz="half" idx="2"/>
          </p:nvPr>
        </p:nvSpPr>
        <p:spPr>
          <a:xfrm>
            <a:off x="704088"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2E0ECA2-DBF1-4681-9DFA-93AFD1B371DB}"/>
              </a:ext>
            </a:extLst>
          </p:cNvPr>
          <p:cNvSpPr>
            <a:spLocks noGrp="1"/>
          </p:cNvSpPr>
          <p:nvPr>
            <p:ph type="body" sz="quarter" idx="3"/>
          </p:nvPr>
        </p:nvSpPr>
        <p:spPr>
          <a:xfrm>
            <a:off x="6181344"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0EBBBB-517F-4ED7-9E51-CF0F7590B4D4}"/>
              </a:ext>
            </a:extLst>
          </p:cNvPr>
          <p:cNvSpPr>
            <a:spLocks noGrp="1"/>
          </p:cNvSpPr>
          <p:nvPr>
            <p:ph sz="quarter" idx="4"/>
          </p:nvPr>
        </p:nvSpPr>
        <p:spPr>
          <a:xfrm>
            <a:off x="6181344"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511B5C7-1E37-478F-B4B0-C7202FFE41B9}"/>
              </a:ext>
            </a:extLst>
          </p:cNvPr>
          <p:cNvSpPr>
            <a:spLocks noGrp="1"/>
          </p:cNvSpPr>
          <p:nvPr>
            <p:ph type="dt" sz="half" idx="10"/>
          </p:nvPr>
        </p:nvSpPr>
        <p:spPr/>
        <p:txBody>
          <a:bodyPr/>
          <a:lstStyle/>
          <a:p>
            <a:fld id="{D0378EFB-9159-4510-B73F-4F0409ADE937}" type="datetime1">
              <a:rPr lang="en-US" smtClean="0"/>
              <a:t>6/19/26</a:t>
            </a:fld>
            <a:endParaRPr lang="en-US"/>
          </a:p>
        </p:txBody>
      </p:sp>
      <p:sp>
        <p:nvSpPr>
          <p:cNvPr id="8" name="Footer Placeholder 7">
            <a:extLst>
              <a:ext uri="{FF2B5EF4-FFF2-40B4-BE49-F238E27FC236}">
                <a16:creationId xmlns:a16="http://schemas.microsoft.com/office/drawing/2014/main" id="{9153F7EF-507C-4CB3-86C5-8B34FFFC1D86}"/>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58E3DEA6-E4EB-4C2A-8B4F-55EC965B6219}"/>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5497160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32964-A933-4B98-A141-A4B316DAFA9F}"/>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5D684C9D-23DA-42B0-9DD3-7592F72E8DC9}"/>
              </a:ext>
            </a:extLst>
          </p:cNvPr>
          <p:cNvSpPr>
            <a:spLocks noGrp="1"/>
          </p:cNvSpPr>
          <p:nvPr>
            <p:ph type="dt" sz="half" idx="10"/>
          </p:nvPr>
        </p:nvSpPr>
        <p:spPr/>
        <p:txBody>
          <a:bodyPr/>
          <a:lstStyle/>
          <a:p>
            <a:fld id="{89BC9412-2452-4BED-A324-9D8C115361AD}" type="datetime1">
              <a:rPr lang="en-US" smtClean="0"/>
              <a:t>6/19/26</a:t>
            </a:fld>
            <a:endParaRPr lang="en-US"/>
          </a:p>
        </p:txBody>
      </p:sp>
      <p:sp>
        <p:nvSpPr>
          <p:cNvPr id="4" name="Footer Placeholder 3">
            <a:extLst>
              <a:ext uri="{FF2B5EF4-FFF2-40B4-BE49-F238E27FC236}">
                <a16:creationId xmlns:a16="http://schemas.microsoft.com/office/drawing/2014/main" id="{68BF8F05-876F-49D8-AE30-5BB2A91ECD59}"/>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53D20DA-9260-4577-BB51-789570A243A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4081056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2C1F24-E0A1-45A7-8EF5-92CD9799341C}"/>
              </a:ext>
            </a:extLst>
          </p:cNvPr>
          <p:cNvSpPr>
            <a:spLocks noGrp="1"/>
          </p:cNvSpPr>
          <p:nvPr>
            <p:ph type="dt" sz="half" idx="10"/>
          </p:nvPr>
        </p:nvSpPr>
        <p:spPr/>
        <p:txBody>
          <a:bodyPr/>
          <a:lstStyle/>
          <a:p>
            <a:fld id="{F5318F62-D251-40E8-A23C-F4CFE9FEAB41}" type="datetime1">
              <a:rPr lang="en-US" smtClean="0"/>
              <a:t>6/19/26</a:t>
            </a:fld>
            <a:endParaRPr lang="en-US"/>
          </a:p>
        </p:txBody>
      </p:sp>
      <p:sp>
        <p:nvSpPr>
          <p:cNvPr id="3" name="Footer Placeholder 2">
            <a:extLst>
              <a:ext uri="{FF2B5EF4-FFF2-40B4-BE49-F238E27FC236}">
                <a16:creationId xmlns:a16="http://schemas.microsoft.com/office/drawing/2014/main" id="{3E021C19-210E-46B0-9036-5D8AECC9260C}"/>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1A880FEF-487E-44DF-8615-DF2210419602}"/>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42726193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568EE-74C8-43A6-90BC-2DDD965CF64A}"/>
              </a:ext>
            </a:extLst>
          </p:cNvPr>
          <p:cNvSpPr>
            <a:spLocks noGrp="1"/>
          </p:cNvSpPr>
          <p:nvPr>
            <p:ph type="title"/>
          </p:nvPr>
        </p:nvSpPr>
        <p:spPr>
          <a:xfrm>
            <a:off x="704088" y="1069848"/>
            <a:ext cx="4093599" cy="1316736"/>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71C35AC-CAE3-48CF-A3E4-A075C9FDD71B}"/>
              </a:ext>
            </a:extLst>
          </p:cNvPr>
          <p:cNvSpPr>
            <a:spLocks noGrp="1"/>
          </p:cNvSpPr>
          <p:nvPr>
            <p:ph idx="1"/>
          </p:nvPr>
        </p:nvSpPr>
        <p:spPr>
          <a:xfrm>
            <a:off x="5183188" y="1069848"/>
            <a:ext cx="6172200" cy="479120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D9D03EA-5FAD-4609-A2B8-624E426847E3}"/>
              </a:ext>
            </a:extLst>
          </p:cNvPr>
          <p:cNvSpPr>
            <a:spLocks noGrp="1"/>
          </p:cNvSpPr>
          <p:nvPr>
            <p:ph type="body" sz="half" idx="2"/>
          </p:nvPr>
        </p:nvSpPr>
        <p:spPr>
          <a:xfrm>
            <a:off x="704088" y="2551176"/>
            <a:ext cx="4093599" cy="331927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58D2EA-2191-4216-B64D-067BDFE12375}"/>
              </a:ext>
            </a:extLst>
          </p:cNvPr>
          <p:cNvSpPr>
            <a:spLocks noGrp="1"/>
          </p:cNvSpPr>
          <p:nvPr>
            <p:ph type="dt" sz="half" idx="10"/>
          </p:nvPr>
        </p:nvSpPr>
        <p:spPr/>
        <p:txBody>
          <a:bodyPr/>
          <a:lstStyle/>
          <a:p>
            <a:fld id="{44F76144-149E-4874-93A5-554A0357CF82}" type="datetime1">
              <a:rPr lang="en-US" smtClean="0"/>
              <a:t>6/19/26</a:t>
            </a:fld>
            <a:endParaRPr lang="en-US"/>
          </a:p>
        </p:txBody>
      </p:sp>
      <p:sp>
        <p:nvSpPr>
          <p:cNvPr id="6" name="Footer Placeholder 5">
            <a:extLst>
              <a:ext uri="{FF2B5EF4-FFF2-40B4-BE49-F238E27FC236}">
                <a16:creationId xmlns:a16="http://schemas.microsoft.com/office/drawing/2014/main" id="{78042128-DAB4-481C-BEE6-3523E8E88BA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E50E382-C500-4A4C-A7C6-43860383AB91}"/>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0107310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E98B-EACF-4251-A8AF-0D9EDD17C664}"/>
              </a:ext>
            </a:extLst>
          </p:cNvPr>
          <p:cNvSpPr>
            <a:spLocks noGrp="1"/>
          </p:cNvSpPr>
          <p:nvPr>
            <p:ph type="title"/>
          </p:nvPr>
        </p:nvSpPr>
        <p:spPr>
          <a:xfrm>
            <a:off x="704088" y="1066800"/>
            <a:ext cx="4103431" cy="1317523"/>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905F473-761A-4002-AF70-9FF878D0139E}"/>
              </a:ext>
            </a:extLst>
          </p:cNvPr>
          <p:cNvSpPr>
            <a:spLocks noGrp="1"/>
          </p:cNvSpPr>
          <p:nvPr>
            <p:ph type="pic" idx="1"/>
          </p:nvPr>
        </p:nvSpPr>
        <p:spPr>
          <a:xfrm>
            <a:off x="5183188" y="1066800"/>
            <a:ext cx="6172200" cy="47942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FA0C2E6A-F834-4540-BB00-E13CB45DC362}"/>
              </a:ext>
            </a:extLst>
          </p:cNvPr>
          <p:cNvSpPr>
            <a:spLocks noGrp="1"/>
          </p:cNvSpPr>
          <p:nvPr>
            <p:ph type="body" sz="half" idx="2"/>
          </p:nvPr>
        </p:nvSpPr>
        <p:spPr>
          <a:xfrm>
            <a:off x="704088" y="2552700"/>
            <a:ext cx="4103431" cy="33162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C38EAB-AD63-415C-B263-BA1D8FBE3CB0}"/>
              </a:ext>
            </a:extLst>
          </p:cNvPr>
          <p:cNvSpPr>
            <a:spLocks noGrp="1"/>
          </p:cNvSpPr>
          <p:nvPr>
            <p:ph type="dt" sz="half" idx="10"/>
          </p:nvPr>
        </p:nvSpPr>
        <p:spPr/>
        <p:txBody>
          <a:bodyPr/>
          <a:lstStyle/>
          <a:p>
            <a:fld id="{50BA65D8-0540-4835-AE5C-25D29DBA01BE}" type="datetime1">
              <a:rPr lang="en-US" smtClean="0"/>
              <a:t>6/19/26</a:t>
            </a:fld>
            <a:endParaRPr lang="en-US"/>
          </a:p>
        </p:txBody>
      </p:sp>
      <p:sp>
        <p:nvSpPr>
          <p:cNvPr id="6" name="Footer Placeholder 5">
            <a:extLst>
              <a:ext uri="{FF2B5EF4-FFF2-40B4-BE49-F238E27FC236}">
                <a16:creationId xmlns:a16="http://schemas.microsoft.com/office/drawing/2014/main" id="{422E5541-B6DE-45E8-BCFE-0DFC4F57407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BB78D45-289B-46AF-8CB9-E6150BEA17ED}"/>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5086750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359C1-C098-4BF4-A55D-782F4E606B8A}"/>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3D343C7E-1E8B-4D38-9B81-1AA2A8978E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8A70B00-53AE-4D3F-91BE-A8D789ED9864}"/>
              </a:ext>
            </a:extLst>
          </p:cNvPr>
          <p:cNvSpPr>
            <a:spLocks noGrp="1"/>
          </p:cNvSpPr>
          <p:nvPr>
            <p:ph type="dt" sz="half" idx="10"/>
          </p:nvPr>
        </p:nvSpPr>
        <p:spPr/>
        <p:txBody>
          <a:bodyPr/>
          <a:lstStyle/>
          <a:p>
            <a:fld id="{EC3C8B9C-477D-492A-96AD-1FC2CC997A73}" type="datetime1">
              <a:rPr lang="en-US" smtClean="0"/>
              <a:t>6/19/26</a:t>
            </a:fld>
            <a:endParaRPr lang="en-US"/>
          </a:p>
        </p:txBody>
      </p:sp>
      <p:sp>
        <p:nvSpPr>
          <p:cNvPr id="5" name="Footer Placeholder 4">
            <a:extLst>
              <a:ext uri="{FF2B5EF4-FFF2-40B4-BE49-F238E27FC236}">
                <a16:creationId xmlns:a16="http://schemas.microsoft.com/office/drawing/2014/main" id="{06647FC7-8124-4F70-A849-B6BCC5189CC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47CEBE4-50DC-47DB-B699-CCC024336C9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759850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418279-D3B8-4C6A-AB74-9DE377771270}"/>
              </a:ext>
            </a:extLst>
          </p:cNvPr>
          <p:cNvSpPr>
            <a:spLocks noGrp="1"/>
          </p:cNvSpPr>
          <p:nvPr>
            <p:ph type="title" orient="vert"/>
          </p:nvPr>
        </p:nvSpPr>
        <p:spPr>
          <a:xfrm>
            <a:off x="9242322" y="997974"/>
            <a:ext cx="2349043" cy="498495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E28F733C-9309-4197-BACA-207CDC8935C9}"/>
              </a:ext>
            </a:extLst>
          </p:cNvPr>
          <p:cNvSpPr>
            <a:spLocks noGrp="1"/>
          </p:cNvSpPr>
          <p:nvPr>
            <p:ph type="body" orient="vert" idx="1"/>
          </p:nvPr>
        </p:nvSpPr>
        <p:spPr>
          <a:xfrm>
            <a:off x="768927" y="997973"/>
            <a:ext cx="8473395" cy="498495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6ACD4D0-5BE6-412D-B08B-5DFFD593513E}"/>
              </a:ext>
            </a:extLst>
          </p:cNvPr>
          <p:cNvSpPr>
            <a:spLocks noGrp="1"/>
          </p:cNvSpPr>
          <p:nvPr>
            <p:ph type="dt" sz="half" idx="10"/>
          </p:nvPr>
        </p:nvSpPr>
        <p:spPr/>
        <p:txBody>
          <a:bodyPr/>
          <a:lstStyle/>
          <a:p>
            <a:fld id="{42D3AED5-E26D-4E29-B1B3-7847B6779594}" type="datetime1">
              <a:rPr lang="en-US" smtClean="0"/>
              <a:t>6/19/26</a:t>
            </a:fld>
            <a:endParaRPr lang="en-US"/>
          </a:p>
        </p:txBody>
      </p:sp>
      <p:sp>
        <p:nvSpPr>
          <p:cNvPr id="5" name="Footer Placeholder 4">
            <a:extLst>
              <a:ext uri="{FF2B5EF4-FFF2-40B4-BE49-F238E27FC236}">
                <a16:creationId xmlns:a16="http://schemas.microsoft.com/office/drawing/2014/main" id="{55021651-B786-4A39-A10F-F5231D0A2C5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4504D2D-9379-40DE-9F45-3004BE54F16B}"/>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5713099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A362AC-B59F-4AC7-B279-57DDD5336BCA}"/>
              </a:ext>
            </a:extLst>
          </p:cNvPr>
          <p:cNvSpPr>
            <a:spLocks noGrp="1"/>
          </p:cNvSpPr>
          <p:nvPr>
            <p:ph type="title"/>
          </p:nvPr>
        </p:nvSpPr>
        <p:spPr>
          <a:xfrm>
            <a:off x="700635" y="914400"/>
            <a:ext cx="10691265" cy="130759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E6042DB-75BD-4EC1-B6D9-8A72EF940CAA}"/>
              </a:ext>
            </a:extLst>
          </p:cNvPr>
          <p:cNvSpPr>
            <a:spLocks noGrp="1"/>
          </p:cNvSpPr>
          <p:nvPr>
            <p:ph type="body" idx="1"/>
          </p:nvPr>
        </p:nvSpPr>
        <p:spPr>
          <a:xfrm>
            <a:off x="700635" y="2221992"/>
            <a:ext cx="10691265" cy="373989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1DD1378-7C96-4079-B44C-3D86B4657596}"/>
              </a:ext>
            </a:extLst>
          </p:cNvPr>
          <p:cNvSpPr>
            <a:spLocks noGrp="1"/>
          </p:cNvSpPr>
          <p:nvPr>
            <p:ph type="dt" sz="half" idx="2"/>
          </p:nvPr>
        </p:nvSpPr>
        <p:spPr>
          <a:xfrm>
            <a:off x="8369448" y="6356350"/>
            <a:ext cx="2549564" cy="365125"/>
          </a:xfrm>
          <a:prstGeom prst="rect">
            <a:avLst/>
          </a:prstGeom>
        </p:spPr>
        <p:txBody>
          <a:bodyPr vert="horz" lIns="91440" tIns="45720" rIns="91440" bIns="45720" rtlCol="0" anchor="ctr"/>
          <a:lstStyle>
            <a:lvl1pPr algn="r">
              <a:defRPr sz="1050">
                <a:solidFill>
                  <a:schemeClr val="tx1"/>
                </a:solidFill>
                <a:latin typeface="+mj-lt"/>
              </a:defRPr>
            </a:lvl1pPr>
          </a:lstStyle>
          <a:p>
            <a:fld id="{E31BA835-12AC-4E8F-955A-EA3F4DE2791F}" type="datetime1">
              <a:rPr lang="en-US" smtClean="0"/>
              <a:t>6/19/26</a:t>
            </a:fld>
            <a:endParaRPr lang="en-US"/>
          </a:p>
        </p:txBody>
      </p:sp>
      <p:sp>
        <p:nvSpPr>
          <p:cNvPr id="5" name="Footer Placeholder 4">
            <a:extLst>
              <a:ext uri="{FF2B5EF4-FFF2-40B4-BE49-F238E27FC236}">
                <a16:creationId xmlns:a16="http://schemas.microsoft.com/office/drawing/2014/main" id="{D19B6B78-577F-43F5-BAEE-BF72484C9850}"/>
              </a:ext>
            </a:extLst>
          </p:cNvPr>
          <p:cNvSpPr>
            <a:spLocks noGrp="1"/>
          </p:cNvSpPr>
          <p:nvPr>
            <p:ph type="ftr" sz="quarter" idx="3"/>
          </p:nvPr>
        </p:nvSpPr>
        <p:spPr>
          <a:xfrm>
            <a:off x="704088" y="6356350"/>
            <a:ext cx="4539727" cy="365125"/>
          </a:xfrm>
          <a:prstGeom prst="rect">
            <a:avLst/>
          </a:prstGeom>
        </p:spPr>
        <p:txBody>
          <a:bodyPr vert="horz" lIns="91440" tIns="45720" rIns="91440" bIns="45720" rtlCol="0" anchor="ctr"/>
          <a:lstStyle>
            <a:lvl1pPr algn="l">
              <a:defRPr sz="1050">
                <a:solidFill>
                  <a:schemeClr val="tx1"/>
                </a:solidFill>
                <a:latin typeface="+mj-lt"/>
              </a:defRPr>
            </a:lvl1pPr>
          </a:lstStyle>
          <a:p>
            <a:endParaRPr lang="en-US" dirty="0"/>
          </a:p>
        </p:txBody>
      </p:sp>
      <p:sp>
        <p:nvSpPr>
          <p:cNvPr id="6" name="Slide Number Placeholder 5">
            <a:extLst>
              <a:ext uri="{FF2B5EF4-FFF2-40B4-BE49-F238E27FC236}">
                <a16:creationId xmlns:a16="http://schemas.microsoft.com/office/drawing/2014/main" id="{A8CC75B8-AF8F-4D8A-9B3D-D1951A64BADB}"/>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sz="1800">
                <a:solidFill>
                  <a:schemeClr val="tx1"/>
                </a:solidFill>
              </a:defRPr>
            </a:lvl1pPr>
          </a:lstStyle>
          <a:p>
            <a:fld id="{87E7843D-FF13-4365-9478-9625B70A2705}" type="slidenum">
              <a:rPr lang="en-US" smtClean="0"/>
              <a:t>‹#›</a:t>
            </a:fld>
            <a:endParaRPr lang="en-US"/>
          </a:p>
        </p:txBody>
      </p:sp>
      <p:cxnSp>
        <p:nvCxnSpPr>
          <p:cNvPr id="7" name="Straight Connector 6">
            <a:extLst>
              <a:ext uri="{FF2B5EF4-FFF2-40B4-BE49-F238E27FC236}">
                <a16:creationId xmlns:a16="http://schemas.microsoft.com/office/drawing/2014/main" id="{F64F9B95-9045-48D2-B9F3-2927E98F54AA}"/>
              </a:ext>
            </a:extLst>
          </p:cNvPr>
          <p:cNvCxnSpPr>
            <a:cxnSpLocks/>
          </p:cNvCxnSpPr>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85AA86F-6A4D-4BCB-A045-D992CDC2959B}"/>
              </a:ext>
            </a:extLst>
          </p:cNvPr>
          <p:cNvCxnSpPr>
            <a:cxnSpLocks/>
          </p:cNvCxnSpPr>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94211384"/>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72" r:id="rId6"/>
    <p:sldLayoutId id="2147483667" r:id="rId7"/>
    <p:sldLayoutId id="2147483668" r:id="rId8"/>
    <p:sldLayoutId id="2147483669" r:id="rId9"/>
    <p:sldLayoutId id="2147483671" r:id="rId10"/>
    <p:sldLayoutId id="2147483670" r:id="rId11"/>
  </p:sldLayoutIdLst>
  <p:hf sldNum="0" hdr="0" ftr="0" dt="0"/>
  <p:txStyles>
    <p:title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6.emf"/></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ov"/><Relationship Id="rId1" Type="http://schemas.microsoft.com/office/2007/relationships/media" Target="../media/media1.mov"/><Relationship Id="rId6" Type="http://schemas.openxmlformats.org/officeDocument/2006/relationships/image" Target="../media/image16.png"/><Relationship Id="rId5" Type="http://schemas.openxmlformats.org/officeDocument/2006/relationships/image" Target="../media/image1.jpeg"/><Relationship Id="rId4"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25024592-D086-C194-B0E6-2003F4AEDE24}"/>
              </a:ext>
            </a:extLst>
          </p:cNvPr>
          <p:cNvPicPr>
            <a:picLocks noChangeAspect="1"/>
          </p:cNvPicPr>
          <p:nvPr/>
        </p:nvPicPr>
        <p:blipFill>
          <a:blip r:embed="rId2"/>
          <a:srcRect t="33471" b="10279"/>
          <a:stretch>
            <a:fillRect/>
          </a:stretch>
        </p:blipFill>
        <p:spPr>
          <a:xfrm>
            <a:off x="20" y="10"/>
            <a:ext cx="12191979" cy="6857990"/>
          </a:xfrm>
          <a:prstGeom prst="rect">
            <a:avLst/>
          </a:prstGeom>
        </p:spPr>
      </p:pic>
      <p:sp>
        <p:nvSpPr>
          <p:cNvPr id="33" name="Rectangle 32">
            <a:extLst>
              <a:ext uri="{FF2B5EF4-FFF2-40B4-BE49-F238E27FC236}">
                <a16:creationId xmlns:a16="http://schemas.microsoft.com/office/drawing/2014/main" id="{6BB6B482-ACCA-4938-8AEA-49D525C172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307" y="4539"/>
            <a:ext cx="12188952" cy="2368866"/>
          </a:xfrm>
          <a:prstGeom prst="rect">
            <a:avLst/>
          </a:prstGeom>
          <a:gradFill>
            <a:gsLst>
              <a:gs pos="42000">
                <a:srgbClr val="000000">
                  <a:alpha val="16000"/>
                </a:srgbClr>
              </a:gs>
              <a:gs pos="0">
                <a:srgbClr val="000000">
                  <a:alpha val="0"/>
                </a:srgbClr>
              </a:gs>
              <a:gs pos="100000">
                <a:srgbClr val="000000">
                  <a:alpha val="28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54C47EB-C1D2-25B9-693F-E07A38D926C2}"/>
              </a:ext>
            </a:extLst>
          </p:cNvPr>
          <p:cNvSpPr>
            <a:spLocks noGrp="1"/>
          </p:cNvSpPr>
          <p:nvPr>
            <p:ph type="ctrTitle"/>
          </p:nvPr>
        </p:nvSpPr>
        <p:spPr>
          <a:xfrm>
            <a:off x="704088" y="871758"/>
            <a:ext cx="9906000" cy="3871143"/>
          </a:xfrm>
        </p:spPr>
        <p:txBody>
          <a:bodyPr>
            <a:normAutofit/>
          </a:bodyPr>
          <a:lstStyle/>
          <a:p>
            <a:r>
              <a:rPr lang="en-GB" b="1" dirty="0"/>
              <a:t>Computational discovery of cold-adapted </a:t>
            </a:r>
            <a:r>
              <a:rPr lang="en-GB" b="1" dirty="0" err="1"/>
              <a:t>UvsX</a:t>
            </a:r>
            <a:r>
              <a:rPr lang="en-GB" b="1" dirty="0"/>
              <a:t> orthologs for  Ambient temperature RPA</a:t>
            </a:r>
            <a:endParaRPr lang="en-GB" dirty="0"/>
          </a:p>
        </p:txBody>
      </p:sp>
      <p:cxnSp>
        <p:nvCxnSpPr>
          <p:cNvPr id="35" name="Straight Connector 34">
            <a:extLst>
              <a:ext uri="{FF2B5EF4-FFF2-40B4-BE49-F238E27FC236}">
                <a16:creationId xmlns:a16="http://schemas.microsoft.com/office/drawing/2014/main" id="{EE2E603F-4A95-4FE8-BB06-211DFD75DB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rgbClr val="FFFFFF"/>
            </a:solidFill>
          </a:ln>
          <a:effectLst>
            <a:outerShdw blurRad="50800" dist="38100" dir="2700000" algn="tl" rotWithShape="0">
              <a:prstClr val="black">
                <a:alpha val="13000"/>
              </a:prstClr>
            </a:outerShdw>
          </a:effectLst>
        </p:spPr>
        <p:style>
          <a:lnRef idx="1">
            <a:schemeClr val="accent1"/>
          </a:lnRef>
          <a:fillRef idx="0">
            <a:schemeClr val="accent1"/>
          </a:fillRef>
          <a:effectRef idx="0">
            <a:schemeClr val="accent1"/>
          </a:effectRef>
          <a:fontRef idx="minor">
            <a:schemeClr val="tx1"/>
          </a:fontRef>
        </p:style>
      </p:cxnSp>
      <p:sp>
        <p:nvSpPr>
          <p:cNvPr id="41" name="Rectangle 40">
            <a:extLst>
              <a:ext uri="{FF2B5EF4-FFF2-40B4-BE49-F238E27FC236}">
                <a16:creationId xmlns:a16="http://schemas.microsoft.com/office/drawing/2014/main" id="{612349FF-7742-42ED-ADF3-238B5DDD17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07" y="4888006"/>
            <a:ext cx="12188952" cy="1969994"/>
          </a:xfrm>
          <a:prstGeom prst="rect">
            <a:avLst/>
          </a:prstGeom>
          <a:gradFill>
            <a:gsLst>
              <a:gs pos="42000">
                <a:srgbClr val="000000">
                  <a:alpha val="14000"/>
                </a:srgbClr>
              </a:gs>
              <a:gs pos="0">
                <a:srgbClr val="000000">
                  <a:alpha val="0"/>
                </a:srgbClr>
              </a:gs>
              <a:gs pos="100000">
                <a:srgbClr val="000000">
                  <a:alpha val="31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5BF979CF-3638-BA0A-3F20-891B67D978B6}"/>
              </a:ext>
            </a:extLst>
          </p:cNvPr>
          <p:cNvSpPr>
            <a:spLocks noGrp="1"/>
          </p:cNvSpPr>
          <p:nvPr>
            <p:ph type="subTitle" idx="1"/>
          </p:nvPr>
        </p:nvSpPr>
        <p:spPr>
          <a:xfrm>
            <a:off x="704088" y="4488426"/>
            <a:ext cx="6991776" cy="1302774"/>
          </a:xfrm>
        </p:spPr>
        <p:txBody>
          <a:bodyPr>
            <a:normAutofit lnSpcReduction="10000"/>
          </a:bodyPr>
          <a:lstStyle/>
          <a:p>
            <a:r>
              <a:rPr lang="en-US" dirty="0">
                <a:solidFill>
                  <a:srgbClr val="FFFFFF"/>
                </a:solidFill>
                <a:latin typeface="+mj-lt"/>
              </a:rPr>
              <a:t>JAIME DUARTE-NIEMEN</a:t>
            </a:r>
          </a:p>
          <a:p>
            <a:r>
              <a:rPr lang="en-US" dirty="0">
                <a:solidFill>
                  <a:srgbClr val="FFFFFF"/>
                </a:solidFill>
                <a:latin typeface="+mj-lt"/>
              </a:rPr>
              <a:t>Matt Higgins</a:t>
            </a:r>
          </a:p>
          <a:p>
            <a:r>
              <a:rPr lang="en-US" dirty="0">
                <a:solidFill>
                  <a:srgbClr val="FFFFFF"/>
                </a:solidFill>
                <a:latin typeface="+mj-lt"/>
              </a:rPr>
              <a:t>MSc Bioinformatics</a:t>
            </a:r>
          </a:p>
        </p:txBody>
      </p:sp>
      <p:cxnSp>
        <p:nvCxnSpPr>
          <p:cNvPr id="42" name="Straight Connector 41">
            <a:extLst>
              <a:ext uri="{FF2B5EF4-FFF2-40B4-BE49-F238E27FC236}">
                <a16:creationId xmlns:a16="http://schemas.microsoft.com/office/drawing/2014/main" id="{2CF06E40-3ECB-4820-95B5-8A70B07D4B4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34100"/>
            <a:ext cx="10591800" cy="0"/>
          </a:xfrm>
          <a:prstGeom prst="line">
            <a:avLst/>
          </a:prstGeom>
          <a:ln w="12700">
            <a:solidFill>
              <a:srgbClr val="FFFFFF"/>
            </a:solidFill>
          </a:ln>
          <a:effectLst>
            <a:outerShdw blurRad="50800" dist="38100" dir="2700000" algn="tl" rotWithShape="0">
              <a:prstClr val="black">
                <a:alpha val="13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11578478"/>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EE6AFD0-2DF4-6EBD-6D7E-50068FE57FF4}"/>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773D66C-BF19-510B-3FC9-0C00BAF37390}"/>
              </a:ext>
            </a:extLst>
          </p:cNvPr>
          <p:cNvSpPr>
            <a:spLocks noGrp="1"/>
          </p:cNvSpPr>
          <p:nvPr>
            <p:ph type="ctrTitle"/>
          </p:nvPr>
        </p:nvSpPr>
        <p:spPr>
          <a:xfrm>
            <a:off x="703400" y="871759"/>
            <a:ext cx="5227171" cy="794672"/>
          </a:xfrm>
        </p:spPr>
        <p:txBody>
          <a:bodyPr>
            <a:normAutofit/>
          </a:bodyPr>
          <a:lstStyle/>
          <a:p>
            <a:pPr>
              <a:lnSpc>
                <a:spcPct val="90000"/>
              </a:lnSpc>
            </a:pPr>
            <a:r>
              <a:rPr lang="en-US" sz="4200" dirty="0"/>
              <a:t>Background</a:t>
            </a:r>
          </a:p>
        </p:txBody>
      </p:sp>
      <p:cxnSp>
        <p:nvCxnSpPr>
          <p:cNvPr id="11" name="Straight Connector 10">
            <a:extLst>
              <a:ext uri="{FF2B5EF4-FFF2-40B4-BE49-F238E27FC236}">
                <a16:creationId xmlns:a16="http://schemas.microsoft.com/office/drawing/2014/main" id="{EE2E603F-4A95-4FE8-BB06-211DFD75DB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49149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D7CC41EB-2D81-4303-9171-6401B388BA3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34100"/>
            <a:ext cx="49149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1BFCB645-7170-092C-97AA-0C9F5F8AC554}"/>
              </a:ext>
            </a:extLst>
          </p:cNvPr>
          <p:cNvPicPr>
            <a:picLocks noChangeAspect="1"/>
          </p:cNvPicPr>
          <p:nvPr/>
        </p:nvPicPr>
        <p:blipFill>
          <a:blip r:embed="rId3"/>
          <a:srcRect r="17222"/>
          <a:stretch>
            <a:fillRect/>
          </a:stretch>
        </p:blipFill>
        <p:spPr>
          <a:xfrm>
            <a:off x="6515100" y="10"/>
            <a:ext cx="5676900" cy="6857990"/>
          </a:xfrm>
          <a:prstGeom prst="rect">
            <a:avLst/>
          </a:prstGeom>
        </p:spPr>
      </p:pic>
      <p:pic>
        <p:nvPicPr>
          <p:cNvPr id="6" name="Picture 5" descr="A diagram of dna sequence&#10;&#10;Description automatically generated">
            <a:extLst>
              <a:ext uri="{FF2B5EF4-FFF2-40B4-BE49-F238E27FC236}">
                <a16:creationId xmlns:a16="http://schemas.microsoft.com/office/drawing/2014/main" id="{EFE00B9A-3521-A213-18E8-B723D5A9D446}"/>
              </a:ext>
            </a:extLst>
          </p:cNvPr>
          <p:cNvPicPr>
            <a:picLocks noChangeAspect="1"/>
          </p:cNvPicPr>
          <p:nvPr/>
        </p:nvPicPr>
        <p:blipFill>
          <a:blip r:embed="rId4"/>
          <a:stretch>
            <a:fillRect/>
          </a:stretch>
        </p:blipFill>
        <p:spPr>
          <a:xfrm>
            <a:off x="7424057" y="723900"/>
            <a:ext cx="3850749" cy="5416017"/>
          </a:xfrm>
          <a:prstGeom prst="rect">
            <a:avLst/>
          </a:prstGeom>
        </p:spPr>
      </p:pic>
      <p:sp>
        <p:nvSpPr>
          <p:cNvPr id="5" name="TextBox 4">
            <a:extLst>
              <a:ext uri="{FF2B5EF4-FFF2-40B4-BE49-F238E27FC236}">
                <a16:creationId xmlns:a16="http://schemas.microsoft.com/office/drawing/2014/main" id="{CD7316C4-F2AE-5C00-1876-3870ACD1D1A2}"/>
              </a:ext>
            </a:extLst>
          </p:cNvPr>
          <p:cNvSpPr txBox="1"/>
          <p:nvPr/>
        </p:nvSpPr>
        <p:spPr>
          <a:xfrm>
            <a:off x="712269" y="1447801"/>
            <a:ext cx="5676899" cy="5355312"/>
          </a:xfrm>
          <a:prstGeom prst="rect">
            <a:avLst/>
          </a:prstGeom>
          <a:noFill/>
        </p:spPr>
        <p:txBody>
          <a:bodyPr wrap="square" rtlCol="0">
            <a:spAutoFit/>
          </a:bodyPr>
          <a:lstStyle/>
          <a:p>
            <a:r>
              <a:rPr lang="en-GB" sz="1400" b="1" dirty="0"/>
              <a:t>Why RPA?</a:t>
            </a:r>
            <a:br>
              <a:rPr lang="en-GB" sz="1400" dirty="0"/>
            </a:br>
            <a:r>
              <a:rPr lang="en-GB" sz="1400" dirty="0"/>
              <a:t>Recombinase Polymerase Amplification (RPA) is a rapid, highly sensitive DNA amplification method that operates at low temperatures (37–42°C), making it a promising platform for point-of-care and field-based molecular diagnostics.</a:t>
            </a:r>
          </a:p>
          <a:p>
            <a:endParaRPr lang="en-GB" sz="1400" dirty="0"/>
          </a:p>
          <a:p>
            <a:r>
              <a:rPr lang="en-GB" sz="1400" b="1" dirty="0"/>
              <a:t>Why </a:t>
            </a:r>
            <a:r>
              <a:rPr lang="en-GB" sz="1400" b="1" dirty="0" err="1"/>
              <a:t>UvsX</a:t>
            </a:r>
            <a:r>
              <a:rPr lang="en-GB" sz="1400" b="1" dirty="0"/>
              <a:t>?</a:t>
            </a:r>
            <a:br>
              <a:rPr lang="en-GB" sz="1400" dirty="0"/>
            </a:br>
            <a:r>
              <a:rPr lang="en-GB" sz="1400" dirty="0" err="1"/>
              <a:t>UvsX</a:t>
            </a:r>
            <a:r>
              <a:rPr lang="en-GB" sz="1400" dirty="0"/>
              <a:t> is the recombinase that initiates DNA amplification by locating target sequences and enabling primer binding to double-stranded DNA.</a:t>
            </a:r>
          </a:p>
          <a:p>
            <a:endParaRPr lang="en-GB" sz="1400" dirty="0"/>
          </a:p>
          <a:p>
            <a:endParaRPr lang="en-GB" sz="1400" dirty="0"/>
          </a:p>
          <a:p>
            <a:r>
              <a:rPr lang="en-GB" sz="1400" b="1" dirty="0"/>
              <a:t>Role of </a:t>
            </a:r>
            <a:r>
              <a:rPr lang="en-GB" sz="1400" b="1" dirty="0" err="1"/>
              <a:t>UvsX</a:t>
            </a:r>
            <a:r>
              <a:rPr lang="en-GB" sz="1400" b="1" dirty="0"/>
              <a:t> in RPA</a:t>
            </a:r>
          </a:p>
          <a:p>
            <a:pPr>
              <a:buFont typeface="+mj-lt"/>
              <a:buAutoNum type="arabicPeriod"/>
            </a:pPr>
            <a:r>
              <a:rPr lang="en-GB" sz="1400" dirty="0" err="1"/>
              <a:t>UvsX</a:t>
            </a:r>
            <a:r>
              <a:rPr lang="en-GB" sz="1400" dirty="0"/>
              <a:t> binds primers to form a nucleoprotein filament.</a:t>
            </a:r>
          </a:p>
          <a:p>
            <a:pPr>
              <a:buFont typeface="+mj-lt"/>
              <a:buAutoNum type="arabicPeriod"/>
            </a:pPr>
            <a:r>
              <a:rPr lang="en-GB" sz="1400" dirty="0"/>
              <a:t>Filament searches for homologous DNA within the target sequence.</a:t>
            </a:r>
          </a:p>
          <a:p>
            <a:pPr>
              <a:buFont typeface="+mj-lt"/>
              <a:buAutoNum type="arabicPeriod"/>
            </a:pPr>
            <a:r>
              <a:rPr lang="en-GB" sz="1400" dirty="0" err="1"/>
              <a:t>UvsX</a:t>
            </a:r>
            <a:r>
              <a:rPr lang="en-GB" sz="1400" dirty="0"/>
              <a:t> promotes strand invasion, opening the DNA duplex.</a:t>
            </a:r>
          </a:p>
          <a:p>
            <a:pPr>
              <a:buFont typeface="+mj-lt"/>
              <a:buAutoNum type="arabicPeriod"/>
            </a:pPr>
            <a:r>
              <a:rPr lang="en-GB" sz="1400" dirty="0"/>
              <a:t>Primer anneals to the complementary target strand.</a:t>
            </a:r>
          </a:p>
          <a:p>
            <a:pPr>
              <a:buFont typeface="+mj-lt"/>
              <a:buAutoNum type="arabicPeriod"/>
            </a:pPr>
            <a:r>
              <a:rPr lang="en-GB" sz="1400" dirty="0"/>
              <a:t>Polymerase extends the primer, initiating DNA amplification.</a:t>
            </a:r>
          </a:p>
          <a:p>
            <a:endParaRPr lang="en-GB" sz="1400" dirty="0"/>
          </a:p>
          <a:p>
            <a:endParaRPr lang="en-GB" dirty="0"/>
          </a:p>
          <a:p>
            <a:endParaRPr lang="en-GB" dirty="0"/>
          </a:p>
          <a:p>
            <a:endParaRPr lang="en-GB" dirty="0"/>
          </a:p>
          <a:p>
            <a:r>
              <a:rPr lang="en-GB" dirty="0"/>
              <a:t>[1]</a:t>
            </a:r>
          </a:p>
          <a:p>
            <a:endParaRPr lang="en-US" dirty="0"/>
          </a:p>
        </p:txBody>
      </p:sp>
      <p:sp>
        <p:nvSpPr>
          <p:cNvPr id="3" name="TextBox 2">
            <a:extLst>
              <a:ext uri="{FF2B5EF4-FFF2-40B4-BE49-F238E27FC236}">
                <a16:creationId xmlns:a16="http://schemas.microsoft.com/office/drawing/2014/main" id="{70FCEDE6-DCD4-8DB7-EB59-0A30796D94AE}"/>
              </a:ext>
            </a:extLst>
          </p:cNvPr>
          <p:cNvSpPr txBox="1"/>
          <p:nvPr/>
        </p:nvSpPr>
        <p:spPr>
          <a:xfrm>
            <a:off x="7424057" y="6134100"/>
            <a:ext cx="2971227" cy="307777"/>
          </a:xfrm>
          <a:prstGeom prst="rect">
            <a:avLst/>
          </a:prstGeom>
          <a:noFill/>
        </p:spPr>
        <p:txBody>
          <a:bodyPr wrap="square" rtlCol="0">
            <a:spAutoFit/>
          </a:bodyPr>
          <a:lstStyle/>
          <a:p>
            <a:r>
              <a:rPr lang="en-US" sz="1400" dirty="0">
                <a:solidFill>
                  <a:schemeClr val="bg1"/>
                </a:solidFill>
              </a:rPr>
              <a:t>Figure 1.  RPA diagram </a:t>
            </a:r>
          </a:p>
        </p:txBody>
      </p:sp>
    </p:spTree>
    <p:extLst>
      <p:ext uri="{BB962C8B-B14F-4D97-AF65-F5344CB8AC3E}">
        <p14:creationId xmlns:p14="http://schemas.microsoft.com/office/powerpoint/2010/main" val="10837985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2B9F24-7547-0615-2503-53B714F971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9F1C3D-37B1-1FDB-8892-8BC57BFE5BCB}"/>
              </a:ext>
            </a:extLst>
          </p:cNvPr>
          <p:cNvSpPr>
            <a:spLocks noGrp="1"/>
          </p:cNvSpPr>
          <p:nvPr>
            <p:ph type="ctrTitle"/>
          </p:nvPr>
        </p:nvSpPr>
        <p:spPr>
          <a:xfrm>
            <a:off x="703400" y="871759"/>
            <a:ext cx="5227171" cy="794672"/>
          </a:xfrm>
        </p:spPr>
        <p:txBody>
          <a:bodyPr>
            <a:normAutofit/>
          </a:bodyPr>
          <a:lstStyle/>
          <a:p>
            <a:pPr>
              <a:lnSpc>
                <a:spcPct val="90000"/>
              </a:lnSpc>
            </a:pPr>
            <a:r>
              <a:rPr lang="en-US" sz="4200" dirty="0"/>
              <a:t>Project Rationale</a:t>
            </a:r>
          </a:p>
        </p:txBody>
      </p:sp>
      <p:pic>
        <p:nvPicPr>
          <p:cNvPr id="4" name="Picture 3">
            <a:extLst>
              <a:ext uri="{FF2B5EF4-FFF2-40B4-BE49-F238E27FC236}">
                <a16:creationId xmlns:a16="http://schemas.microsoft.com/office/drawing/2014/main" id="{83B76DDF-EF97-9551-3B81-CFD7281AD4CE}"/>
              </a:ext>
            </a:extLst>
          </p:cNvPr>
          <p:cNvPicPr>
            <a:picLocks noChangeAspect="1"/>
          </p:cNvPicPr>
          <p:nvPr/>
        </p:nvPicPr>
        <p:blipFill>
          <a:blip r:embed="rId3"/>
          <a:srcRect r="17222"/>
          <a:stretch>
            <a:fillRect/>
          </a:stretch>
        </p:blipFill>
        <p:spPr>
          <a:xfrm>
            <a:off x="6515100" y="10"/>
            <a:ext cx="5676900" cy="6857990"/>
          </a:xfrm>
          <a:prstGeom prst="rect">
            <a:avLst/>
          </a:prstGeom>
        </p:spPr>
      </p:pic>
      <p:pic>
        <p:nvPicPr>
          <p:cNvPr id="6" name="Picture 5" descr="A diagram of dna sequence&#10;&#10;Description automatically generated">
            <a:extLst>
              <a:ext uri="{FF2B5EF4-FFF2-40B4-BE49-F238E27FC236}">
                <a16:creationId xmlns:a16="http://schemas.microsoft.com/office/drawing/2014/main" id="{BD29465B-3D9C-392E-2AEA-E5EAEC0DB54F}"/>
              </a:ext>
            </a:extLst>
          </p:cNvPr>
          <p:cNvPicPr>
            <a:picLocks noChangeAspect="1"/>
          </p:cNvPicPr>
          <p:nvPr/>
        </p:nvPicPr>
        <p:blipFill>
          <a:blip r:embed="rId4"/>
          <a:stretch>
            <a:fillRect/>
          </a:stretch>
        </p:blipFill>
        <p:spPr>
          <a:xfrm>
            <a:off x="7424057" y="723900"/>
            <a:ext cx="3850749" cy="5416017"/>
          </a:xfrm>
          <a:prstGeom prst="rect">
            <a:avLst/>
          </a:prstGeom>
        </p:spPr>
      </p:pic>
      <p:sp>
        <p:nvSpPr>
          <p:cNvPr id="5" name="TextBox 4">
            <a:extLst>
              <a:ext uri="{FF2B5EF4-FFF2-40B4-BE49-F238E27FC236}">
                <a16:creationId xmlns:a16="http://schemas.microsoft.com/office/drawing/2014/main" id="{58B44A6A-F0F8-CECC-111C-467C4127A02E}"/>
              </a:ext>
            </a:extLst>
          </p:cNvPr>
          <p:cNvSpPr txBox="1"/>
          <p:nvPr/>
        </p:nvSpPr>
        <p:spPr>
          <a:xfrm>
            <a:off x="712269" y="1447801"/>
            <a:ext cx="5676899" cy="3877985"/>
          </a:xfrm>
          <a:prstGeom prst="rect">
            <a:avLst/>
          </a:prstGeom>
          <a:noFill/>
        </p:spPr>
        <p:txBody>
          <a:bodyPr wrap="square" rtlCol="0">
            <a:spAutoFit/>
          </a:bodyPr>
          <a:lstStyle/>
          <a:p>
            <a:endParaRPr lang="en-GB" sz="1400" dirty="0"/>
          </a:p>
          <a:p>
            <a:r>
              <a:rPr lang="en-GB" sz="1400" b="1" dirty="0"/>
              <a:t>Project rationale:</a:t>
            </a:r>
            <a:br>
              <a:rPr lang="en-GB" sz="1400" dirty="0"/>
            </a:br>
            <a:r>
              <a:rPr lang="en-GB" sz="1400" dirty="0"/>
              <a:t>RPA performance is limited at ambient temperatures</a:t>
            </a:r>
          </a:p>
          <a:p>
            <a:r>
              <a:rPr lang="en-GB" sz="1400" dirty="0"/>
              <a:t>Cold-adapted enzymes may improve low-temperature DNA amplification</a:t>
            </a:r>
          </a:p>
          <a:p>
            <a:endParaRPr lang="en-GB" sz="1400" dirty="0"/>
          </a:p>
          <a:p>
            <a:r>
              <a:rPr lang="en-GB" sz="1400" b="1" dirty="0"/>
              <a:t>Objective:</a:t>
            </a:r>
          </a:p>
          <a:p>
            <a:r>
              <a:rPr lang="en-GB" sz="1400" dirty="0"/>
              <a:t>Identify and characterise cold-adapted </a:t>
            </a:r>
            <a:r>
              <a:rPr lang="en-GB" sz="1400" dirty="0" err="1"/>
              <a:t>UvsX</a:t>
            </a:r>
            <a:r>
              <a:rPr lang="en-GB" sz="1400" dirty="0"/>
              <a:t> orthologs</a:t>
            </a:r>
          </a:p>
          <a:p>
            <a:pPr>
              <a:buFont typeface="Arial" panose="020B0604020202020204" pitchFamily="34" charset="0"/>
              <a:buChar char="•"/>
            </a:pPr>
            <a:endParaRPr lang="en-GB" sz="1400" dirty="0"/>
          </a:p>
          <a:p>
            <a:r>
              <a:rPr lang="en-GB" sz="1400" b="1" dirty="0"/>
              <a:t>Aims:</a:t>
            </a:r>
          </a:p>
          <a:p>
            <a:pPr>
              <a:buFont typeface="Arial" panose="020B0604020202020204" pitchFamily="34" charset="0"/>
              <a:buChar char="•"/>
            </a:pPr>
            <a:r>
              <a:rPr lang="en-GB" sz="1400" dirty="0"/>
              <a:t>Identify </a:t>
            </a:r>
            <a:r>
              <a:rPr lang="en-GB" sz="1400" dirty="0" err="1"/>
              <a:t>UvsX</a:t>
            </a:r>
            <a:r>
              <a:rPr lang="en-GB" sz="1400" dirty="0"/>
              <a:t> orthologs from public databases</a:t>
            </a:r>
          </a:p>
          <a:p>
            <a:pPr>
              <a:buFont typeface="Arial" panose="020B0604020202020204" pitchFamily="34" charset="0"/>
              <a:buChar char="•"/>
            </a:pPr>
            <a:endParaRPr lang="en-GB" sz="1400" dirty="0"/>
          </a:p>
          <a:p>
            <a:pPr>
              <a:buFont typeface="Arial" panose="020B0604020202020204" pitchFamily="34" charset="0"/>
              <a:buChar char="•"/>
            </a:pPr>
            <a:r>
              <a:rPr lang="en-GB" sz="1400" dirty="0"/>
              <a:t>In silico screening of candidates (HMMs, Seq2Topt, TMP)</a:t>
            </a:r>
          </a:p>
          <a:p>
            <a:pPr>
              <a:buFont typeface="Arial" panose="020B0604020202020204" pitchFamily="34" charset="0"/>
              <a:buChar char="•"/>
            </a:pPr>
            <a:endParaRPr lang="en-GB" sz="1400" dirty="0"/>
          </a:p>
          <a:p>
            <a:pPr>
              <a:buFont typeface="Arial" panose="020B0604020202020204" pitchFamily="34" charset="0"/>
              <a:buChar char="•"/>
            </a:pPr>
            <a:r>
              <a:rPr lang="en-GB" sz="1400" dirty="0"/>
              <a:t>Molecular dynamics evaluation of flexibility and stability</a:t>
            </a:r>
          </a:p>
          <a:p>
            <a:endParaRPr lang="en-GB" dirty="0"/>
          </a:p>
          <a:p>
            <a:endParaRPr lang="en-US" dirty="0"/>
          </a:p>
        </p:txBody>
      </p:sp>
      <p:sp>
        <p:nvSpPr>
          <p:cNvPr id="7" name="TextBox 6">
            <a:extLst>
              <a:ext uri="{FF2B5EF4-FFF2-40B4-BE49-F238E27FC236}">
                <a16:creationId xmlns:a16="http://schemas.microsoft.com/office/drawing/2014/main" id="{44908154-E72E-0912-D670-E72709B2EC87}"/>
              </a:ext>
            </a:extLst>
          </p:cNvPr>
          <p:cNvSpPr txBox="1"/>
          <p:nvPr/>
        </p:nvSpPr>
        <p:spPr>
          <a:xfrm>
            <a:off x="7424057" y="6134100"/>
            <a:ext cx="2971227" cy="307777"/>
          </a:xfrm>
          <a:prstGeom prst="rect">
            <a:avLst/>
          </a:prstGeom>
          <a:noFill/>
        </p:spPr>
        <p:txBody>
          <a:bodyPr wrap="square" rtlCol="0">
            <a:spAutoFit/>
          </a:bodyPr>
          <a:lstStyle/>
          <a:p>
            <a:r>
              <a:rPr lang="en-US" sz="1400" dirty="0">
                <a:solidFill>
                  <a:schemeClr val="bg1"/>
                </a:solidFill>
              </a:rPr>
              <a:t>Figure 1.  RPA diagram [1] </a:t>
            </a:r>
          </a:p>
        </p:txBody>
      </p:sp>
    </p:spTree>
    <p:extLst>
      <p:ext uri="{BB962C8B-B14F-4D97-AF65-F5344CB8AC3E}">
        <p14:creationId xmlns:p14="http://schemas.microsoft.com/office/powerpoint/2010/main" val="34784042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99E1A7-6F13-0219-13C6-8E7A9780D9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4D3C51-A1CA-D276-5168-DFE4EB3F3079}"/>
              </a:ext>
            </a:extLst>
          </p:cNvPr>
          <p:cNvSpPr>
            <a:spLocks noGrp="1"/>
          </p:cNvSpPr>
          <p:nvPr>
            <p:ph type="ctrTitle"/>
          </p:nvPr>
        </p:nvSpPr>
        <p:spPr>
          <a:xfrm>
            <a:off x="703400" y="871759"/>
            <a:ext cx="5227171" cy="794672"/>
          </a:xfrm>
        </p:spPr>
        <p:txBody>
          <a:bodyPr>
            <a:normAutofit/>
          </a:bodyPr>
          <a:lstStyle/>
          <a:p>
            <a:pPr>
              <a:lnSpc>
                <a:spcPct val="90000"/>
              </a:lnSpc>
            </a:pPr>
            <a:r>
              <a:rPr lang="en-US" sz="4200" dirty="0"/>
              <a:t>GOLD STANDARDS</a:t>
            </a:r>
          </a:p>
        </p:txBody>
      </p:sp>
      <p:pic>
        <p:nvPicPr>
          <p:cNvPr id="4" name="Picture 3">
            <a:extLst>
              <a:ext uri="{FF2B5EF4-FFF2-40B4-BE49-F238E27FC236}">
                <a16:creationId xmlns:a16="http://schemas.microsoft.com/office/drawing/2014/main" id="{EF69DC52-4DC7-7234-358A-44D2EADA667B}"/>
              </a:ext>
            </a:extLst>
          </p:cNvPr>
          <p:cNvPicPr>
            <a:picLocks noChangeAspect="1"/>
          </p:cNvPicPr>
          <p:nvPr/>
        </p:nvPicPr>
        <p:blipFill>
          <a:blip r:embed="rId3"/>
          <a:srcRect r="17222"/>
          <a:stretch>
            <a:fillRect/>
          </a:stretch>
        </p:blipFill>
        <p:spPr>
          <a:xfrm>
            <a:off x="6515100" y="12202"/>
            <a:ext cx="5676900" cy="6857990"/>
          </a:xfrm>
          <a:prstGeom prst="rect">
            <a:avLst/>
          </a:prstGeom>
        </p:spPr>
      </p:pic>
      <p:sp>
        <p:nvSpPr>
          <p:cNvPr id="3" name="TextBox 2">
            <a:extLst>
              <a:ext uri="{FF2B5EF4-FFF2-40B4-BE49-F238E27FC236}">
                <a16:creationId xmlns:a16="http://schemas.microsoft.com/office/drawing/2014/main" id="{06F6BFF6-6AB1-6F7F-9668-72BD20A99516}"/>
              </a:ext>
            </a:extLst>
          </p:cNvPr>
          <p:cNvSpPr txBox="1"/>
          <p:nvPr/>
        </p:nvSpPr>
        <p:spPr>
          <a:xfrm>
            <a:off x="703400" y="1439535"/>
            <a:ext cx="5392599" cy="5016758"/>
          </a:xfrm>
          <a:prstGeom prst="rect">
            <a:avLst/>
          </a:prstGeom>
          <a:noFill/>
        </p:spPr>
        <p:txBody>
          <a:bodyPr wrap="square" rtlCol="0">
            <a:spAutoFit/>
          </a:bodyPr>
          <a:lstStyle/>
          <a:p>
            <a:r>
              <a:rPr lang="en-GB" sz="1600" dirty="0"/>
              <a:t>Gold-standard </a:t>
            </a:r>
            <a:r>
              <a:rPr lang="en-GB" sz="1600" dirty="0" err="1"/>
              <a:t>UvsX</a:t>
            </a:r>
            <a:r>
              <a:rPr lang="en-GB" sz="1600" dirty="0"/>
              <a:t> proteins were selected via literature review of wet-lab validated enzymes. Proteins with experimentally confirmed activity, structures and characterised thermal properties.</a:t>
            </a:r>
          </a:p>
          <a:p>
            <a:endParaRPr lang="en-US" dirty="0"/>
          </a:p>
          <a:p>
            <a:r>
              <a:rPr lang="en-GB" sz="1600" b="1" dirty="0"/>
              <a:t>Why these proteins?</a:t>
            </a:r>
            <a:endParaRPr lang="en-GB" sz="1600" dirty="0"/>
          </a:p>
          <a:p>
            <a:pPr>
              <a:buFont typeface="Arial" panose="020B0604020202020204" pitchFamily="34" charset="0"/>
              <a:buChar char="•"/>
            </a:pPr>
            <a:r>
              <a:rPr lang="en-GB" sz="1600" dirty="0"/>
              <a:t>Represent a spectrum of thermal adaptations (cold → moderate → hot).</a:t>
            </a:r>
          </a:p>
          <a:p>
            <a:pPr>
              <a:buFont typeface="Arial" panose="020B0604020202020204" pitchFamily="34" charset="0"/>
              <a:buChar char="•"/>
            </a:pPr>
            <a:r>
              <a:rPr lang="en-GB" sz="1600" dirty="0"/>
              <a:t>Provide experimentally characterised reference points for validating computational analyses.</a:t>
            </a:r>
          </a:p>
          <a:p>
            <a:pPr>
              <a:buFont typeface="Arial" panose="020B0604020202020204" pitchFamily="34" charset="0"/>
              <a:buChar char="•"/>
            </a:pPr>
            <a:r>
              <a:rPr lang="en-GB" sz="1600" dirty="0"/>
              <a:t>Enable identification of sequence and structural features associated with recombinase activity.</a:t>
            </a:r>
          </a:p>
          <a:p>
            <a:endParaRPr lang="en-US" dirty="0"/>
          </a:p>
          <a:p>
            <a:r>
              <a:rPr lang="en-US" dirty="0"/>
              <a:t>1) T4 </a:t>
            </a:r>
            <a:r>
              <a:rPr lang="en-US" dirty="0" err="1"/>
              <a:t>UvsX</a:t>
            </a:r>
            <a:r>
              <a:rPr lang="en-US" dirty="0"/>
              <a:t> </a:t>
            </a:r>
          </a:p>
          <a:p>
            <a:r>
              <a:rPr lang="en-US" dirty="0"/>
              <a:t>2) 7Z3M (Thermophilic phage)</a:t>
            </a:r>
          </a:p>
          <a:p>
            <a:r>
              <a:rPr lang="en-US" dirty="0"/>
              <a:t>3) 9GBG (Psychrophilic phage)</a:t>
            </a:r>
          </a:p>
          <a:p>
            <a:endParaRPr lang="en-US" dirty="0"/>
          </a:p>
          <a:p>
            <a:r>
              <a:rPr lang="en-US" dirty="0"/>
              <a:t>[2]</a:t>
            </a:r>
          </a:p>
          <a:p>
            <a:endParaRPr lang="en-US" dirty="0"/>
          </a:p>
        </p:txBody>
      </p:sp>
      <p:pic>
        <p:nvPicPr>
          <p:cNvPr id="1026" name="Picture 2" descr="Psychrophiles, Mesophiles, Thermophiles — Microbe Online">
            <a:extLst>
              <a:ext uri="{FF2B5EF4-FFF2-40B4-BE49-F238E27FC236}">
                <a16:creationId xmlns:a16="http://schemas.microsoft.com/office/drawing/2014/main" id="{79E9FB18-D57C-82C3-69AB-87EB218F2C1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50769" y="1777164"/>
            <a:ext cx="5005562" cy="330367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0F881643-0D45-EF68-64EC-74CC67B5F5C9}"/>
              </a:ext>
            </a:extLst>
          </p:cNvPr>
          <p:cNvSpPr txBox="1"/>
          <p:nvPr/>
        </p:nvSpPr>
        <p:spPr>
          <a:xfrm>
            <a:off x="6850769" y="5080835"/>
            <a:ext cx="4073905" cy="307777"/>
          </a:xfrm>
          <a:prstGeom prst="rect">
            <a:avLst/>
          </a:prstGeom>
          <a:noFill/>
        </p:spPr>
        <p:txBody>
          <a:bodyPr wrap="square" rtlCol="0">
            <a:spAutoFit/>
          </a:bodyPr>
          <a:lstStyle/>
          <a:p>
            <a:r>
              <a:rPr lang="en-US" sz="1400" dirty="0">
                <a:solidFill>
                  <a:schemeClr val="bg1"/>
                </a:solidFill>
              </a:rPr>
              <a:t>Figure 2. Thermal adaptation temperature ranges</a:t>
            </a:r>
          </a:p>
        </p:txBody>
      </p:sp>
    </p:spTree>
    <p:extLst>
      <p:ext uri="{BB962C8B-B14F-4D97-AF65-F5344CB8AC3E}">
        <p14:creationId xmlns:p14="http://schemas.microsoft.com/office/powerpoint/2010/main" val="24869260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E15F60-D5D0-9338-FE3B-53EFCC055F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692831-3152-A09C-4F92-EB288B65E230}"/>
              </a:ext>
            </a:extLst>
          </p:cNvPr>
          <p:cNvSpPr>
            <a:spLocks noGrp="1"/>
          </p:cNvSpPr>
          <p:nvPr>
            <p:ph type="ctrTitle"/>
          </p:nvPr>
        </p:nvSpPr>
        <p:spPr>
          <a:xfrm>
            <a:off x="703400" y="871759"/>
            <a:ext cx="5227171" cy="794672"/>
          </a:xfrm>
        </p:spPr>
        <p:txBody>
          <a:bodyPr>
            <a:normAutofit/>
          </a:bodyPr>
          <a:lstStyle/>
          <a:p>
            <a:pPr>
              <a:lnSpc>
                <a:spcPct val="90000"/>
              </a:lnSpc>
            </a:pPr>
            <a:r>
              <a:rPr lang="en-US" sz="4200" dirty="0"/>
              <a:t>Database curation</a:t>
            </a:r>
          </a:p>
        </p:txBody>
      </p:sp>
      <p:pic>
        <p:nvPicPr>
          <p:cNvPr id="4" name="Picture 3">
            <a:extLst>
              <a:ext uri="{FF2B5EF4-FFF2-40B4-BE49-F238E27FC236}">
                <a16:creationId xmlns:a16="http://schemas.microsoft.com/office/drawing/2014/main" id="{EECF6B89-96A4-CA73-F211-7D6E819A3089}"/>
              </a:ext>
            </a:extLst>
          </p:cNvPr>
          <p:cNvPicPr>
            <a:picLocks noChangeAspect="1"/>
          </p:cNvPicPr>
          <p:nvPr/>
        </p:nvPicPr>
        <p:blipFill>
          <a:blip r:embed="rId3"/>
          <a:srcRect r="17222"/>
          <a:stretch>
            <a:fillRect/>
          </a:stretch>
        </p:blipFill>
        <p:spPr>
          <a:xfrm>
            <a:off x="6515100" y="10"/>
            <a:ext cx="5676900" cy="6857990"/>
          </a:xfrm>
          <a:prstGeom prst="rect">
            <a:avLst/>
          </a:prstGeom>
        </p:spPr>
      </p:pic>
      <p:sp>
        <p:nvSpPr>
          <p:cNvPr id="5" name="TextBox 4">
            <a:extLst>
              <a:ext uri="{FF2B5EF4-FFF2-40B4-BE49-F238E27FC236}">
                <a16:creationId xmlns:a16="http://schemas.microsoft.com/office/drawing/2014/main" id="{52646BFA-B470-1769-76A3-AE76BB6CFC22}"/>
              </a:ext>
            </a:extLst>
          </p:cNvPr>
          <p:cNvSpPr txBox="1"/>
          <p:nvPr/>
        </p:nvSpPr>
        <p:spPr>
          <a:xfrm>
            <a:off x="6876650" y="1609702"/>
            <a:ext cx="5233941" cy="1754326"/>
          </a:xfrm>
          <a:prstGeom prst="rect">
            <a:avLst/>
          </a:prstGeom>
          <a:noFill/>
        </p:spPr>
        <p:txBody>
          <a:bodyPr wrap="square" rtlCol="0">
            <a:spAutoFit/>
          </a:bodyPr>
          <a:lstStyle/>
          <a:p>
            <a:r>
              <a:rPr lang="en-US" dirty="0">
                <a:solidFill>
                  <a:schemeClr val="bg1"/>
                </a:solidFill>
              </a:rPr>
              <a:t>Query search NCBI and UNIPROT for ‘</a:t>
            </a:r>
            <a:r>
              <a:rPr lang="en-US" dirty="0" err="1">
                <a:solidFill>
                  <a:schemeClr val="bg1"/>
                </a:solidFill>
              </a:rPr>
              <a:t>uvsx</a:t>
            </a:r>
            <a:r>
              <a:rPr lang="en-US" dirty="0">
                <a:solidFill>
                  <a:schemeClr val="bg1"/>
                </a:solidFill>
              </a:rPr>
              <a:t>’ or ‘</a:t>
            </a:r>
            <a:r>
              <a:rPr lang="en-US" dirty="0" err="1">
                <a:solidFill>
                  <a:schemeClr val="bg1"/>
                </a:solidFill>
              </a:rPr>
              <a:t>recA</a:t>
            </a:r>
            <a:r>
              <a:rPr lang="en-US" dirty="0">
                <a:solidFill>
                  <a:schemeClr val="bg1"/>
                </a:solidFill>
              </a:rPr>
              <a:t>’ or ‘recombinase’ and filtering only results from viruses.</a:t>
            </a:r>
          </a:p>
          <a:p>
            <a:endParaRPr lang="en-US" dirty="0">
              <a:solidFill>
                <a:schemeClr val="bg1"/>
              </a:solidFill>
            </a:endParaRPr>
          </a:p>
          <a:p>
            <a:r>
              <a:rPr lang="en-US" dirty="0">
                <a:solidFill>
                  <a:schemeClr val="bg1"/>
                </a:solidFill>
              </a:rPr>
              <a:t>Stringent layers to refine potential candidates.</a:t>
            </a:r>
          </a:p>
          <a:p>
            <a:endParaRPr lang="en-US" dirty="0">
              <a:solidFill>
                <a:schemeClr val="bg1"/>
              </a:solidFill>
            </a:endParaRPr>
          </a:p>
        </p:txBody>
      </p:sp>
      <p:sp>
        <p:nvSpPr>
          <p:cNvPr id="6" name="Triangle 5">
            <a:extLst>
              <a:ext uri="{FF2B5EF4-FFF2-40B4-BE49-F238E27FC236}">
                <a16:creationId xmlns:a16="http://schemas.microsoft.com/office/drawing/2014/main" id="{5BD654E6-B128-E980-8350-6464560A22A8}"/>
              </a:ext>
            </a:extLst>
          </p:cNvPr>
          <p:cNvSpPr/>
          <p:nvPr/>
        </p:nvSpPr>
        <p:spPr>
          <a:xfrm rot="10800000">
            <a:off x="972185" y="1666431"/>
            <a:ext cx="4689599" cy="4361096"/>
          </a:xfrm>
          <a:prstGeom prst="triangle">
            <a:avLst/>
          </a:prstGeom>
          <a:solidFill>
            <a:srgbClr val="00B0F0"/>
          </a:solidFill>
          <a:ln w="12700" cap="flat" cmpd="sng" algn="ctr">
            <a:solidFill>
              <a:schemeClr val="accent1">
                <a:shade val="50000"/>
              </a:schemeClr>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8" name="Straight Connector 7">
            <a:extLst>
              <a:ext uri="{FF2B5EF4-FFF2-40B4-BE49-F238E27FC236}">
                <a16:creationId xmlns:a16="http://schemas.microsoft.com/office/drawing/2014/main" id="{E59BA0DF-8B2B-28C9-B237-76D954410BF4}"/>
              </a:ext>
            </a:extLst>
          </p:cNvPr>
          <p:cNvCxnSpPr>
            <a:cxnSpLocks/>
          </p:cNvCxnSpPr>
          <p:nvPr/>
        </p:nvCxnSpPr>
        <p:spPr>
          <a:xfrm>
            <a:off x="1393371" y="2383971"/>
            <a:ext cx="3864429" cy="0"/>
          </a:xfrm>
          <a:prstGeom prst="line">
            <a:avLst/>
          </a:prstGeom>
        </p:spPr>
        <p:style>
          <a:lnRef idx="3">
            <a:schemeClr val="dk1"/>
          </a:lnRef>
          <a:fillRef idx="0">
            <a:schemeClr val="dk1"/>
          </a:fillRef>
          <a:effectRef idx="2">
            <a:schemeClr val="dk1"/>
          </a:effectRef>
          <a:fontRef idx="minor">
            <a:schemeClr val="tx1"/>
          </a:fontRef>
        </p:style>
      </p:cxnSp>
      <p:cxnSp>
        <p:nvCxnSpPr>
          <p:cNvPr id="9" name="Straight Connector 8">
            <a:extLst>
              <a:ext uri="{FF2B5EF4-FFF2-40B4-BE49-F238E27FC236}">
                <a16:creationId xmlns:a16="http://schemas.microsoft.com/office/drawing/2014/main" id="{94975D7F-BF84-D9E3-48F4-5BF7AB0B26FD}"/>
              </a:ext>
            </a:extLst>
          </p:cNvPr>
          <p:cNvCxnSpPr>
            <a:cxnSpLocks/>
          </p:cNvCxnSpPr>
          <p:nvPr/>
        </p:nvCxnSpPr>
        <p:spPr>
          <a:xfrm>
            <a:off x="1779815" y="3105834"/>
            <a:ext cx="3118756" cy="0"/>
          </a:xfrm>
          <a:prstGeom prst="line">
            <a:avLst/>
          </a:prstGeom>
        </p:spPr>
        <p:style>
          <a:lnRef idx="3">
            <a:schemeClr val="dk1"/>
          </a:lnRef>
          <a:fillRef idx="0">
            <a:schemeClr val="dk1"/>
          </a:fillRef>
          <a:effectRef idx="2">
            <a:schemeClr val="dk1"/>
          </a:effectRef>
          <a:fontRef idx="minor">
            <a:schemeClr val="tx1"/>
          </a:fontRef>
        </p:style>
      </p:cxnSp>
      <p:cxnSp>
        <p:nvCxnSpPr>
          <p:cNvPr id="11" name="Straight Connector 10">
            <a:extLst>
              <a:ext uri="{FF2B5EF4-FFF2-40B4-BE49-F238E27FC236}">
                <a16:creationId xmlns:a16="http://schemas.microsoft.com/office/drawing/2014/main" id="{4565F4D7-67E5-C049-F613-227F292B55A6}"/>
              </a:ext>
            </a:extLst>
          </p:cNvPr>
          <p:cNvCxnSpPr>
            <a:cxnSpLocks/>
            <a:endCxn id="6" idx="1"/>
          </p:cNvCxnSpPr>
          <p:nvPr/>
        </p:nvCxnSpPr>
        <p:spPr>
          <a:xfrm flipV="1">
            <a:off x="2156584" y="3846979"/>
            <a:ext cx="2332800" cy="3405"/>
          </a:xfrm>
          <a:prstGeom prst="line">
            <a:avLst/>
          </a:prstGeom>
        </p:spPr>
        <p:style>
          <a:lnRef idx="3">
            <a:schemeClr val="dk1"/>
          </a:lnRef>
          <a:fillRef idx="0">
            <a:schemeClr val="dk1"/>
          </a:fillRef>
          <a:effectRef idx="2">
            <a:schemeClr val="dk1"/>
          </a:effectRef>
          <a:fontRef idx="minor">
            <a:schemeClr val="tx1"/>
          </a:fontRef>
        </p:style>
      </p:cxnSp>
      <p:cxnSp>
        <p:nvCxnSpPr>
          <p:cNvPr id="13" name="Straight Connector 12">
            <a:extLst>
              <a:ext uri="{FF2B5EF4-FFF2-40B4-BE49-F238E27FC236}">
                <a16:creationId xmlns:a16="http://schemas.microsoft.com/office/drawing/2014/main" id="{2B48046F-890B-DDCE-9C9B-079D55BEDB83}"/>
              </a:ext>
            </a:extLst>
          </p:cNvPr>
          <p:cNvCxnSpPr>
            <a:cxnSpLocks/>
          </p:cNvCxnSpPr>
          <p:nvPr/>
        </p:nvCxnSpPr>
        <p:spPr>
          <a:xfrm>
            <a:off x="2558277" y="4614641"/>
            <a:ext cx="1491209" cy="0"/>
          </a:xfrm>
          <a:prstGeom prst="line">
            <a:avLst/>
          </a:prstGeom>
        </p:spPr>
        <p:style>
          <a:lnRef idx="3">
            <a:schemeClr val="dk1"/>
          </a:lnRef>
          <a:fillRef idx="0">
            <a:schemeClr val="dk1"/>
          </a:fillRef>
          <a:effectRef idx="2">
            <a:schemeClr val="dk1"/>
          </a:effectRef>
          <a:fontRef idx="minor">
            <a:schemeClr val="tx1"/>
          </a:fontRef>
        </p:style>
      </p:cxnSp>
      <p:sp>
        <p:nvSpPr>
          <p:cNvPr id="19" name="TextBox 18">
            <a:extLst>
              <a:ext uri="{FF2B5EF4-FFF2-40B4-BE49-F238E27FC236}">
                <a16:creationId xmlns:a16="http://schemas.microsoft.com/office/drawing/2014/main" id="{68555D4B-D1B0-EE6F-1280-D2CF45C15099}"/>
              </a:ext>
            </a:extLst>
          </p:cNvPr>
          <p:cNvSpPr txBox="1"/>
          <p:nvPr/>
        </p:nvSpPr>
        <p:spPr>
          <a:xfrm>
            <a:off x="2808513" y="3280577"/>
            <a:ext cx="1034143" cy="369332"/>
          </a:xfrm>
          <a:prstGeom prst="rect">
            <a:avLst/>
          </a:prstGeom>
          <a:noFill/>
        </p:spPr>
        <p:txBody>
          <a:bodyPr wrap="square" rtlCol="0">
            <a:spAutoFit/>
          </a:bodyPr>
          <a:lstStyle/>
          <a:p>
            <a:r>
              <a:rPr lang="en-US" dirty="0"/>
              <a:t>Filtering</a:t>
            </a:r>
          </a:p>
        </p:txBody>
      </p:sp>
      <p:sp>
        <p:nvSpPr>
          <p:cNvPr id="20" name="TextBox 19">
            <a:extLst>
              <a:ext uri="{FF2B5EF4-FFF2-40B4-BE49-F238E27FC236}">
                <a16:creationId xmlns:a16="http://schemas.microsoft.com/office/drawing/2014/main" id="{677AD41C-4465-9839-B79A-4EC17E95AC70}"/>
              </a:ext>
            </a:extLst>
          </p:cNvPr>
          <p:cNvSpPr txBox="1"/>
          <p:nvPr/>
        </p:nvSpPr>
        <p:spPr>
          <a:xfrm>
            <a:off x="2555674" y="2546313"/>
            <a:ext cx="1612285" cy="369332"/>
          </a:xfrm>
          <a:prstGeom prst="rect">
            <a:avLst/>
          </a:prstGeom>
          <a:noFill/>
        </p:spPr>
        <p:txBody>
          <a:bodyPr wrap="square" rtlCol="0">
            <a:spAutoFit/>
          </a:bodyPr>
          <a:lstStyle/>
          <a:p>
            <a:r>
              <a:rPr lang="en-US" dirty="0"/>
              <a:t>Deduplication</a:t>
            </a:r>
          </a:p>
        </p:txBody>
      </p:sp>
      <p:sp>
        <p:nvSpPr>
          <p:cNvPr id="22" name="TextBox 21">
            <a:extLst>
              <a:ext uri="{FF2B5EF4-FFF2-40B4-BE49-F238E27FC236}">
                <a16:creationId xmlns:a16="http://schemas.microsoft.com/office/drawing/2014/main" id="{A1C4346A-DB23-E25D-E85C-E67B437AA0C0}"/>
              </a:ext>
            </a:extLst>
          </p:cNvPr>
          <p:cNvSpPr txBox="1"/>
          <p:nvPr/>
        </p:nvSpPr>
        <p:spPr>
          <a:xfrm>
            <a:off x="2558277" y="1796909"/>
            <a:ext cx="1603358" cy="369332"/>
          </a:xfrm>
          <a:prstGeom prst="rect">
            <a:avLst/>
          </a:prstGeom>
          <a:noFill/>
        </p:spPr>
        <p:txBody>
          <a:bodyPr wrap="square" rtlCol="0">
            <a:spAutoFit/>
          </a:bodyPr>
          <a:lstStyle/>
          <a:p>
            <a:r>
              <a:rPr lang="en-US" dirty="0"/>
              <a:t>Query Search</a:t>
            </a:r>
          </a:p>
        </p:txBody>
      </p:sp>
      <p:sp>
        <p:nvSpPr>
          <p:cNvPr id="26" name="TextBox 25">
            <a:extLst>
              <a:ext uri="{FF2B5EF4-FFF2-40B4-BE49-F238E27FC236}">
                <a16:creationId xmlns:a16="http://schemas.microsoft.com/office/drawing/2014/main" id="{5EC39F8E-2660-8036-C884-13BB7BE2635E}"/>
              </a:ext>
            </a:extLst>
          </p:cNvPr>
          <p:cNvSpPr txBox="1"/>
          <p:nvPr/>
        </p:nvSpPr>
        <p:spPr>
          <a:xfrm>
            <a:off x="2786842" y="4029234"/>
            <a:ext cx="1262644" cy="369332"/>
          </a:xfrm>
          <a:prstGeom prst="rect">
            <a:avLst/>
          </a:prstGeom>
          <a:noFill/>
        </p:spPr>
        <p:txBody>
          <a:bodyPr wrap="square" rtlCol="0">
            <a:spAutoFit/>
          </a:bodyPr>
          <a:lstStyle/>
          <a:p>
            <a:r>
              <a:rPr lang="en-US" dirty="0"/>
              <a:t>HMMs</a:t>
            </a:r>
          </a:p>
        </p:txBody>
      </p:sp>
      <p:sp>
        <p:nvSpPr>
          <p:cNvPr id="27" name="TextBox 26">
            <a:extLst>
              <a:ext uri="{FF2B5EF4-FFF2-40B4-BE49-F238E27FC236}">
                <a16:creationId xmlns:a16="http://schemas.microsoft.com/office/drawing/2014/main" id="{4D120140-A881-16C2-8406-A9511945F960}"/>
              </a:ext>
            </a:extLst>
          </p:cNvPr>
          <p:cNvSpPr txBox="1"/>
          <p:nvPr/>
        </p:nvSpPr>
        <p:spPr>
          <a:xfrm>
            <a:off x="2898991" y="4822237"/>
            <a:ext cx="1262644" cy="369332"/>
          </a:xfrm>
          <a:prstGeom prst="rect">
            <a:avLst/>
          </a:prstGeom>
          <a:noFill/>
        </p:spPr>
        <p:txBody>
          <a:bodyPr wrap="square" rtlCol="0">
            <a:spAutoFit/>
          </a:bodyPr>
          <a:lstStyle/>
          <a:p>
            <a:r>
              <a:rPr lang="en-US" dirty="0"/>
              <a:t>Motif</a:t>
            </a:r>
          </a:p>
        </p:txBody>
      </p:sp>
      <p:sp>
        <p:nvSpPr>
          <p:cNvPr id="28" name="TextBox 27">
            <a:extLst>
              <a:ext uri="{FF2B5EF4-FFF2-40B4-BE49-F238E27FC236}">
                <a16:creationId xmlns:a16="http://schemas.microsoft.com/office/drawing/2014/main" id="{0100B983-453A-A1DF-1CD3-985171490C7E}"/>
              </a:ext>
            </a:extLst>
          </p:cNvPr>
          <p:cNvSpPr txBox="1"/>
          <p:nvPr/>
        </p:nvSpPr>
        <p:spPr>
          <a:xfrm>
            <a:off x="5536598" y="1840535"/>
            <a:ext cx="978502" cy="369332"/>
          </a:xfrm>
          <a:prstGeom prst="rect">
            <a:avLst/>
          </a:prstGeom>
          <a:noFill/>
        </p:spPr>
        <p:txBody>
          <a:bodyPr wrap="square" rtlCol="0">
            <a:spAutoFit/>
          </a:bodyPr>
          <a:lstStyle/>
          <a:p>
            <a:r>
              <a:rPr lang="en-US" dirty="0"/>
              <a:t>~25,000</a:t>
            </a:r>
          </a:p>
        </p:txBody>
      </p:sp>
      <p:sp>
        <p:nvSpPr>
          <p:cNvPr id="29" name="TextBox 28">
            <a:extLst>
              <a:ext uri="{FF2B5EF4-FFF2-40B4-BE49-F238E27FC236}">
                <a16:creationId xmlns:a16="http://schemas.microsoft.com/office/drawing/2014/main" id="{CC5AA330-9A8D-27D5-0959-E2AAD4832628}"/>
              </a:ext>
            </a:extLst>
          </p:cNvPr>
          <p:cNvSpPr txBox="1"/>
          <p:nvPr/>
        </p:nvSpPr>
        <p:spPr>
          <a:xfrm>
            <a:off x="5486800" y="2545874"/>
            <a:ext cx="1001486" cy="369332"/>
          </a:xfrm>
          <a:prstGeom prst="rect">
            <a:avLst/>
          </a:prstGeom>
          <a:noFill/>
        </p:spPr>
        <p:txBody>
          <a:bodyPr wrap="square" rtlCol="0">
            <a:spAutoFit/>
          </a:bodyPr>
          <a:lstStyle/>
          <a:p>
            <a:r>
              <a:rPr lang="en-US" dirty="0"/>
              <a:t>20,550</a:t>
            </a:r>
          </a:p>
        </p:txBody>
      </p:sp>
      <p:sp>
        <p:nvSpPr>
          <p:cNvPr id="30" name="TextBox 29">
            <a:extLst>
              <a:ext uri="{FF2B5EF4-FFF2-40B4-BE49-F238E27FC236}">
                <a16:creationId xmlns:a16="http://schemas.microsoft.com/office/drawing/2014/main" id="{E9FAA5BE-5CEA-6473-4BF4-99242F699D26}"/>
              </a:ext>
            </a:extLst>
          </p:cNvPr>
          <p:cNvSpPr txBox="1"/>
          <p:nvPr/>
        </p:nvSpPr>
        <p:spPr>
          <a:xfrm>
            <a:off x="5475514" y="3302221"/>
            <a:ext cx="1240971" cy="369332"/>
          </a:xfrm>
          <a:prstGeom prst="rect">
            <a:avLst/>
          </a:prstGeom>
          <a:noFill/>
        </p:spPr>
        <p:txBody>
          <a:bodyPr wrap="square" rtlCol="0">
            <a:spAutoFit/>
          </a:bodyPr>
          <a:lstStyle/>
          <a:p>
            <a:r>
              <a:rPr lang="en-US" dirty="0"/>
              <a:t>5,159</a:t>
            </a:r>
          </a:p>
        </p:txBody>
      </p:sp>
      <p:sp>
        <p:nvSpPr>
          <p:cNvPr id="31" name="TextBox 30">
            <a:extLst>
              <a:ext uri="{FF2B5EF4-FFF2-40B4-BE49-F238E27FC236}">
                <a16:creationId xmlns:a16="http://schemas.microsoft.com/office/drawing/2014/main" id="{F80A12DB-203A-9C7D-B454-8E1662EE4E5F}"/>
              </a:ext>
            </a:extLst>
          </p:cNvPr>
          <p:cNvSpPr txBox="1"/>
          <p:nvPr/>
        </p:nvSpPr>
        <p:spPr>
          <a:xfrm>
            <a:off x="5522579" y="4060088"/>
            <a:ext cx="652743" cy="369332"/>
          </a:xfrm>
          <a:prstGeom prst="rect">
            <a:avLst/>
          </a:prstGeom>
          <a:noFill/>
        </p:spPr>
        <p:txBody>
          <a:bodyPr wrap="none" rtlCol="0">
            <a:spAutoFit/>
          </a:bodyPr>
          <a:lstStyle/>
          <a:p>
            <a:r>
              <a:rPr lang="en-US" dirty="0"/>
              <a:t>2501</a:t>
            </a:r>
          </a:p>
        </p:txBody>
      </p:sp>
      <p:sp>
        <p:nvSpPr>
          <p:cNvPr id="32" name="TextBox 31">
            <a:extLst>
              <a:ext uri="{FF2B5EF4-FFF2-40B4-BE49-F238E27FC236}">
                <a16:creationId xmlns:a16="http://schemas.microsoft.com/office/drawing/2014/main" id="{4906207B-1975-AE28-9A1C-9B7EC5FE4BAD}"/>
              </a:ext>
            </a:extLst>
          </p:cNvPr>
          <p:cNvSpPr txBox="1"/>
          <p:nvPr/>
        </p:nvSpPr>
        <p:spPr>
          <a:xfrm>
            <a:off x="5530549" y="4937877"/>
            <a:ext cx="790027" cy="369332"/>
          </a:xfrm>
          <a:prstGeom prst="rect">
            <a:avLst/>
          </a:prstGeom>
          <a:noFill/>
        </p:spPr>
        <p:txBody>
          <a:bodyPr wrap="square" rtlCol="0">
            <a:spAutoFit/>
          </a:bodyPr>
          <a:lstStyle/>
          <a:p>
            <a:r>
              <a:rPr lang="en-US" dirty="0"/>
              <a:t>1498</a:t>
            </a:r>
          </a:p>
        </p:txBody>
      </p:sp>
    </p:spTree>
    <p:extLst>
      <p:ext uri="{BB962C8B-B14F-4D97-AF65-F5344CB8AC3E}">
        <p14:creationId xmlns:p14="http://schemas.microsoft.com/office/powerpoint/2010/main" val="7879503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6D276F-3382-5E68-66E3-88ED708834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2FF74A-BBD9-C8FE-08AF-3FA1A2DAE5AE}"/>
              </a:ext>
            </a:extLst>
          </p:cNvPr>
          <p:cNvSpPr>
            <a:spLocks noGrp="1"/>
          </p:cNvSpPr>
          <p:nvPr>
            <p:ph type="ctrTitle"/>
          </p:nvPr>
        </p:nvSpPr>
        <p:spPr>
          <a:xfrm>
            <a:off x="703400" y="871759"/>
            <a:ext cx="5227171" cy="794672"/>
          </a:xfrm>
        </p:spPr>
        <p:txBody>
          <a:bodyPr>
            <a:normAutofit/>
          </a:bodyPr>
          <a:lstStyle/>
          <a:p>
            <a:pPr>
              <a:lnSpc>
                <a:spcPct val="90000"/>
              </a:lnSpc>
            </a:pPr>
            <a:r>
              <a:rPr lang="en-US" sz="4200" dirty="0"/>
              <a:t>Database curation</a:t>
            </a:r>
          </a:p>
        </p:txBody>
      </p:sp>
      <p:pic>
        <p:nvPicPr>
          <p:cNvPr id="4" name="Picture 3">
            <a:extLst>
              <a:ext uri="{FF2B5EF4-FFF2-40B4-BE49-F238E27FC236}">
                <a16:creationId xmlns:a16="http://schemas.microsoft.com/office/drawing/2014/main" id="{C489FD9C-EF2B-37A3-D126-8E364437339C}"/>
              </a:ext>
            </a:extLst>
          </p:cNvPr>
          <p:cNvPicPr>
            <a:picLocks noChangeAspect="1"/>
          </p:cNvPicPr>
          <p:nvPr/>
        </p:nvPicPr>
        <p:blipFill>
          <a:blip r:embed="rId3"/>
          <a:srcRect r="17222"/>
          <a:stretch>
            <a:fillRect/>
          </a:stretch>
        </p:blipFill>
        <p:spPr>
          <a:xfrm>
            <a:off x="6515100" y="10"/>
            <a:ext cx="5676900" cy="6857990"/>
          </a:xfrm>
          <a:prstGeom prst="rect">
            <a:avLst/>
          </a:prstGeom>
        </p:spPr>
      </p:pic>
      <p:sp>
        <p:nvSpPr>
          <p:cNvPr id="6" name="Triangle 5">
            <a:extLst>
              <a:ext uri="{FF2B5EF4-FFF2-40B4-BE49-F238E27FC236}">
                <a16:creationId xmlns:a16="http://schemas.microsoft.com/office/drawing/2014/main" id="{9255667C-C534-59D9-99B9-36497032C557}"/>
              </a:ext>
            </a:extLst>
          </p:cNvPr>
          <p:cNvSpPr/>
          <p:nvPr/>
        </p:nvSpPr>
        <p:spPr>
          <a:xfrm rot="10800000">
            <a:off x="972185" y="1666431"/>
            <a:ext cx="4689599" cy="4361096"/>
          </a:xfrm>
          <a:prstGeom prst="triangle">
            <a:avLst/>
          </a:prstGeom>
          <a:solidFill>
            <a:srgbClr val="00B0F0"/>
          </a:solidFill>
          <a:ln w="12700" cap="flat" cmpd="sng" algn="ctr">
            <a:solidFill>
              <a:schemeClr val="accent1">
                <a:shade val="50000"/>
              </a:schemeClr>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8" name="Straight Connector 7">
            <a:extLst>
              <a:ext uri="{FF2B5EF4-FFF2-40B4-BE49-F238E27FC236}">
                <a16:creationId xmlns:a16="http://schemas.microsoft.com/office/drawing/2014/main" id="{FEC4CC13-9A81-A1F5-32CF-FA926C8C435A}"/>
              </a:ext>
            </a:extLst>
          </p:cNvPr>
          <p:cNvCxnSpPr>
            <a:cxnSpLocks/>
          </p:cNvCxnSpPr>
          <p:nvPr/>
        </p:nvCxnSpPr>
        <p:spPr>
          <a:xfrm>
            <a:off x="1393371" y="2383971"/>
            <a:ext cx="3864429" cy="0"/>
          </a:xfrm>
          <a:prstGeom prst="line">
            <a:avLst/>
          </a:prstGeom>
        </p:spPr>
        <p:style>
          <a:lnRef idx="3">
            <a:schemeClr val="dk1"/>
          </a:lnRef>
          <a:fillRef idx="0">
            <a:schemeClr val="dk1"/>
          </a:fillRef>
          <a:effectRef idx="2">
            <a:schemeClr val="dk1"/>
          </a:effectRef>
          <a:fontRef idx="minor">
            <a:schemeClr val="tx1"/>
          </a:fontRef>
        </p:style>
      </p:cxnSp>
      <p:cxnSp>
        <p:nvCxnSpPr>
          <p:cNvPr id="9" name="Straight Connector 8">
            <a:extLst>
              <a:ext uri="{FF2B5EF4-FFF2-40B4-BE49-F238E27FC236}">
                <a16:creationId xmlns:a16="http://schemas.microsoft.com/office/drawing/2014/main" id="{4DBAB8EF-1DE1-930C-130A-4B9F522B0408}"/>
              </a:ext>
            </a:extLst>
          </p:cNvPr>
          <p:cNvCxnSpPr>
            <a:cxnSpLocks/>
          </p:cNvCxnSpPr>
          <p:nvPr/>
        </p:nvCxnSpPr>
        <p:spPr>
          <a:xfrm>
            <a:off x="1779815" y="3105834"/>
            <a:ext cx="3118756" cy="0"/>
          </a:xfrm>
          <a:prstGeom prst="line">
            <a:avLst/>
          </a:prstGeom>
        </p:spPr>
        <p:style>
          <a:lnRef idx="3">
            <a:schemeClr val="dk1"/>
          </a:lnRef>
          <a:fillRef idx="0">
            <a:schemeClr val="dk1"/>
          </a:fillRef>
          <a:effectRef idx="2">
            <a:schemeClr val="dk1"/>
          </a:effectRef>
          <a:fontRef idx="minor">
            <a:schemeClr val="tx1"/>
          </a:fontRef>
        </p:style>
      </p:cxnSp>
      <p:cxnSp>
        <p:nvCxnSpPr>
          <p:cNvPr id="11" name="Straight Connector 10">
            <a:extLst>
              <a:ext uri="{FF2B5EF4-FFF2-40B4-BE49-F238E27FC236}">
                <a16:creationId xmlns:a16="http://schemas.microsoft.com/office/drawing/2014/main" id="{ACC2E5FF-2655-E0E6-9EAE-68226893E9AE}"/>
              </a:ext>
            </a:extLst>
          </p:cNvPr>
          <p:cNvCxnSpPr>
            <a:cxnSpLocks/>
            <a:endCxn id="6" idx="1"/>
          </p:cNvCxnSpPr>
          <p:nvPr/>
        </p:nvCxnSpPr>
        <p:spPr>
          <a:xfrm flipV="1">
            <a:off x="2156584" y="3846979"/>
            <a:ext cx="2332800" cy="3405"/>
          </a:xfrm>
          <a:prstGeom prst="line">
            <a:avLst/>
          </a:prstGeom>
        </p:spPr>
        <p:style>
          <a:lnRef idx="3">
            <a:schemeClr val="dk1"/>
          </a:lnRef>
          <a:fillRef idx="0">
            <a:schemeClr val="dk1"/>
          </a:fillRef>
          <a:effectRef idx="2">
            <a:schemeClr val="dk1"/>
          </a:effectRef>
          <a:fontRef idx="minor">
            <a:schemeClr val="tx1"/>
          </a:fontRef>
        </p:style>
      </p:cxnSp>
      <p:cxnSp>
        <p:nvCxnSpPr>
          <p:cNvPr id="13" name="Straight Connector 12">
            <a:extLst>
              <a:ext uri="{FF2B5EF4-FFF2-40B4-BE49-F238E27FC236}">
                <a16:creationId xmlns:a16="http://schemas.microsoft.com/office/drawing/2014/main" id="{DF1627E5-21A9-AE8A-BB37-10A36853F6FF}"/>
              </a:ext>
            </a:extLst>
          </p:cNvPr>
          <p:cNvCxnSpPr>
            <a:cxnSpLocks/>
          </p:cNvCxnSpPr>
          <p:nvPr/>
        </p:nvCxnSpPr>
        <p:spPr>
          <a:xfrm>
            <a:off x="2558277" y="4614641"/>
            <a:ext cx="1491209" cy="0"/>
          </a:xfrm>
          <a:prstGeom prst="line">
            <a:avLst/>
          </a:prstGeom>
        </p:spPr>
        <p:style>
          <a:lnRef idx="3">
            <a:schemeClr val="dk1"/>
          </a:lnRef>
          <a:fillRef idx="0">
            <a:schemeClr val="dk1"/>
          </a:fillRef>
          <a:effectRef idx="2">
            <a:schemeClr val="dk1"/>
          </a:effectRef>
          <a:fontRef idx="minor">
            <a:schemeClr val="tx1"/>
          </a:fontRef>
        </p:style>
      </p:cxnSp>
      <p:sp>
        <p:nvSpPr>
          <p:cNvPr id="19" name="TextBox 18">
            <a:extLst>
              <a:ext uri="{FF2B5EF4-FFF2-40B4-BE49-F238E27FC236}">
                <a16:creationId xmlns:a16="http://schemas.microsoft.com/office/drawing/2014/main" id="{227400D8-7469-A5F0-B625-9318B6280C98}"/>
              </a:ext>
            </a:extLst>
          </p:cNvPr>
          <p:cNvSpPr txBox="1"/>
          <p:nvPr/>
        </p:nvSpPr>
        <p:spPr>
          <a:xfrm>
            <a:off x="2808513" y="3280577"/>
            <a:ext cx="1034143" cy="369332"/>
          </a:xfrm>
          <a:prstGeom prst="rect">
            <a:avLst/>
          </a:prstGeom>
          <a:noFill/>
        </p:spPr>
        <p:txBody>
          <a:bodyPr wrap="square" rtlCol="0">
            <a:spAutoFit/>
          </a:bodyPr>
          <a:lstStyle/>
          <a:p>
            <a:r>
              <a:rPr lang="en-US" dirty="0"/>
              <a:t>Filtering</a:t>
            </a:r>
          </a:p>
        </p:txBody>
      </p:sp>
      <p:sp>
        <p:nvSpPr>
          <p:cNvPr id="20" name="TextBox 19">
            <a:extLst>
              <a:ext uri="{FF2B5EF4-FFF2-40B4-BE49-F238E27FC236}">
                <a16:creationId xmlns:a16="http://schemas.microsoft.com/office/drawing/2014/main" id="{D05E9E9F-036D-940A-AE91-51497F612870}"/>
              </a:ext>
            </a:extLst>
          </p:cNvPr>
          <p:cNvSpPr txBox="1"/>
          <p:nvPr/>
        </p:nvSpPr>
        <p:spPr>
          <a:xfrm>
            <a:off x="2548896" y="2545874"/>
            <a:ext cx="1632431" cy="369332"/>
          </a:xfrm>
          <a:prstGeom prst="rect">
            <a:avLst/>
          </a:prstGeom>
          <a:noFill/>
        </p:spPr>
        <p:txBody>
          <a:bodyPr wrap="square" rtlCol="0">
            <a:spAutoFit/>
          </a:bodyPr>
          <a:lstStyle/>
          <a:p>
            <a:r>
              <a:rPr lang="en-US" dirty="0"/>
              <a:t>Deduplication</a:t>
            </a:r>
          </a:p>
        </p:txBody>
      </p:sp>
      <p:sp>
        <p:nvSpPr>
          <p:cNvPr id="22" name="TextBox 21">
            <a:extLst>
              <a:ext uri="{FF2B5EF4-FFF2-40B4-BE49-F238E27FC236}">
                <a16:creationId xmlns:a16="http://schemas.microsoft.com/office/drawing/2014/main" id="{CDA69A3F-1A5C-D77B-0DB4-0B473A13F406}"/>
              </a:ext>
            </a:extLst>
          </p:cNvPr>
          <p:cNvSpPr txBox="1"/>
          <p:nvPr/>
        </p:nvSpPr>
        <p:spPr>
          <a:xfrm>
            <a:off x="2558277" y="1796909"/>
            <a:ext cx="1603358" cy="369332"/>
          </a:xfrm>
          <a:prstGeom prst="rect">
            <a:avLst/>
          </a:prstGeom>
          <a:noFill/>
        </p:spPr>
        <p:txBody>
          <a:bodyPr wrap="square" rtlCol="0">
            <a:spAutoFit/>
          </a:bodyPr>
          <a:lstStyle/>
          <a:p>
            <a:r>
              <a:rPr lang="en-US" dirty="0"/>
              <a:t>Query Search</a:t>
            </a:r>
          </a:p>
        </p:txBody>
      </p:sp>
      <p:sp>
        <p:nvSpPr>
          <p:cNvPr id="26" name="TextBox 25">
            <a:extLst>
              <a:ext uri="{FF2B5EF4-FFF2-40B4-BE49-F238E27FC236}">
                <a16:creationId xmlns:a16="http://schemas.microsoft.com/office/drawing/2014/main" id="{CDD9A491-F998-7DBB-9C67-40EFDA51B332}"/>
              </a:ext>
            </a:extLst>
          </p:cNvPr>
          <p:cNvSpPr txBox="1"/>
          <p:nvPr/>
        </p:nvSpPr>
        <p:spPr>
          <a:xfrm>
            <a:off x="2786842" y="4029234"/>
            <a:ext cx="1262644" cy="369332"/>
          </a:xfrm>
          <a:prstGeom prst="rect">
            <a:avLst/>
          </a:prstGeom>
          <a:noFill/>
        </p:spPr>
        <p:txBody>
          <a:bodyPr wrap="square" rtlCol="0">
            <a:spAutoFit/>
          </a:bodyPr>
          <a:lstStyle/>
          <a:p>
            <a:r>
              <a:rPr lang="en-US" dirty="0"/>
              <a:t>HMMs</a:t>
            </a:r>
          </a:p>
        </p:txBody>
      </p:sp>
      <p:sp>
        <p:nvSpPr>
          <p:cNvPr id="27" name="TextBox 26">
            <a:extLst>
              <a:ext uri="{FF2B5EF4-FFF2-40B4-BE49-F238E27FC236}">
                <a16:creationId xmlns:a16="http://schemas.microsoft.com/office/drawing/2014/main" id="{4F3F8F6F-1BAF-B66E-2D55-AA43DB309D24}"/>
              </a:ext>
            </a:extLst>
          </p:cNvPr>
          <p:cNvSpPr txBox="1"/>
          <p:nvPr/>
        </p:nvSpPr>
        <p:spPr>
          <a:xfrm>
            <a:off x="2898991" y="4822237"/>
            <a:ext cx="1262644" cy="369332"/>
          </a:xfrm>
          <a:prstGeom prst="rect">
            <a:avLst/>
          </a:prstGeom>
          <a:noFill/>
        </p:spPr>
        <p:txBody>
          <a:bodyPr wrap="square" rtlCol="0">
            <a:spAutoFit/>
          </a:bodyPr>
          <a:lstStyle/>
          <a:p>
            <a:r>
              <a:rPr lang="en-US" dirty="0"/>
              <a:t>Motif</a:t>
            </a:r>
          </a:p>
        </p:txBody>
      </p:sp>
      <p:sp>
        <p:nvSpPr>
          <p:cNvPr id="28" name="TextBox 27">
            <a:extLst>
              <a:ext uri="{FF2B5EF4-FFF2-40B4-BE49-F238E27FC236}">
                <a16:creationId xmlns:a16="http://schemas.microsoft.com/office/drawing/2014/main" id="{6A500B99-B92F-17A5-A8AB-BA95292B4829}"/>
              </a:ext>
            </a:extLst>
          </p:cNvPr>
          <p:cNvSpPr txBox="1"/>
          <p:nvPr/>
        </p:nvSpPr>
        <p:spPr>
          <a:xfrm>
            <a:off x="5536598" y="1840535"/>
            <a:ext cx="978502" cy="369332"/>
          </a:xfrm>
          <a:prstGeom prst="rect">
            <a:avLst/>
          </a:prstGeom>
          <a:noFill/>
        </p:spPr>
        <p:txBody>
          <a:bodyPr wrap="square" rtlCol="0">
            <a:spAutoFit/>
          </a:bodyPr>
          <a:lstStyle/>
          <a:p>
            <a:r>
              <a:rPr lang="en-US" dirty="0"/>
              <a:t>~25,000</a:t>
            </a:r>
          </a:p>
        </p:txBody>
      </p:sp>
      <p:sp>
        <p:nvSpPr>
          <p:cNvPr id="29" name="TextBox 28">
            <a:extLst>
              <a:ext uri="{FF2B5EF4-FFF2-40B4-BE49-F238E27FC236}">
                <a16:creationId xmlns:a16="http://schemas.microsoft.com/office/drawing/2014/main" id="{643DBBD0-2B36-6049-64C0-5E427C001024}"/>
              </a:ext>
            </a:extLst>
          </p:cNvPr>
          <p:cNvSpPr txBox="1"/>
          <p:nvPr/>
        </p:nvSpPr>
        <p:spPr>
          <a:xfrm>
            <a:off x="5486800" y="2545874"/>
            <a:ext cx="1001486" cy="369332"/>
          </a:xfrm>
          <a:prstGeom prst="rect">
            <a:avLst/>
          </a:prstGeom>
          <a:noFill/>
        </p:spPr>
        <p:txBody>
          <a:bodyPr wrap="square" rtlCol="0">
            <a:spAutoFit/>
          </a:bodyPr>
          <a:lstStyle/>
          <a:p>
            <a:r>
              <a:rPr lang="en-US" dirty="0"/>
              <a:t>20,550</a:t>
            </a:r>
          </a:p>
        </p:txBody>
      </p:sp>
      <p:sp>
        <p:nvSpPr>
          <p:cNvPr id="30" name="TextBox 29">
            <a:extLst>
              <a:ext uri="{FF2B5EF4-FFF2-40B4-BE49-F238E27FC236}">
                <a16:creationId xmlns:a16="http://schemas.microsoft.com/office/drawing/2014/main" id="{1752CABE-BDBF-4855-22AE-73B3CFE320A7}"/>
              </a:ext>
            </a:extLst>
          </p:cNvPr>
          <p:cNvSpPr txBox="1"/>
          <p:nvPr/>
        </p:nvSpPr>
        <p:spPr>
          <a:xfrm>
            <a:off x="5475514" y="3302221"/>
            <a:ext cx="1240971" cy="369332"/>
          </a:xfrm>
          <a:prstGeom prst="rect">
            <a:avLst/>
          </a:prstGeom>
          <a:noFill/>
        </p:spPr>
        <p:txBody>
          <a:bodyPr wrap="square" rtlCol="0">
            <a:spAutoFit/>
          </a:bodyPr>
          <a:lstStyle/>
          <a:p>
            <a:r>
              <a:rPr lang="en-US" dirty="0"/>
              <a:t>5,159</a:t>
            </a:r>
          </a:p>
        </p:txBody>
      </p:sp>
      <p:sp>
        <p:nvSpPr>
          <p:cNvPr id="31" name="TextBox 30">
            <a:extLst>
              <a:ext uri="{FF2B5EF4-FFF2-40B4-BE49-F238E27FC236}">
                <a16:creationId xmlns:a16="http://schemas.microsoft.com/office/drawing/2014/main" id="{70095C71-8E28-DD53-B2A7-4FC2E92A7DB7}"/>
              </a:ext>
            </a:extLst>
          </p:cNvPr>
          <p:cNvSpPr txBox="1"/>
          <p:nvPr/>
        </p:nvSpPr>
        <p:spPr>
          <a:xfrm>
            <a:off x="5522579" y="4060088"/>
            <a:ext cx="652743" cy="369332"/>
          </a:xfrm>
          <a:prstGeom prst="rect">
            <a:avLst/>
          </a:prstGeom>
          <a:noFill/>
        </p:spPr>
        <p:txBody>
          <a:bodyPr wrap="none" rtlCol="0">
            <a:spAutoFit/>
          </a:bodyPr>
          <a:lstStyle/>
          <a:p>
            <a:r>
              <a:rPr lang="en-US" dirty="0"/>
              <a:t>2501</a:t>
            </a:r>
          </a:p>
        </p:txBody>
      </p:sp>
      <p:sp>
        <p:nvSpPr>
          <p:cNvPr id="32" name="TextBox 31">
            <a:extLst>
              <a:ext uri="{FF2B5EF4-FFF2-40B4-BE49-F238E27FC236}">
                <a16:creationId xmlns:a16="http://schemas.microsoft.com/office/drawing/2014/main" id="{489D0894-89FE-C095-FC06-E26CA4FFE978}"/>
              </a:ext>
            </a:extLst>
          </p:cNvPr>
          <p:cNvSpPr txBox="1"/>
          <p:nvPr/>
        </p:nvSpPr>
        <p:spPr>
          <a:xfrm>
            <a:off x="5530549" y="4937877"/>
            <a:ext cx="790027" cy="369332"/>
          </a:xfrm>
          <a:prstGeom prst="rect">
            <a:avLst/>
          </a:prstGeom>
          <a:noFill/>
        </p:spPr>
        <p:txBody>
          <a:bodyPr wrap="square" rtlCol="0">
            <a:spAutoFit/>
          </a:bodyPr>
          <a:lstStyle/>
          <a:p>
            <a:r>
              <a:rPr lang="en-US" dirty="0"/>
              <a:t>1498</a:t>
            </a:r>
          </a:p>
        </p:txBody>
      </p:sp>
      <p:sp>
        <p:nvSpPr>
          <p:cNvPr id="3" name="TextBox 2">
            <a:extLst>
              <a:ext uri="{FF2B5EF4-FFF2-40B4-BE49-F238E27FC236}">
                <a16:creationId xmlns:a16="http://schemas.microsoft.com/office/drawing/2014/main" id="{B5D77D7F-1139-5232-A932-40F5A4C568A4}"/>
              </a:ext>
            </a:extLst>
          </p:cNvPr>
          <p:cNvSpPr txBox="1"/>
          <p:nvPr/>
        </p:nvSpPr>
        <p:spPr>
          <a:xfrm>
            <a:off x="6879118" y="781354"/>
            <a:ext cx="5131636" cy="1754326"/>
          </a:xfrm>
          <a:prstGeom prst="rect">
            <a:avLst/>
          </a:prstGeom>
          <a:noFill/>
        </p:spPr>
        <p:txBody>
          <a:bodyPr wrap="square" rtlCol="0">
            <a:spAutoFit/>
          </a:bodyPr>
          <a:lstStyle/>
          <a:p>
            <a:r>
              <a:rPr lang="en-US" dirty="0">
                <a:solidFill>
                  <a:schemeClr val="bg1"/>
                </a:solidFill>
              </a:rPr>
              <a:t>There were many duplicates between Uniprot and NCBI. The cleaning step removed any protein sequences that were identical to a different accession, which were of the same species. This left me with 20,550 accessions.  </a:t>
            </a:r>
          </a:p>
          <a:p>
            <a:endParaRPr lang="en-US" dirty="0"/>
          </a:p>
        </p:txBody>
      </p:sp>
      <p:pic>
        <p:nvPicPr>
          <p:cNvPr id="7" name="Picture 6" descr="A graph of a number of people&#10;&#10;Description automatically generated">
            <a:extLst>
              <a:ext uri="{FF2B5EF4-FFF2-40B4-BE49-F238E27FC236}">
                <a16:creationId xmlns:a16="http://schemas.microsoft.com/office/drawing/2014/main" id="{05022BC3-0D07-44F7-413D-E633FB53E7D8}"/>
              </a:ext>
            </a:extLst>
          </p:cNvPr>
          <p:cNvPicPr>
            <a:picLocks noChangeAspect="1"/>
          </p:cNvPicPr>
          <p:nvPr/>
        </p:nvPicPr>
        <p:blipFill>
          <a:blip r:embed="rId4"/>
          <a:stretch>
            <a:fillRect/>
          </a:stretch>
        </p:blipFill>
        <p:spPr>
          <a:xfrm>
            <a:off x="6905105" y="2545874"/>
            <a:ext cx="4954815" cy="3686033"/>
          </a:xfrm>
          <a:prstGeom prst="rect">
            <a:avLst/>
          </a:prstGeom>
        </p:spPr>
      </p:pic>
      <p:sp>
        <p:nvSpPr>
          <p:cNvPr id="5" name="TextBox 4">
            <a:extLst>
              <a:ext uri="{FF2B5EF4-FFF2-40B4-BE49-F238E27FC236}">
                <a16:creationId xmlns:a16="http://schemas.microsoft.com/office/drawing/2014/main" id="{19B00FBD-68FC-065F-E1F3-89F171F1E18C}"/>
              </a:ext>
            </a:extLst>
          </p:cNvPr>
          <p:cNvSpPr txBox="1"/>
          <p:nvPr/>
        </p:nvSpPr>
        <p:spPr>
          <a:xfrm>
            <a:off x="6905105" y="6340642"/>
            <a:ext cx="4954815" cy="338554"/>
          </a:xfrm>
          <a:prstGeom prst="rect">
            <a:avLst/>
          </a:prstGeom>
          <a:noFill/>
        </p:spPr>
        <p:txBody>
          <a:bodyPr wrap="square" rtlCol="0">
            <a:spAutoFit/>
          </a:bodyPr>
          <a:lstStyle/>
          <a:p>
            <a:r>
              <a:rPr lang="en-US" sz="1600" dirty="0">
                <a:solidFill>
                  <a:schemeClr val="bg1"/>
                </a:solidFill>
              </a:rPr>
              <a:t>Figure 3. The Number of different phylogenetic ranks</a:t>
            </a:r>
          </a:p>
        </p:txBody>
      </p:sp>
    </p:spTree>
    <p:extLst>
      <p:ext uri="{BB962C8B-B14F-4D97-AF65-F5344CB8AC3E}">
        <p14:creationId xmlns:p14="http://schemas.microsoft.com/office/powerpoint/2010/main" val="9983558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DBF8A0-82F9-4480-AA24-CD29E9957D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8547D1-DD5F-9262-1D0F-73B224995DFD}"/>
              </a:ext>
            </a:extLst>
          </p:cNvPr>
          <p:cNvSpPr>
            <a:spLocks noGrp="1"/>
          </p:cNvSpPr>
          <p:nvPr>
            <p:ph type="ctrTitle"/>
          </p:nvPr>
        </p:nvSpPr>
        <p:spPr>
          <a:xfrm>
            <a:off x="703400" y="871759"/>
            <a:ext cx="5227171" cy="794672"/>
          </a:xfrm>
        </p:spPr>
        <p:txBody>
          <a:bodyPr>
            <a:normAutofit/>
          </a:bodyPr>
          <a:lstStyle/>
          <a:p>
            <a:pPr>
              <a:lnSpc>
                <a:spcPct val="90000"/>
              </a:lnSpc>
            </a:pPr>
            <a:r>
              <a:rPr lang="en-US" sz="4200" dirty="0"/>
              <a:t>Database curation</a:t>
            </a:r>
          </a:p>
        </p:txBody>
      </p:sp>
      <p:pic>
        <p:nvPicPr>
          <p:cNvPr id="4" name="Picture 3">
            <a:extLst>
              <a:ext uri="{FF2B5EF4-FFF2-40B4-BE49-F238E27FC236}">
                <a16:creationId xmlns:a16="http://schemas.microsoft.com/office/drawing/2014/main" id="{D2F91144-C265-BD1D-C2BD-A48189DAC27A}"/>
              </a:ext>
            </a:extLst>
          </p:cNvPr>
          <p:cNvPicPr>
            <a:picLocks noChangeAspect="1"/>
          </p:cNvPicPr>
          <p:nvPr/>
        </p:nvPicPr>
        <p:blipFill>
          <a:blip r:embed="rId3"/>
          <a:srcRect r="17222"/>
          <a:stretch>
            <a:fillRect/>
          </a:stretch>
        </p:blipFill>
        <p:spPr>
          <a:xfrm>
            <a:off x="6515100" y="10"/>
            <a:ext cx="5676900" cy="6857990"/>
          </a:xfrm>
          <a:prstGeom prst="rect">
            <a:avLst/>
          </a:prstGeom>
        </p:spPr>
      </p:pic>
      <p:sp>
        <p:nvSpPr>
          <p:cNvPr id="5" name="TextBox 4">
            <a:extLst>
              <a:ext uri="{FF2B5EF4-FFF2-40B4-BE49-F238E27FC236}">
                <a16:creationId xmlns:a16="http://schemas.microsoft.com/office/drawing/2014/main" id="{0E449629-9E3B-7B3F-4C70-71F2A83393FB}"/>
              </a:ext>
            </a:extLst>
          </p:cNvPr>
          <p:cNvSpPr txBox="1"/>
          <p:nvPr/>
        </p:nvSpPr>
        <p:spPr>
          <a:xfrm>
            <a:off x="6696829" y="688913"/>
            <a:ext cx="5313442" cy="2585323"/>
          </a:xfrm>
          <a:prstGeom prst="rect">
            <a:avLst/>
          </a:prstGeom>
          <a:noFill/>
        </p:spPr>
        <p:txBody>
          <a:bodyPr wrap="square" rtlCol="0">
            <a:spAutoFit/>
          </a:bodyPr>
          <a:lstStyle/>
          <a:p>
            <a:r>
              <a:rPr lang="en-US" dirty="0">
                <a:solidFill>
                  <a:schemeClr val="bg1"/>
                </a:solidFill>
              </a:rPr>
              <a:t>Due to some poor annotation there were sequences much shorter or much larger than would be expected of a recombinase protein. These were cut out in the filtering step which produced 5159 sequences.</a:t>
            </a:r>
          </a:p>
          <a:p>
            <a:endParaRPr lang="en-US" dirty="0">
              <a:solidFill>
                <a:schemeClr val="bg1"/>
              </a:solidFill>
            </a:endParaRPr>
          </a:p>
          <a:p>
            <a:r>
              <a:rPr lang="en-US" dirty="0">
                <a:solidFill>
                  <a:schemeClr val="bg1"/>
                </a:solidFill>
              </a:rPr>
              <a:t>Sequences were filtered to be longer than 326 and shorter than 426. </a:t>
            </a:r>
          </a:p>
          <a:p>
            <a:endParaRPr lang="en-US" sz="3600" dirty="0">
              <a:solidFill>
                <a:schemeClr val="bg1"/>
              </a:solidFill>
            </a:endParaRPr>
          </a:p>
        </p:txBody>
      </p:sp>
      <p:sp>
        <p:nvSpPr>
          <p:cNvPr id="6" name="Triangle 5">
            <a:extLst>
              <a:ext uri="{FF2B5EF4-FFF2-40B4-BE49-F238E27FC236}">
                <a16:creationId xmlns:a16="http://schemas.microsoft.com/office/drawing/2014/main" id="{8394AECE-EDD1-DA70-A87F-9CF8619EC6B2}"/>
              </a:ext>
            </a:extLst>
          </p:cNvPr>
          <p:cNvSpPr/>
          <p:nvPr/>
        </p:nvSpPr>
        <p:spPr>
          <a:xfrm rot="10800000">
            <a:off x="972185" y="1666431"/>
            <a:ext cx="4689599" cy="4361096"/>
          </a:xfrm>
          <a:prstGeom prst="triangle">
            <a:avLst/>
          </a:prstGeom>
          <a:solidFill>
            <a:srgbClr val="00B0F0"/>
          </a:solidFill>
          <a:ln w="12700" cap="flat" cmpd="sng" algn="ctr">
            <a:solidFill>
              <a:schemeClr val="accent1">
                <a:shade val="50000"/>
              </a:schemeClr>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8" name="Straight Connector 7">
            <a:extLst>
              <a:ext uri="{FF2B5EF4-FFF2-40B4-BE49-F238E27FC236}">
                <a16:creationId xmlns:a16="http://schemas.microsoft.com/office/drawing/2014/main" id="{AC1858E8-1B13-93E1-0056-9F0B850EF6D9}"/>
              </a:ext>
            </a:extLst>
          </p:cNvPr>
          <p:cNvCxnSpPr>
            <a:cxnSpLocks/>
          </p:cNvCxnSpPr>
          <p:nvPr/>
        </p:nvCxnSpPr>
        <p:spPr>
          <a:xfrm>
            <a:off x="1393371" y="2383971"/>
            <a:ext cx="3864429" cy="0"/>
          </a:xfrm>
          <a:prstGeom prst="line">
            <a:avLst/>
          </a:prstGeom>
        </p:spPr>
        <p:style>
          <a:lnRef idx="3">
            <a:schemeClr val="dk1"/>
          </a:lnRef>
          <a:fillRef idx="0">
            <a:schemeClr val="dk1"/>
          </a:fillRef>
          <a:effectRef idx="2">
            <a:schemeClr val="dk1"/>
          </a:effectRef>
          <a:fontRef idx="minor">
            <a:schemeClr val="tx1"/>
          </a:fontRef>
        </p:style>
      </p:cxnSp>
      <p:cxnSp>
        <p:nvCxnSpPr>
          <p:cNvPr id="9" name="Straight Connector 8">
            <a:extLst>
              <a:ext uri="{FF2B5EF4-FFF2-40B4-BE49-F238E27FC236}">
                <a16:creationId xmlns:a16="http://schemas.microsoft.com/office/drawing/2014/main" id="{F606BA88-7629-FCE9-4FBA-F0BABF77191E}"/>
              </a:ext>
            </a:extLst>
          </p:cNvPr>
          <p:cNvCxnSpPr>
            <a:cxnSpLocks/>
          </p:cNvCxnSpPr>
          <p:nvPr/>
        </p:nvCxnSpPr>
        <p:spPr>
          <a:xfrm>
            <a:off x="1779815" y="3105834"/>
            <a:ext cx="3118756" cy="0"/>
          </a:xfrm>
          <a:prstGeom prst="line">
            <a:avLst/>
          </a:prstGeom>
        </p:spPr>
        <p:style>
          <a:lnRef idx="3">
            <a:schemeClr val="dk1"/>
          </a:lnRef>
          <a:fillRef idx="0">
            <a:schemeClr val="dk1"/>
          </a:fillRef>
          <a:effectRef idx="2">
            <a:schemeClr val="dk1"/>
          </a:effectRef>
          <a:fontRef idx="minor">
            <a:schemeClr val="tx1"/>
          </a:fontRef>
        </p:style>
      </p:cxnSp>
      <p:cxnSp>
        <p:nvCxnSpPr>
          <p:cNvPr id="11" name="Straight Connector 10">
            <a:extLst>
              <a:ext uri="{FF2B5EF4-FFF2-40B4-BE49-F238E27FC236}">
                <a16:creationId xmlns:a16="http://schemas.microsoft.com/office/drawing/2014/main" id="{8E3A2141-891A-F8E4-4376-EAADC5F4AB4D}"/>
              </a:ext>
            </a:extLst>
          </p:cNvPr>
          <p:cNvCxnSpPr>
            <a:cxnSpLocks/>
            <a:endCxn id="6" idx="1"/>
          </p:cNvCxnSpPr>
          <p:nvPr/>
        </p:nvCxnSpPr>
        <p:spPr>
          <a:xfrm flipV="1">
            <a:off x="2156584" y="3846979"/>
            <a:ext cx="2332800" cy="3405"/>
          </a:xfrm>
          <a:prstGeom prst="line">
            <a:avLst/>
          </a:prstGeom>
        </p:spPr>
        <p:style>
          <a:lnRef idx="3">
            <a:schemeClr val="dk1"/>
          </a:lnRef>
          <a:fillRef idx="0">
            <a:schemeClr val="dk1"/>
          </a:fillRef>
          <a:effectRef idx="2">
            <a:schemeClr val="dk1"/>
          </a:effectRef>
          <a:fontRef idx="minor">
            <a:schemeClr val="tx1"/>
          </a:fontRef>
        </p:style>
      </p:cxnSp>
      <p:cxnSp>
        <p:nvCxnSpPr>
          <p:cNvPr id="13" name="Straight Connector 12">
            <a:extLst>
              <a:ext uri="{FF2B5EF4-FFF2-40B4-BE49-F238E27FC236}">
                <a16:creationId xmlns:a16="http://schemas.microsoft.com/office/drawing/2014/main" id="{FF3389A3-D0F4-EF84-8845-AEB59C68D596}"/>
              </a:ext>
            </a:extLst>
          </p:cNvPr>
          <p:cNvCxnSpPr>
            <a:cxnSpLocks/>
          </p:cNvCxnSpPr>
          <p:nvPr/>
        </p:nvCxnSpPr>
        <p:spPr>
          <a:xfrm>
            <a:off x="2558277" y="4614641"/>
            <a:ext cx="1491209" cy="0"/>
          </a:xfrm>
          <a:prstGeom prst="line">
            <a:avLst/>
          </a:prstGeom>
        </p:spPr>
        <p:style>
          <a:lnRef idx="3">
            <a:schemeClr val="dk1"/>
          </a:lnRef>
          <a:fillRef idx="0">
            <a:schemeClr val="dk1"/>
          </a:fillRef>
          <a:effectRef idx="2">
            <a:schemeClr val="dk1"/>
          </a:effectRef>
          <a:fontRef idx="minor">
            <a:schemeClr val="tx1"/>
          </a:fontRef>
        </p:style>
      </p:cxnSp>
      <p:sp>
        <p:nvSpPr>
          <p:cNvPr id="19" name="TextBox 18">
            <a:extLst>
              <a:ext uri="{FF2B5EF4-FFF2-40B4-BE49-F238E27FC236}">
                <a16:creationId xmlns:a16="http://schemas.microsoft.com/office/drawing/2014/main" id="{EFFB3B8B-6B4D-8665-2184-BF20F96EAAEC}"/>
              </a:ext>
            </a:extLst>
          </p:cNvPr>
          <p:cNvSpPr txBox="1"/>
          <p:nvPr/>
        </p:nvSpPr>
        <p:spPr>
          <a:xfrm>
            <a:off x="2808513" y="3280577"/>
            <a:ext cx="1034143" cy="369332"/>
          </a:xfrm>
          <a:prstGeom prst="rect">
            <a:avLst/>
          </a:prstGeom>
          <a:noFill/>
        </p:spPr>
        <p:txBody>
          <a:bodyPr wrap="square" rtlCol="0">
            <a:spAutoFit/>
          </a:bodyPr>
          <a:lstStyle/>
          <a:p>
            <a:r>
              <a:rPr lang="en-US" dirty="0"/>
              <a:t>Filtering</a:t>
            </a:r>
          </a:p>
        </p:txBody>
      </p:sp>
      <p:sp>
        <p:nvSpPr>
          <p:cNvPr id="22" name="TextBox 21">
            <a:extLst>
              <a:ext uri="{FF2B5EF4-FFF2-40B4-BE49-F238E27FC236}">
                <a16:creationId xmlns:a16="http://schemas.microsoft.com/office/drawing/2014/main" id="{121C61FA-5E88-6D11-0234-042F8BCBD3E8}"/>
              </a:ext>
            </a:extLst>
          </p:cNvPr>
          <p:cNvSpPr txBox="1"/>
          <p:nvPr/>
        </p:nvSpPr>
        <p:spPr>
          <a:xfrm>
            <a:off x="2558277" y="1796909"/>
            <a:ext cx="1603358" cy="369332"/>
          </a:xfrm>
          <a:prstGeom prst="rect">
            <a:avLst/>
          </a:prstGeom>
          <a:noFill/>
        </p:spPr>
        <p:txBody>
          <a:bodyPr wrap="square" rtlCol="0">
            <a:spAutoFit/>
          </a:bodyPr>
          <a:lstStyle/>
          <a:p>
            <a:r>
              <a:rPr lang="en-US" dirty="0"/>
              <a:t>Query Search</a:t>
            </a:r>
          </a:p>
        </p:txBody>
      </p:sp>
      <p:sp>
        <p:nvSpPr>
          <p:cNvPr id="26" name="TextBox 25">
            <a:extLst>
              <a:ext uri="{FF2B5EF4-FFF2-40B4-BE49-F238E27FC236}">
                <a16:creationId xmlns:a16="http://schemas.microsoft.com/office/drawing/2014/main" id="{6FCB699B-5AA9-59FB-1016-0C0C36A10A6A}"/>
              </a:ext>
            </a:extLst>
          </p:cNvPr>
          <p:cNvSpPr txBox="1"/>
          <p:nvPr/>
        </p:nvSpPr>
        <p:spPr>
          <a:xfrm>
            <a:off x="2786842" y="4029234"/>
            <a:ext cx="1262644" cy="369332"/>
          </a:xfrm>
          <a:prstGeom prst="rect">
            <a:avLst/>
          </a:prstGeom>
          <a:noFill/>
        </p:spPr>
        <p:txBody>
          <a:bodyPr wrap="square" rtlCol="0">
            <a:spAutoFit/>
          </a:bodyPr>
          <a:lstStyle/>
          <a:p>
            <a:r>
              <a:rPr lang="en-US" dirty="0"/>
              <a:t>HMMs</a:t>
            </a:r>
          </a:p>
        </p:txBody>
      </p:sp>
      <p:sp>
        <p:nvSpPr>
          <p:cNvPr id="27" name="TextBox 26">
            <a:extLst>
              <a:ext uri="{FF2B5EF4-FFF2-40B4-BE49-F238E27FC236}">
                <a16:creationId xmlns:a16="http://schemas.microsoft.com/office/drawing/2014/main" id="{312BBFF3-E4D7-D489-6002-EA1354EFF79B}"/>
              </a:ext>
            </a:extLst>
          </p:cNvPr>
          <p:cNvSpPr txBox="1"/>
          <p:nvPr/>
        </p:nvSpPr>
        <p:spPr>
          <a:xfrm>
            <a:off x="2898991" y="4822237"/>
            <a:ext cx="1262644" cy="369332"/>
          </a:xfrm>
          <a:prstGeom prst="rect">
            <a:avLst/>
          </a:prstGeom>
          <a:noFill/>
        </p:spPr>
        <p:txBody>
          <a:bodyPr wrap="square" rtlCol="0">
            <a:spAutoFit/>
          </a:bodyPr>
          <a:lstStyle/>
          <a:p>
            <a:r>
              <a:rPr lang="en-US" dirty="0"/>
              <a:t>Motif</a:t>
            </a:r>
          </a:p>
        </p:txBody>
      </p:sp>
      <p:sp>
        <p:nvSpPr>
          <p:cNvPr id="28" name="TextBox 27">
            <a:extLst>
              <a:ext uri="{FF2B5EF4-FFF2-40B4-BE49-F238E27FC236}">
                <a16:creationId xmlns:a16="http://schemas.microsoft.com/office/drawing/2014/main" id="{9F3ED8F7-BBCB-46DA-4DC3-9D12B995221B}"/>
              </a:ext>
            </a:extLst>
          </p:cNvPr>
          <p:cNvSpPr txBox="1"/>
          <p:nvPr/>
        </p:nvSpPr>
        <p:spPr>
          <a:xfrm>
            <a:off x="5536598" y="1840535"/>
            <a:ext cx="978502" cy="369332"/>
          </a:xfrm>
          <a:prstGeom prst="rect">
            <a:avLst/>
          </a:prstGeom>
          <a:noFill/>
        </p:spPr>
        <p:txBody>
          <a:bodyPr wrap="square" rtlCol="0">
            <a:spAutoFit/>
          </a:bodyPr>
          <a:lstStyle/>
          <a:p>
            <a:r>
              <a:rPr lang="en-US" dirty="0"/>
              <a:t>~25,000</a:t>
            </a:r>
          </a:p>
        </p:txBody>
      </p:sp>
      <p:sp>
        <p:nvSpPr>
          <p:cNvPr id="29" name="TextBox 28">
            <a:extLst>
              <a:ext uri="{FF2B5EF4-FFF2-40B4-BE49-F238E27FC236}">
                <a16:creationId xmlns:a16="http://schemas.microsoft.com/office/drawing/2014/main" id="{3B6106B3-7718-1D42-6887-FDEB50972FD1}"/>
              </a:ext>
            </a:extLst>
          </p:cNvPr>
          <p:cNvSpPr txBox="1"/>
          <p:nvPr/>
        </p:nvSpPr>
        <p:spPr>
          <a:xfrm>
            <a:off x="5486800" y="2545874"/>
            <a:ext cx="1001486" cy="369332"/>
          </a:xfrm>
          <a:prstGeom prst="rect">
            <a:avLst/>
          </a:prstGeom>
          <a:noFill/>
        </p:spPr>
        <p:txBody>
          <a:bodyPr wrap="square" rtlCol="0">
            <a:spAutoFit/>
          </a:bodyPr>
          <a:lstStyle/>
          <a:p>
            <a:r>
              <a:rPr lang="en-US" dirty="0"/>
              <a:t>20,550</a:t>
            </a:r>
          </a:p>
        </p:txBody>
      </p:sp>
      <p:sp>
        <p:nvSpPr>
          <p:cNvPr id="30" name="TextBox 29">
            <a:extLst>
              <a:ext uri="{FF2B5EF4-FFF2-40B4-BE49-F238E27FC236}">
                <a16:creationId xmlns:a16="http://schemas.microsoft.com/office/drawing/2014/main" id="{5318DA85-CAAE-8A3A-8CE9-F045FF1B5CF6}"/>
              </a:ext>
            </a:extLst>
          </p:cNvPr>
          <p:cNvSpPr txBox="1"/>
          <p:nvPr/>
        </p:nvSpPr>
        <p:spPr>
          <a:xfrm>
            <a:off x="5475514" y="3302221"/>
            <a:ext cx="1240971" cy="369332"/>
          </a:xfrm>
          <a:prstGeom prst="rect">
            <a:avLst/>
          </a:prstGeom>
          <a:noFill/>
        </p:spPr>
        <p:txBody>
          <a:bodyPr wrap="square" rtlCol="0">
            <a:spAutoFit/>
          </a:bodyPr>
          <a:lstStyle/>
          <a:p>
            <a:r>
              <a:rPr lang="en-US" dirty="0"/>
              <a:t>5,159</a:t>
            </a:r>
          </a:p>
        </p:txBody>
      </p:sp>
      <p:sp>
        <p:nvSpPr>
          <p:cNvPr id="31" name="TextBox 30">
            <a:extLst>
              <a:ext uri="{FF2B5EF4-FFF2-40B4-BE49-F238E27FC236}">
                <a16:creationId xmlns:a16="http://schemas.microsoft.com/office/drawing/2014/main" id="{87813E30-6DB4-ACBE-484C-B02539004319}"/>
              </a:ext>
            </a:extLst>
          </p:cNvPr>
          <p:cNvSpPr txBox="1"/>
          <p:nvPr/>
        </p:nvSpPr>
        <p:spPr>
          <a:xfrm>
            <a:off x="5522579" y="4060088"/>
            <a:ext cx="652743" cy="369332"/>
          </a:xfrm>
          <a:prstGeom prst="rect">
            <a:avLst/>
          </a:prstGeom>
          <a:noFill/>
        </p:spPr>
        <p:txBody>
          <a:bodyPr wrap="none" rtlCol="0">
            <a:spAutoFit/>
          </a:bodyPr>
          <a:lstStyle/>
          <a:p>
            <a:r>
              <a:rPr lang="en-US" dirty="0"/>
              <a:t>2501</a:t>
            </a:r>
          </a:p>
        </p:txBody>
      </p:sp>
      <p:sp>
        <p:nvSpPr>
          <p:cNvPr id="32" name="TextBox 31">
            <a:extLst>
              <a:ext uri="{FF2B5EF4-FFF2-40B4-BE49-F238E27FC236}">
                <a16:creationId xmlns:a16="http://schemas.microsoft.com/office/drawing/2014/main" id="{DA5EEBE0-6870-EC65-36B3-7500F82F70FC}"/>
              </a:ext>
            </a:extLst>
          </p:cNvPr>
          <p:cNvSpPr txBox="1"/>
          <p:nvPr/>
        </p:nvSpPr>
        <p:spPr>
          <a:xfrm>
            <a:off x="5530549" y="4937877"/>
            <a:ext cx="790027" cy="369332"/>
          </a:xfrm>
          <a:prstGeom prst="rect">
            <a:avLst/>
          </a:prstGeom>
          <a:noFill/>
        </p:spPr>
        <p:txBody>
          <a:bodyPr wrap="square" rtlCol="0">
            <a:spAutoFit/>
          </a:bodyPr>
          <a:lstStyle/>
          <a:p>
            <a:r>
              <a:rPr lang="en-US" dirty="0"/>
              <a:t>1498</a:t>
            </a:r>
          </a:p>
        </p:txBody>
      </p:sp>
      <p:pic>
        <p:nvPicPr>
          <p:cNvPr id="10" name="Picture 9" descr="A diagram of a number of sequence lengths&#10;&#10;Description automatically generated">
            <a:extLst>
              <a:ext uri="{FF2B5EF4-FFF2-40B4-BE49-F238E27FC236}">
                <a16:creationId xmlns:a16="http://schemas.microsoft.com/office/drawing/2014/main" id="{003424A4-F950-992A-7434-A89D492B52DD}"/>
              </a:ext>
            </a:extLst>
          </p:cNvPr>
          <p:cNvPicPr>
            <a:picLocks noChangeAspect="1"/>
          </p:cNvPicPr>
          <p:nvPr/>
        </p:nvPicPr>
        <p:blipFill>
          <a:blip r:embed="rId4"/>
          <a:stretch>
            <a:fillRect/>
          </a:stretch>
        </p:blipFill>
        <p:spPr>
          <a:xfrm>
            <a:off x="7006116" y="2752686"/>
            <a:ext cx="4694867" cy="3723909"/>
          </a:xfrm>
          <a:prstGeom prst="rect">
            <a:avLst/>
          </a:prstGeom>
        </p:spPr>
      </p:pic>
      <p:sp>
        <p:nvSpPr>
          <p:cNvPr id="3" name="TextBox 2">
            <a:extLst>
              <a:ext uri="{FF2B5EF4-FFF2-40B4-BE49-F238E27FC236}">
                <a16:creationId xmlns:a16="http://schemas.microsoft.com/office/drawing/2014/main" id="{EC588BF7-42A2-CCE1-670E-5D9CB2893BF6}"/>
              </a:ext>
            </a:extLst>
          </p:cNvPr>
          <p:cNvSpPr txBox="1"/>
          <p:nvPr/>
        </p:nvSpPr>
        <p:spPr>
          <a:xfrm>
            <a:off x="2547825" y="2545874"/>
            <a:ext cx="1584304" cy="369332"/>
          </a:xfrm>
          <a:prstGeom prst="rect">
            <a:avLst/>
          </a:prstGeom>
          <a:noFill/>
        </p:spPr>
        <p:txBody>
          <a:bodyPr wrap="square" rtlCol="0">
            <a:spAutoFit/>
          </a:bodyPr>
          <a:lstStyle/>
          <a:p>
            <a:r>
              <a:rPr lang="en-US" dirty="0"/>
              <a:t>Deduplication</a:t>
            </a:r>
          </a:p>
        </p:txBody>
      </p:sp>
      <p:sp>
        <p:nvSpPr>
          <p:cNvPr id="7" name="TextBox 6">
            <a:extLst>
              <a:ext uri="{FF2B5EF4-FFF2-40B4-BE49-F238E27FC236}">
                <a16:creationId xmlns:a16="http://schemas.microsoft.com/office/drawing/2014/main" id="{96EB9FFB-1589-FF01-16E9-7CE683C770D3}"/>
              </a:ext>
            </a:extLst>
          </p:cNvPr>
          <p:cNvSpPr txBox="1"/>
          <p:nvPr/>
        </p:nvSpPr>
        <p:spPr>
          <a:xfrm>
            <a:off x="7006115" y="6513409"/>
            <a:ext cx="4694867" cy="307777"/>
          </a:xfrm>
          <a:prstGeom prst="rect">
            <a:avLst/>
          </a:prstGeom>
          <a:noFill/>
        </p:spPr>
        <p:txBody>
          <a:bodyPr wrap="square" rtlCol="0">
            <a:spAutoFit/>
          </a:bodyPr>
          <a:lstStyle/>
          <a:p>
            <a:r>
              <a:rPr lang="en-US" sz="1400" dirty="0">
                <a:solidFill>
                  <a:schemeClr val="bg1"/>
                </a:solidFill>
              </a:rPr>
              <a:t>Figure 4. Distribution of sequence lengths before filtering </a:t>
            </a:r>
          </a:p>
        </p:txBody>
      </p:sp>
    </p:spTree>
    <p:extLst>
      <p:ext uri="{BB962C8B-B14F-4D97-AF65-F5344CB8AC3E}">
        <p14:creationId xmlns:p14="http://schemas.microsoft.com/office/powerpoint/2010/main" val="21732687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9CF860-4285-5328-D4BA-B893189B0C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C761D4-76C9-1AEC-A075-A4EF7BCA6AE8}"/>
              </a:ext>
            </a:extLst>
          </p:cNvPr>
          <p:cNvSpPr>
            <a:spLocks noGrp="1"/>
          </p:cNvSpPr>
          <p:nvPr>
            <p:ph type="ctrTitle"/>
          </p:nvPr>
        </p:nvSpPr>
        <p:spPr>
          <a:xfrm>
            <a:off x="703400" y="871759"/>
            <a:ext cx="5227171" cy="794672"/>
          </a:xfrm>
        </p:spPr>
        <p:txBody>
          <a:bodyPr>
            <a:normAutofit/>
          </a:bodyPr>
          <a:lstStyle/>
          <a:p>
            <a:pPr>
              <a:lnSpc>
                <a:spcPct val="90000"/>
              </a:lnSpc>
            </a:pPr>
            <a:r>
              <a:rPr lang="en-US" sz="4200" dirty="0"/>
              <a:t>Database curation</a:t>
            </a:r>
          </a:p>
        </p:txBody>
      </p:sp>
      <p:pic>
        <p:nvPicPr>
          <p:cNvPr id="4" name="Picture 3">
            <a:extLst>
              <a:ext uri="{FF2B5EF4-FFF2-40B4-BE49-F238E27FC236}">
                <a16:creationId xmlns:a16="http://schemas.microsoft.com/office/drawing/2014/main" id="{04014D28-B813-47CA-1BA8-1597A736B37F}"/>
              </a:ext>
            </a:extLst>
          </p:cNvPr>
          <p:cNvPicPr>
            <a:picLocks noChangeAspect="1"/>
          </p:cNvPicPr>
          <p:nvPr/>
        </p:nvPicPr>
        <p:blipFill>
          <a:blip r:embed="rId3"/>
          <a:srcRect r="17222"/>
          <a:stretch>
            <a:fillRect/>
          </a:stretch>
        </p:blipFill>
        <p:spPr>
          <a:xfrm>
            <a:off x="6515100" y="10"/>
            <a:ext cx="5676900" cy="6857990"/>
          </a:xfrm>
          <a:prstGeom prst="rect">
            <a:avLst/>
          </a:prstGeom>
        </p:spPr>
      </p:pic>
      <p:sp>
        <p:nvSpPr>
          <p:cNvPr id="6" name="Triangle 5">
            <a:extLst>
              <a:ext uri="{FF2B5EF4-FFF2-40B4-BE49-F238E27FC236}">
                <a16:creationId xmlns:a16="http://schemas.microsoft.com/office/drawing/2014/main" id="{07E2D711-D2D5-5F9F-5FE8-C63A42ADA792}"/>
              </a:ext>
            </a:extLst>
          </p:cNvPr>
          <p:cNvSpPr/>
          <p:nvPr/>
        </p:nvSpPr>
        <p:spPr>
          <a:xfrm rot="10800000">
            <a:off x="972185" y="1666431"/>
            <a:ext cx="4689599" cy="4361096"/>
          </a:xfrm>
          <a:prstGeom prst="triangle">
            <a:avLst/>
          </a:prstGeom>
          <a:solidFill>
            <a:srgbClr val="00B0F0"/>
          </a:solidFill>
          <a:ln w="12700" cap="flat" cmpd="sng" algn="ctr">
            <a:solidFill>
              <a:schemeClr val="accent1">
                <a:shade val="50000"/>
              </a:schemeClr>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8" name="Straight Connector 7">
            <a:extLst>
              <a:ext uri="{FF2B5EF4-FFF2-40B4-BE49-F238E27FC236}">
                <a16:creationId xmlns:a16="http://schemas.microsoft.com/office/drawing/2014/main" id="{D5CD70DC-C862-6C9D-1665-D32EA199C64E}"/>
              </a:ext>
            </a:extLst>
          </p:cNvPr>
          <p:cNvCxnSpPr>
            <a:cxnSpLocks/>
          </p:cNvCxnSpPr>
          <p:nvPr/>
        </p:nvCxnSpPr>
        <p:spPr>
          <a:xfrm>
            <a:off x="1393371" y="2383971"/>
            <a:ext cx="3864429" cy="0"/>
          </a:xfrm>
          <a:prstGeom prst="line">
            <a:avLst/>
          </a:prstGeom>
        </p:spPr>
        <p:style>
          <a:lnRef idx="3">
            <a:schemeClr val="dk1"/>
          </a:lnRef>
          <a:fillRef idx="0">
            <a:schemeClr val="dk1"/>
          </a:fillRef>
          <a:effectRef idx="2">
            <a:schemeClr val="dk1"/>
          </a:effectRef>
          <a:fontRef idx="minor">
            <a:schemeClr val="tx1"/>
          </a:fontRef>
        </p:style>
      </p:cxnSp>
      <p:cxnSp>
        <p:nvCxnSpPr>
          <p:cNvPr id="9" name="Straight Connector 8">
            <a:extLst>
              <a:ext uri="{FF2B5EF4-FFF2-40B4-BE49-F238E27FC236}">
                <a16:creationId xmlns:a16="http://schemas.microsoft.com/office/drawing/2014/main" id="{A3829836-B716-A30A-B62A-F97C4AD30C9F}"/>
              </a:ext>
            </a:extLst>
          </p:cNvPr>
          <p:cNvCxnSpPr>
            <a:cxnSpLocks/>
          </p:cNvCxnSpPr>
          <p:nvPr/>
        </p:nvCxnSpPr>
        <p:spPr>
          <a:xfrm>
            <a:off x="1779815" y="3105834"/>
            <a:ext cx="3118756" cy="0"/>
          </a:xfrm>
          <a:prstGeom prst="line">
            <a:avLst/>
          </a:prstGeom>
        </p:spPr>
        <p:style>
          <a:lnRef idx="3">
            <a:schemeClr val="dk1"/>
          </a:lnRef>
          <a:fillRef idx="0">
            <a:schemeClr val="dk1"/>
          </a:fillRef>
          <a:effectRef idx="2">
            <a:schemeClr val="dk1"/>
          </a:effectRef>
          <a:fontRef idx="minor">
            <a:schemeClr val="tx1"/>
          </a:fontRef>
        </p:style>
      </p:cxnSp>
      <p:cxnSp>
        <p:nvCxnSpPr>
          <p:cNvPr id="11" name="Straight Connector 10">
            <a:extLst>
              <a:ext uri="{FF2B5EF4-FFF2-40B4-BE49-F238E27FC236}">
                <a16:creationId xmlns:a16="http://schemas.microsoft.com/office/drawing/2014/main" id="{528AC052-7F7B-35F3-7C1B-96EE59A97A0F}"/>
              </a:ext>
            </a:extLst>
          </p:cNvPr>
          <p:cNvCxnSpPr>
            <a:cxnSpLocks/>
            <a:endCxn id="6" idx="1"/>
          </p:cNvCxnSpPr>
          <p:nvPr/>
        </p:nvCxnSpPr>
        <p:spPr>
          <a:xfrm flipV="1">
            <a:off x="2156584" y="3846979"/>
            <a:ext cx="2332800" cy="3405"/>
          </a:xfrm>
          <a:prstGeom prst="line">
            <a:avLst/>
          </a:prstGeom>
        </p:spPr>
        <p:style>
          <a:lnRef idx="3">
            <a:schemeClr val="dk1"/>
          </a:lnRef>
          <a:fillRef idx="0">
            <a:schemeClr val="dk1"/>
          </a:fillRef>
          <a:effectRef idx="2">
            <a:schemeClr val="dk1"/>
          </a:effectRef>
          <a:fontRef idx="minor">
            <a:schemeClr val="tx1"/>
          </a:fontRef>
        </p:style>
      </p:cxnSp>
      <p:cxnSp>
        <p:nvCxnSpPr>
          <p:cNvPr id="13" name="Straight Connector 12">
            <a:extLst>
              <a:ext uri="{FF2B5EF4-FFF2-40B4-BE49-F238E27FC236}">
                <a16:creationId xmlns:a16="http://schemas.microsoft.com/office/drawing/2014/main" id="{3A1CD0F1-3BA2-AFD6-FF88-C45FB6225041}"/>
              </a:ext>
            </a:extLst>
          </p:cNvPr>
          <p:cNvCxnSpPr>
            <a:cxnSpLocks/>
          </p:cNvCxnSpPr>
          <p:nvPr/>
        </p:nvCxnSpPr>
        <p:spPr>
          <a:xfrm>
            <a:off x="2558277" y="4614641"/>
            <a:ext cx="1491209" cy="0"/>
          </a:xfrm>
          <a:prstGeom prst="line">
            <a:avLst/>
          </a:prstGeom>
        </p:spPr>
        <p:style>
          <a:lnRef idx="3">
            <a:schemeClr val="dk1"/>
          </a:lnRef>
          <a:fillRef idx="0">
            <a:schemeClr val="dk1"/>
          </a:fillRef>
          <a:effectRef idx="2">
            <a:schemeClr val="dk1"/>
          </a:effectRef>
          <a:fontRef idx="minor">
            <a:schemeClr val="tx1"/>
          </a:fontRef>
        </p:style>
      </p:cxnSp>
      <p:sp>
        <p:nvSpPr>
          <p:cNvPr id="19" name="TextBox 18">
            <a:extLst>
              <a:ext uri="{FF2B5EF4-FFF2-40B4-BE49-F238E27FC236}">
                <a16:creationId xmlns:a16="http://schemas.microsoft.com/office/drawing/2014/main" id="{5EE73741-435D-1B03-2C12-67FBBCCCBD89}"/>
              </a:ext>
            </a:extLst>
          </p:cNvPr>
          <p:cNvSpPr txBox="1"/>
          <p:nvPr/>
        </p:nvSpPr>
        <p:spPr>
          <a:xfrm>
            <a:off x="2808513" y="3280577"/>
            <a:ext cx="1034143" cy="369332"/>
          </a:xfrm>
          <a:prstGeom prst="rect">
            <a:avLst/>
          </a:prstGeom>
          <a:noFill/>
        </p:spPr>
        <p:txBody>
          <a:bodyPr wrap="square" rtlCol="0">
            <a:spAutoFit/>
          </a:bodyPr>
          <a:lstStyle/>
          <a:p>
            <a:r>
              <a:rPr lang="en-US" dirty="0"/>
              <a:t>Filtering</a:t>
            </a:r>
          </a:p>
        </p:txBody>
      </p:sp>
      <p:sp>
        <p:nvSpPr>
          <p:cNvPr id="20" name="TextBox 19">
            <a:extLst>
              <a:ext uri="{FF2B5EF4-FFF2-40B4-BE49-F238E27FC236}">
                <a16:creationId xmlns:a16="http://schemas.microsoft.com/office/drawing/2014/main" id="{4087AD75-F189-56C4-A0A3-7FDE77C5EB8E}"/>
              </a:ext>
            </a:extLst>
          </p:cNvPr>
          <p:cNvSpPr txBox="1"/>
          <p:nvPr/>
        </p:nvSpPr>
        <p:spPr>
          <a:xfrm>
            <a:off x="2558277" y="2545874"/>
            <a:ext cx="1644462" cy="369332"/>
          </a:xfrm>
          <a:prstGeom prst="rect">
            <a:avLst/>
          </a:prstGeom>
          <a:noFill/>
        </p:spPr>
        <p:txBody>
          <a:bodyPr wrap="square" rtlCol="0">
            <a:spAutoFit/>
          </a:bodyPr>
          <a:lstStyle/>
          <a:p>
            <a:r>
              <a:rPr lang="en-US" dirty="0"/>
              <a:t>Deduplication</a:t>
            </a:r>
          </a:p>
        </p:txBody>
      </p:sp>
      <p:sp>
        <p:nvSpPr>
          <p:cNvPr id="22" name="TextBox 21">
            <a:extLst>
              <a:ext uri="{FF2B5EF4-FFF2-40B4-BE49-F238E27FC236}">
                <a16:creationId xmlns:a16="http://schemas.microsoft.com/office/drawing/2014/main" id="{F4633027-01B7-B6A6-24BA-1EF7F3B7FA3C}"/>
              </a:ext>
            </a:extLst>
          </p:cNvPr>
          <p:cNvSpPr txBox="1"/>
          <p:nvPr/>
        </p:nvSpPr>
        <p:spPr>
          <a:xfrm>
            <a:off x="2558277" y="1796909"/>
            <a:ext cx="1603358" cy="369332"/>
          </a:xfrm>
          <a:prstGeom prst="rect">
            <a:avLst/>
          </a:prstGeom>
          <a:noFill/>
        </p:spPr>
        <p:txBody>
          <a:bodyPr wrap="square" rtlCol="0">
            <a:spAutoFit/>
          </a:bodyPr>
          <a:lstStyle/>
          <a:p>
            <a:r>
              <a:rPr lang="en-US" dirty="0"/>
              <a:t>Query Search</a:t>
            </a:r>
          </a:p>
        </p:txBody>
      </p:sp>
      <p:sp>
        <p:nvSpPr>
          <p:cNvPr id="26" name="TextBox 25">
            <a:extLst>
              <a:ext uri="{FF2B5EF4-FFF2-40B4-BE49-F238E27FC236}">
                <a16:creationId xmlns:a16="http://schemas.microsoft.com/office/drawing/2014/main" id="{21ABAB35-9DB8-EBAE-482E-30C68DFF6BA0}"/>
              </a:ext>
            </a:extLst>
          </p:cNvPr>
          <p:cNvSpPr txBox="1"/>
          <p:nvPr/>
        </p:nvSpPr>
        <p:spPr>
          <a:xfrm>
            <a:off x="2786842" y="4029234"/>
            <a:ext cx="1262644" cy="369332"/>
          </a:xfrm>
          <a:prstGeom prst="rect">
            <a:avLst/>
          </a:prstGeom>
          <a:noFill/>
        </p:spPr>
        <p:txBody>
          <a:bodyPr wrap="square" rtlCol="0">
            <a:spAutoFit/>
          </a:bodyPr>
          <a:lstStyle/>
          <a:p>
            <a:r>
              <a:rPr lang="en-US" dirty="0"/>
              <a:t>HMMs</a:t>
            </a:r>
          </a:p>
        </p:txBody>
      </p:sp>
      <p:sp>
        <p:nvSpPr>
          <p:cNvPr id="27" name="TextBox 26">
            <a:extLst>
              <a:ext uri="{FF2B5EF4-FFF2-40B4-BE49-F238E27FC236}">
                <a16:creationId xmlns:a16="http://schemas.microsoft.com/office/drawing/2014/main" id="{92EFE8A8-4698-6A9B-F7E3-A227F44B94A1}"/>
              </a:ext>
            </a:extLst>
          </p:cNvPr>
          <p:cNvSpPr txBox="1"/>
          <p:nvPr/>
        </p:nvSpPr>
        <p:spPr>
          <a:xfrm>
            <a:off x="2898991" y="4822237"/>
            <a:ext cx="1262644" cy="369332"/>
          </a:xfrm>
          <a:prstGeom prst="rect">
            <a:avLst/>
          </a:prstGeom>
          <a:noFill/>
        </p:spPr>
        <p:txBody>
          <a:bodyPr wrap="square" rtlCol="0">
            <a:spAutoFit/>
          </a:bodyPr>
          <a:lstStyle/>
          <a:p>
            <a:r>
              <a:rPr lang="en-US" dirty="0"/>
              <a:t>Motif</a:t>
            </a:r>
          </a:p>
        </p:txBody>
      </p:sp>
      <p:sp>
        <p:nvSpPr>
          <p:cNvPr id="28" name="TextBox 27">
            <a:extLst>
              <a:ext uri="{FF2B5EF4-FFF2-40B4-BE49-F238E27FC236}">
                <a16:creationId xmlns:a16="http://schemas.microsoft.com/office/drawing/2014/main" id="{4D5A02C9-2322-683A-9A95-D4FE6BA2061E}"/>
              </a:ext>
            </a:extLst>
          </p:cNvPr>
          <p:cNvSpPr txBox="1"/>
          <p:nvPr/>
        </p:nvSpPr>
        <p:spPr>
          <a:xfrm>
            <a:off x="5536598" y="1840535"/>
            <a:ext cx="978502" cy="369332"/>
          </a:xfrm>
          <a:prstGeom prst="rect">
            <a:avLst/>
          </a:prstGeom>
          <a:noFill/>
        </p:spPr>
        <p:txBody>
          <a:bodyPr wrap="square" rtlCol="0">
            <a:spAutoFit/>
          </a:bodyPr>
          <a:lstStyle/>
          <a:p>
            <a:r>
              <a:rPr lang="en-US" dirty="0"/>
              <a:t>~25,000</a:t>
            </a:r>
          </a:p>
        </p:txBody>
      </p:sp>
      <p:sp>
        <p:nvSpPr>
          <p:cNvPr id="29" name="TextBox 28">
            <a:extLst>
              <a:ext uri="{FF2B5EF4-FFF2-40B4-BE49-F238E27FC236}">
                <a16:creationId xmlns:a16="http://schemas.microsoft.com/office/drawing/2014/main" id="{F66AF718-D672-5589-54A4-617F5C2959E6}"/>
              </a:ext>
            </a:extLst>
          </p:cNvPr>
          <p:cNvSpPr txBox="1"/>
          <p:nvPr/>
        </p:nvSpPr>
        <p:spPr>
          <a:xfrm>
            <a:off x="5486800" y="2545874"/>
            <a:ext cx="1001486" cy="369332"/>
          </a:xfrm>
          <a:prstGeom prst="rect">
            <a:avLst/>
          </a:prstGeom>
          <a:noFill/>
        </p:spPr>
        <p:txBody>
          <a:bodyPr wrap="square" rtlCol="0">
            <a:spAutoFit/>
          </a:bodyPr>
          <a:lstStyle/>
          <a:p>
            <a:r>
              <a:rPr lang="en-US" dirty="0"/>
              <a:t>20,550</a:t>
            </a:r>
          </a:p>
        </p:txBody>
      </p:sp>
      <p:sp>
        <p:nvSpPr>
          <p:cNvPr id="30" name="TextBox 29">
            <a:extLst>
              <a:ext uri="{FF2B5EF4-FFF2-40B4-BE49-F238E27FC236}">
                <a16:creationId xmlns:a16="http://schemas.microsoft.com/office/drawing/2014/main" id="{1D316157-A791-0B25-E78F-2C29898FA3DD}"/>
              </a:ext>
            </a:extLst>
          </p:cNvPr>
          <p:cNvSpPr txBox="1"/>
          <p:nvPr/>
        </p:nvSpPr>
        <p:spPr>
          <a:xfrm>
            <a:off x="5475514" y="3302221"/>
            <a:ext cx="1240971" cy="369332"/>
          </a:xfrm>
          <a:prstGeom prst="rect">
            <a:avLst/>
          </a:prstGeom>
          <a:noFill/>
        </p:spPr>
        <p:txBody>
          <a:bodyPr wrap="square" rtlCol="0">
            <a:spAutoFit/>
          </a:bodyPr>
          <a:lstStyle/>
          <a:p>
            <a:r>
              <a:rPr lang="en-US" dirty="0"/>
              <a:t>5,159</a:t>
            </a:r>
          </a:p>
        </p:txBody>
      </p:sp>
      <p:sp>
        <p:nvSpPr>
          <p:cNvPr id="31" name="TextBox 30">
            <a:extLst>
              <a:ext uri="{FF2B5EF4-FFF2-40B4-BE49-F238E27FC236}">
                <a16:creationId xmlns:a16="http://schemas.microsoft.com/office/drawing/2014/main" id="{0B9B73B3-FC5E-9061-6EAC-38A298471928}"/>
              </a:ext>
            </a:extLst>
          </p:cNvPr>
          <p:cNvSpPr txBox="1"/>
          <p:nvPr/>
        </p:nvSpPr>
        <p:spPr>
          <a:xfrm>
            <a:off x="5522579" y="4060088"/>
            <a:ext cx="652743" cy="369332"/>
          </a:xfrm>
          <a:prstGeom prst="rect">
            <a:avLst/>
          </a:prstGeom>
          <a:noFill/>
        </p:spPr>
        <p:txBody>
          <a:bodyPr wrap="none" rtlCol="0">
            <a:spAutoFit/>
          </a:bodyPr>
          <a:lstStyle/>
          <a:p>
            <a:r>
              <a:rPr lang="en-US" dirty="0"/>
              <a:t>2501</a:t>
            </a:r>
          </a:p>
        </p:txBody>
      </p:sp>
      <p:sp>
        <p:nvSpPr>
          <p:cNvPr id="32" name="TextBox 31">
            <a:extLst>
              <a:ext uri="{FF2B5EF4-FFF2-40B4-BE49-F238E27FC236}">
                <a16:creationId xmlns:a16="http://schemas.microsoft.com/office/drawing/2014/main" id="{B10DC421-3BEA-756B-25EC-F9C764003232}"/>
              </a:ext>
            </a:extLst>
          </p:cNvPr>
          <p:cNvSpPr txBox="1"/>
          <p:nvPr/>
        </p:nvSpPr>
        <p:spPr>
          <a:xfrm>
            <a:off x="5530549" y="4937877"/>
            <a:ext cx="790027" cy="369332"/>
          </a:xfrm>
          <a:prstGeom prst="rect">
            <a:avLst/>
          </a:prstGeom>
          <a:noFill/>
        </p:spPr>
        <p:txBody>
          <a:bodyPr wrap="square" rtlCol="0">
            <a:spAutoFit/>
          </a:bodyPr>
          <a:lstStyle/>
          <a:p>
            <a:r>
              <a:rPr lang="en-US" dirty="0"/>
              <a:t>1498</a:t>
            </a:r>
          </a:p>
        </p:txBody>
      </p:sp>
      <p:sp>
        <p:nvSpPr>
          <p:cNvPr id="3" name="TextBox 2">
            <a:extLst>
              <a:ext uri="{FF2B5EF4-FFF2-40B4-BE49-F238E27FC236}">
                <a16:creationId xmlns:a16="http://schemas.microsoft.com/office/drawing/2014/main" id="{AA18F3D6-475D-F427-F45A-C2A69DA814C9}"/>
              </a:ext>
            </a:extLst>
          </p:cNvPr>
          <p:cNvSpPr txBox="1"/>
          <p:nvPr/>
        </p:nvSpPr>
        <p:spPr>
          <a:xfrm>
            <a:off x="6670621" y="1471203"/>
            <a:ext cx="5268686" cy="1477328"/>
          </a:xfrm>
          <a:prstGeom prst="rect">
            <a:avLst/>
          </a:prstGeom>
          <a:noFill/>
        </p:spPr>
        <p:txBody>
          <a:bodyPr wrap="square" rtlCol="0">
            <a:spAutoFit/>
          </a:bodyPr>
          <a:lstStyle/>
          <a:p>
            <a:r>
              <a:rPr lang="en-US" dirty="0">
                <a:solidFill>
                  <a:schemeClr val="bg1"/>
                </a:solidFill>
              </a:rPr>
              <a:t>Hidden Markov models were created from alignments of the gold standards (HMMR3). Aswell as a PFAM hmm profile of N terminal domain which encompasses the ATP binding domains and ssDNA binding site. [3]</a:t>
            </a:r>
          </a:p>
        </p:txBody>
      </p:sp>
    </p:spTree>
    <p:extLst>
      <p:ext uri="{BB962C8B-B14F-4D97-AF65-F5344CB8AC3E}">
        <p14:creationId xmlns:p14="http://schemas.microsoft.com/office/powerpoint/2010/main" val="6555117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6DDCE1-5B33-392D-FCED-71A475E5F1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397239-5F7C-4E4C-EDF5-E3A8A4BF137C}"/>
              </a:ext>
            </a:extLst>
          </p:cNvPr>
          <p:cNvSpPr>
            <a:spLocks noGrp="1"/>
          </p:cNvSpPr>
          <p:nvPr>
            <p:ph type="ctrTitle"/>
          </p:nvPr>
        </p:nvSpPr>
        <p:spPr>
          <a:xfrm>
            <a:off x="703400" y="871759"/>
            <a:ext cx="5227171" cy="794672"/>
          </a:xfrm>
        </p:spPr>
        <p:txBody>
          <a:bodyPr>
            <a:normAutofit/>
          </a:bodyPr>
          <a:lstStyle/>
          <a:p>
            <a:pPr>
              <a:lnSpc>
                <a:spcPct val="90000"/>
              </a:lnSpc>
            </a:pPr>
            <a:r>
              <a:rPr lang="en-US" sz="4200" dirty="0"/>
              <a:t>Database curation</a:t>
            </a:r>
          </a:p>
        </p:txBody>
      </p:sp>
      <p:pic>
        <p:nvPicPr>
          <p:cNvPr id="4" name="Picture 3">
            <a:extLst>
              <a:ext uri="{FF2B5EF4-FFF2-40B4-BE49-F238E27FC236}">
                <a16:creationId xmlns:a16="http://schemas.microsoft.com/office/drawing/2014/main" id="{06D9CDBA-15A9-1BE6-E4E2-A2D4156D53BB}"/>
              </a:ext>
            </a:extLst>
          </p:cNvPr>
          <p:cNvPicPr>
            <a:picLocks noChangeAspect="1"/>
          </p:cNvPicPr>
          <p:nvPr/>
        </p:nvPicPr>
        <p:blipFill>
          <a:blip r:embed="rId3"/>
          <a:srcRect r="17222"/>
          <a:stretch>
            <a:fillRect/>
          </a:stretch>
        </p:blipFill>
        <p:spPr>
          <a:xfrm>
            <a:off x="6515100" y="10"/>
            <a:ext cx="5676900" cy="6857990"/>
          </a:xfrm>
          <a:prstGeom prst="rect">
            <a:avLst/>
          </a:prstGeom>
        </p:spPr>
      </p:pic>
      <p:sp>
        <p:nvSpPr>
          <p:cNvPr id="5" name="TextBox 4">
            <a:extLst>
              <a:ext uri="{FF2B5EF4-FFF2-40B4-BE49-F238E27FC236}">
                <a16:creationId xmlns:a16="http://schemas.microsoft.com/office/drawing/2014/main" id="{DC1FBAE5-F8B7-F104-C5EC-62B56657310E}"/>
              </a:ext>
            </a:extLst>
          </p:cNvPr>
          <p:cNvSpPr txBox="1"/>
          <p:nvPr/>
        </p:nvSpPr>
        <p:spPr>
          <a:xfrm>
            <a:off x="6716485" y="197346"/>
            <a:ext cx="5288643" cy="1754326"/>
          </a:xfrm>
          <a:prstGeom prst="rect">
            <a:avLst/>
          </a:prstGeom>
          <a:noFill/>
        </p:spPr>
        <p:txBody>
          <a:bodyPr wrap="square" rtlCol="0">
            <a:spAutoFit/>
          </a:bodyPr>
          <a:lstStyle/>
          <a:p>
            <a:r>
              <a:rPr lang="en-US" dirty="0">
                <a:solidFill>
                  <a:schemeClr val="bg1"/>
                </a:solidFill>
              </a:rPr>
              <a:t>Walker A: </a:t>
            </a:r>
            <a:r>
              <a:rPr lang="en-GB" dirty="0">
                <a:solidFill>
                  <a:schemeClr val="bg1"/>
                </a:solidFill>
              </a:rPr>
              <a:t>[GA]....[GF]K[TS]</a:t>
            </a:r>
          </a:p>
          <a:p>
            <a:r>
              <a:rPr lang="en-GB" dirty="0">
                <a:solidFill>
                  <a:schemeClr val="bg1"/>
                </a:solidFill>
              </a:rPr>
              <a:t>Binds ATP</a:t>
            </a:r>
          </a:p>
          <a:p>
            <a:r>
              <a:rPr lang="en-US" dirty="0">
                <a:solidFill>
                  <a:schemeClr val="bg1"/>
                </a:solidFill>
              </a:rPr>
              <a:t>Walker B: </a:t>
            </a:r>
            <a:r>
              <a:rPr lang="en-US" dirty="0" err="1">
                <a:solidFill>
                  <a:schemeClr val="bg1"/>
                </a:solidFill>
              </a:rPr>
              <a:t>hhhhD</a:t>
            </a:r>
            <a:endParaRPr lang="en-US" dirty="0">
              <a:solidFill>
                <a:schemeClr val="bg1"/>
              </a:solidFill>
            </a:endParaRPr>
          </a:p>
          <a:p>
            <a:r>
              <a:rPr lang="en-US" dirty="0">
                <a:solidFill>
                  <a:schemeClr val="bg1"/>
                </a:solidFill>
              </a:rPr>
              <a:t>h = hydrophobic residue</a:t>
            </a:r>
          </a:p>
          <a:p>
            <a:r>
              <a:rPr lang="en-US" dirty="0">
                <a:solidFill>
                  <a:schemeClr val="bg1"/>
                </a:solidFill>
              </a:rPr>
              <a:t>Enables ATP hydrolysis</a:t>
            </a:r>
          </a:p>
          <a:p>
            <a:endParaRPr lang="en-US" dirty="0">
              <a:solidFill>
                <a:schemeClr val="bg1"/>
              </a:solidFill>
            </a:endParaRPr>
          </a:p>
        </p:txBody>
      </p:sp>
      <p:sp>
        <p:nvSpPr>
          <p:cNvPr id="6" name="Triangle 5">
            <a:extLst>
              <a:ext uri="{FF2B5EF4-FFF2-40B4-BE49-F238E27FC236}">
                <a16:creationId xmlns:a16="http://schemas.microsoft.com/office/drawing/2014/main" id="{D03192FD-B623-60F5-FDA9-6DEAE82F6F27}"/>
              </a:ext>
            </a:extLst>
          </p:cNvPr>
          <p:cNvSpPr/>
          <p:nvPr/>
        </p:nvSpPr>
        <p:spPr>
          <a:xfrm rot="10800000">
            <a:off x="972185" y="1666431"/>
            <a:ext cx="4689599" cy="4361096"/>
          </a:xfrm>
          <a:prstGeom prst="triangle">
            <a:avLst/>
          </a:prstGeom>
          <a:solidFill>
            <a:srgbClr val="00B0F0"/>
          </a:solidFill>
          <a:ln w="12700" cap="flat" cmpd="sng" algn="ctr">
            <a:solidFill>
              <a:schemeClr val="accent1">
                <a:shade val="50000"/>
              </a:schemeClr>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8" name="Straight Connector 7">
            <a:extLst>
              <a:ext uri="{FF2B5EF4-FFF2-40B4-BE49-F238E27FC236}">
                <a16:creationId xmlns:a16="http://schemas.microsoft.com/office/drawing/2014/main" id="{FB011BF8-00D6-A663-C844-1FCFD0B8E03A}"/>
              </a:ext>
            </a:extLst>
          </p:cNvPr>
          <p:cNvCxnSpPr>
            <a:cxnSpLocks/>
          </p:cNvCxnSpPr>
          <p:nvPr/>
        </p:nvCxnSpPr>
        <p:spPr>
          <a:xfrm>
            <a:off x="1349829" y="2383971"/>
            <a:ext cx="3907971" cy="0"/>
          </a:xfrm>
          <a:prstGeom prst="line">
            <a:avLst/>
          </a:prstGeom>
        </p:spPr>
        <p:style>
          <a:lnRef idx="3">
            <a:schemeClr val="dk1"/>
          </a:lnRef>
          <a:fillRef idx="0">
            <a:schemeClr val="dk1"/>
          </a:fillRef>
          <a:effectRef idx="2">
            <a:schemeClr val="dk1"/>
          </a:effectRef>
          <a:fontRef idx="minor">
            <a:schemeClr val="tx1"/>
          </a:fontRef>
        </p:style>
      </p:cxnSp>
      <p:cxnSp>
        <p:nvCxnSpPr>
          <p:cNvPr id="9" name="Straight Connector 8">
            <a:extLst>
              <a:ext uri="{FF2B5EF4-FFF2-40B4-BE49-F238E27FC236}">
                <a16:creationId xmlns:a16="http://schemas.microsoft.com/office/drawing/2014/main" id="{B0781632-6CE9-FAD1-A77E-78CE401CC680}"/>
              </a:ext>
            </a:extLst>
          </p:cNvPr>
          <p:cNvCxnSpPr>
            <a:cxnSpLocks/>
          </p:cNvCxnSpPr>
          <p:nvPr/>
        </p:nvCxnSpPr>
        <p:spPr>
          <a:xfrm>
            <a:off x="1779815" y="3105834"/>
            <a:ext cx="3118756" cy="0"/>
          </a:xfrm>
          <a:prstGeom prst="line">
            <a:avLst/>
          </a:prstGeom>
        </p:spPr>
        <p:style>
          <a:lnRef idx="3">
            <a:schemeClr val="dk1"/>
          </a:lnRef>
          <a:fillRef idx="0">
            <a:schemeClr val="dk1"/>
          </a:fillRef>
          <a:effectRef idx="2">
            <a:schemeClr val="dk1"/>
          </a:effectRef>
          <a:fontRef idx="minor">
            <a:schemeClr val="tx1"/>
          </a:fontRef>
        </p:style>
      </p:cxnSp>
      <p:cxnSp>
        <p:nvCxnSpPr>
          <p:cNvPr id="11" name="Straight Connector 10">
            <a:extLst>
              <a:ext uri="{FF2B5EF4-FFF2-40B4-BE49-F238E27FC236}">
                <a16:creationId xmlns:a16="http://schemas.microsoft.com/office/drawing/2014/main" id="{B1A3FC9B-0A3A-7B47-61A4-231ED4995EB3}"/>
              </a:ext>
            </a:extLst>
          </p:cNvPr>
          <p:cNvCxnSpPr>
            <a:cxnSpLocks/>
            <a:endCxn id="6" idx="1"/>
          </p:cNvCxnSpPr>
          <p:nvPr/>
        </p:nvCxnSpPr>
        <p:spPr>
          <a:xfrm flipV="1">
            <a:off x="2156584" y="3846979"/>
            <a:ext cx="2332800" cy="3405"/>
          </a:xfrm>
          <a:prstGeom prst="line">
            <a:avLst/>
          </a:prstGeom>
        </p:spPr>
        <p:style>
          <a:lnRef idx="3">
            <a:schemeClr val="dk1"/>
          </a:lnRef>
          <a:fillRef idx="0">
            <a:schemeClr val="dk1"/>
          </a:fillRef>
          <a:effectRef idx="2">
            <a:schemeClr val="dk1"/>
          </a:effectRef>
          <a:fontRef idx="minor">
            <a:schemeClr val="tx1"/>
          </a:fontRef>
        </p:style>
      </p:cxnSp>
      <p:cxnSp>
        <p:nvCxnSpPr>
          <p:cNvPr id="13" name="Straight Connector 12">
            <a:extLst>
              <a:ext uri="{FF2B5EF4-FFF2-40B4-BE49-F238E27FC236}">
                <a16:creationId xmlns:a16="http://schemas.microsoft.com/office/drawing/2014/main" id="{8952F096-E6CF-5C7D-6A40-D46840AA93EA}"/>
              </a:ext>
            </a:extLst>
          </p:cNvPr>
          <p:cNvCxnSpPr>
            <a:cxnSpLocks/>
          </p:cNvCxnSpPr>
          <p:nvPr/>
        </p:nvCxnSpPr>
        <p:spPr>
          <a:xfrm>
            <a:off x="2558277" y="4614641"/>
            <a:ext cx="1491209" cy="0"/>
          </a:xfrm>
          <a:prstGeom prst="line">
            <a:avLst/>
          </a:prstGeom>
        </p:spPr>
        <p:style>
          <a:lnRef idx="3">
            <a:schemeClr val="dk1"/>
          </a:lnRef>
          <a:fillRef idx="0">
            <a:schemeClr val="dk1"/>
          </a:fillRef>
          <a:effectRef idx="2">
            <a:schemeClr val="dk1"/>
          </a:effectRef>
          <a:fontRef idx="minor">
            <a:schemeClr val="tx1"/>
          </a:fontRef>
        </p:style>
      </p:cxnSp>
      <p:sp>
        <p:nvSpPr>
          <p:cNvPr id="19" name="TextBox 18">
            <a:extLst>
              <a:ext uri="{FF2B5EF4-FFF2-40B4-BE49-F238E27FC236}">
                <a16:creationId xmlns:a16="http://schemas.microsoft.com/office/drawing/2014/main" id="{D53E7F75-6028-E49B-B563-19156F39B1A9}"/>
              </a:ext>
            </a:extLst>
          </p:cNvPr>
          <p:cNvSpPr txBox="1"/>
          <p:nvPr/>
        </p:nvSpPr>
        <p:spPr>
          <a:xfrm>
            <a:off x="2808513" y="3280577"/>
            <a:ext cx="1034143" cy="369332"/>
          </a:xfrm>
          <a:prstGeom prst="rect">
            <a:avLst/>
          </a:prstGeom>
          <a:noFill/>
        </p:spPr>
        <p:txBody>
          <a:bodyPr wrap="square" rtlCol="0">
            <a:spAutoFit/>
          </a:bodyPr>
          <a:lstStyle/>
          <a:p>
            <a:r>
              <a:rPr lang="en-US" dirty="0"/>
              <a:t>Filtering</a:t>
            </a:r>
          </a:p>
        </p:txBody>
      </p:sp>
      <p:sp>
        <p:nvSpPr>
          <p:cNvPr id="20" name="TextBox 19">
            <a:extLst>
              <a:ext uri="{FF2B5EF4-FFF2-40B4-BE49-F238E27FC236}">
                <a16:creationId xmlns:a16="http://schemas.microsoft.com/office/drawing/2014/main" id="{889E373D-A6FB-F5EB-936F-C2D72A807290}"/>
              </a:ext>
            </a:extLst>
          </p:cNvPr>
          <p:cNvSpPr txBox="1"/>
          <p:nvPr/>
        </p:nvSpPr>
        <p:spPr>
          <a:xfrm>
            <a:off x="2566584" y="2547712"/>
            <a:ext cx="1644462" cy="369332"/>
          </a:xfrm>
          <a:prstGeom prst="rect">
            <a:avLst/>
          </a:prstGeom>
          <a:noFill/>
        </p:spPr>
        <p:txBody>
          <a:bodyPr wrap="square" rtlCol="0">
            <a:spAutoFit/>
          </a:bodyPr>
          <a:lstStyle/>
          <a:p>
            <a:r>
              <a:rPr lang="en-US" dirty="0"/>
              <a:t>Deduplication</a:t>
            </a:r>
          </a:p>
        </p:txBody>
      </p:sp>
      <p:sp>
        <p:nvSpPr>
          <p:cNvPr id="22" name="TextBox 21">
            <a:extLst>
              <a:ext uri="{FF2B5EF4-FFF2-40B4-BE49-F238E27FC236}">
                <a16:creationId xmlns:a16="http://schemas.microsoft.com/office/drawing/2014/main" id="{79E1E3E1-20C1-B2FD-C23A-ECD9A102B7BC}"/>
              </a:ext>
            </a:extLst>
          </p:cNvPr>
          <p:cNvSpPr txBox="1"/>
          <p:nvPr/>
        </p:nvSpPr>
        <p:spPr>
          <a:xfrm>
            <a:off x="2558277" y="1796909"/>
            <a:ext cx="1603358" cy="369332"/>
          </a:xfrm>
          <a:prstGeom prst="rect">
            <a:avLst/>
          </a:prstGeom>
          <a:noFill/>
        </p:spPr>
        <p:txBody>
          <a:bodyPr wrap="square" rtlCol="0">
            <a:spAutoFit/>
          </a:bodyPr>
          <a:lstStyle/>
          <a:p>
            <a:r>
              <a:rPr lang="en-US" dirty="0"/>
              <a:t>Query Search</a:t>
            </a:r>
          </a:p>
        </p:txBody>
      </p:sp>
      <p:sp>
        <p:nvSpPr>
          <p:cNvPr id="26" name="TextBox 25">
            <a:extLst>
              <a:ext uri="{FF2B5EF4-FFF2-40B4-BE49-F238E27FC236}">
                <a16:creationId xmlns:a16="http://schemas.microsoft.com/office/drawing/2014/main" id="{B119023E-0FF8-0C9E-2FF6-F4065845DABB}"/>
              </a:ext>
            </a:extLst>
          </p:cNvPr>
          <p:cNvSpPr txBox="1"/>
          <p:nvPr/>
        </p:nvSpPr>
        <p:spPr>
          <a:xfrm>
            <a:off x="2786842" y="4029234"/>
            <a:ext cx="1262644" cy="369332"/>
          </a:xfrm>
          <a:prstGeom prst="rect">
            <a:avLst/>
          </a:prstGeom>
          <a:noFill/>
        </p:spPr>
        <p:txBody>
          <a:bodyPr wrap="square" rtlCol="0">
            <a:spAutoFit/>
          </a:bodyPr>
          <a:lstStyle/>
          <a:p>
            <a:r>
              <a:rPr lang="en-US" dirty="0"/>
              <a:t>HMMs</a:t>
            </a:r>
          </a:p>
        </p:txBody>
      </p:sp>
      <p:sp>
        <p:nvSpPr>
          <p:cNvPr id="27" name="TextBox 26">
            <a:extLst>
              <a:ext uri="{FF2B5EF4-FFF2-40B4-BE49-F238E27FC236}">
                <a16:creationId xmlns:a16="http://schemas.microsoft.com/office/drawing/2014/main" id="{4132DF32-6CBA-1B0D-0FE0-82BB213EC6DA}"/>
              </a:ext>
            </a:extLst>
          </p:cNvPr>
          <p:cNvSpPr txBox="1"/>
          <p:nvPr/>
        </p:nvSpPr>
        <p:spPr>
          <a:xfrm>
            <a:off x="2898991" y="4822237"/>
            <a:ext cx="1262644" cy="369332"/>
          </a:xfrm>
          <a:prstGeom prst="rect">
            <a:avLst/>
          </a:prstGeom>
          <a:noFill/>
        </p:spPr>
        <p:txBody>
          <a:bodyPr wrap="square" rtlCol="0">
            <a:spAutoFit/>
          </a:bodyPr>
          <a:lstStyle/>
          <a:p>
            <a:r>
              <a:rPr lang="en-US" dirty="0"/>
              <a:t>Motif</a:t>
            </a:r>
          </a:p>
        </p:txBody>
      </p:sp>
      <p:sp>
        <p:nvSpPr>
          <p:cNvPr id="28" name="TextBox 27">
            <a:extLst>
              <a:ext uri="{FF2B5EF4-FFF2-40B4-BE49-F238E27FC236}">
                <a16:creationId xmlns:a16="http://schemas.microsoft.com/office/drawing/2014/main" id="{EDE96048-C542-D8A7-23B5-136026812D47}"/>
              </a:ext>
            </a:extLst>
          </p:cNvPr>
          <p:cNvSpPr txBox="1"/>
          <p:nvPr/>
        </p:nvSpPr>
        <p:spPr>
          <a:xfrm>
            <a:off x="5536598" y="1840535"/>
            <a:ext cx="978502" cy="369332"/>
          </a:xfrm>
          <a:prstGeom prst="rect">
            <a:avLst/>
          </a:prstGeom>
          <a:noFill/>
        </p:spPr>
        <p:txBody>
          <a:bodyPr wrap="square" rtlCol="0">
            <a:spAutoFit/>
          </a:bodyPr>
          <a:lstStyle/>
          <a:p>
            <a:r>
              <a:rPr lang="en-US" dirty="0"/>
              <a:t>~25,000</a:t>
            </a:r>
          </a:p>
        </p:txBody>
      </p:sp>
      <p:sp>
        <p:nvSpPr>
          <p:cNvPr id="29" name="TextBox 28">
            <a:extLst>
              <a:ext uri="{FF2B5EF4-FFF2-40B4-BE49-F238E27FC236}">
                <a16:creationId xmlns:a16="http://schemas.microsoft.com/office/drawing/2014/main" id="{FB3FCA13-A0DF-C280-F8E7-5A0D0020895C}"/>
              </a:ext>
            </a:extLst>
          </p:cNvPr>
          <p:cNvSpPr txBox="1"/>
          <p:nvPr/>
        </p:nvSpPr>
        <p:spPr>
          <a:xfrm>
            <a:off x="5486800" y="2545874"/>
            <a:ext cx="1001486" cy="369332"/>
          </a:xfrm>
          <a:prstGeom prst="rect">
            <a:avLst/>
          </a:prstGeom>
          <a:noFill/>
        </p:spPr>
        <p:txBody>
          <a:bodyPr wrap="square" rtlCol="0">
            <a:spAutoFit/>
          </a:bodyPr>
          <a:lstStyle/>
          <a:p>
            <a:r>
              <a:rPr lang="en-US" dirty="0"/>
              <a:t>20,550</a:t>
            </a:r>
          </a:p>
        </p:txBody>
      </p:sp>
      <p:sp>
        <p:nvSpPr>
          <p:cNvPr id="30" name="TextBox 29">
            <a:extLst>
              <a:ext uri="{FF2B5EF4-FFF2-40B4-BE49-F238E27FC236}">
                <a16:creationId xmlns:a16="http://schemas.microsoft.com/office/drawing/2014/main" id="{61F3AB92-7449-2EAD-7113-EF9A26A060D3}"/>
              </a:ext>
            </a:extLst>
          </p:cNvPr>
          <p:cNvSpPr txBox="1"/>
          <p:nvPr/>
        </p:nvSpPr>
        <p:spPr>
          <a:xfrm>
            <a:off x="5475514" y="3302221"/>
            <a:ext cx="1240971" cy="369332"/>
          </a:xfrm>
          <a:prstGeom prst="rect">
            <a:avLst/>
          </a:prstGeom>
          <a:noFill/>
        </p:spPr>
        <p:txBody>
          <a:bodyPr wrap="square" rtlCol="0">
            <a:spAutoFit/>
          </a:bodyPr>
          <a:lstStyle/>
          <a:p>
            <a:r>
              <a:rPr lang="en-US" dirty="0"/>
              <a:t>5,159</a:t>
            </a:r>
          </a:p>
        </p:txBody>
      </p:sp>
      <p:sp>
        <p:nvSpPr>
          <p:cNvPr id="31" name="TextBox 30">
            <a:extLst>
              <a:ext uri="{FF2B5EF4-FFF2-40B4-BE49-F238E27FC236}">
                <a16:creationId xmlns:a16="http://schemas.microsoft.com/office/drawing/2014/main" id="{7C44DD05-B8E4-1BDD-F285-601196F64865}"/>
              </a:ext>
            </a:extLst>
          </p:cNvPr>
          <p:cNvSpPr txBox="1"/>
          <p:nvPr/>
        </p:nvSpPr>
        <p:spPr>
          <a:xfrm>
            <a:off x="5522579" y="4060088"/>
            <a:ext cx="652743" cy="369332"/>
          </a:xfrm>
          <a:prstGeom prst="rect">
            <a:avLst/>
          </a:prstGeom>
          <a:noFill/>
        </p:spPr>
        <p:txBody>
          <a:bodyPr wrap="none" rtlCol="0">
            <a:spAutoFit/>
          </a:bodyPr>
          <a:lstStyle/>
          <a:p>
            <a:r>
              <a:rPr lang="en-US" dirty="0"/>
              <a:t>2501</a:t>
            </a:r>
          </a:p>
        </p:txBody>
      </p:sp>
      <p:sp>
        <p:nvSpPr>
          <p:cNvPr id="32" name="TextBox 31">
            <a:extLst>
              <a:ext uri="{FF2B5EF4-FFF2-40B4-BE49-F238E27FC236}">
                <a16:creationId xmlns:a16="http://schemas.microsoft.com/office/drawing/2014/main" id="{DCD78F3B-715A-9B53-20A4-FA32E3B72481}"/>
              </a:ext>
            </a:extLst>
          </p:cNvPr>
          <p:cNvSpPr txBox="1"/>
          <p:nvPr/>
        </p:nvSpPr>
        <p:spPr>
          <a:xfrm>
            <a:off x="5530549" y="4937877"/>
            <a:ext cx="790027" cy="369332"/>
          </a:xfrm>
          <a:prstGeom prst="rect">
            <a:avLst/>
          </a:prstGeom>
          <a:noFill/>
        </p:spPr>
        <p:txBody>
          <a:bodyPr wrap="square" rtlCol="0">
            <a:spAutoFit/>
          </a:bodyPr>
          <a:lstStyle/>
          <a:p>
            <a:r>
              <a:rPr lang="en-US" dirty="0"/>
              <a:t>1498</a:t>
            </a:r>
          </a:p>
        </p:txBody>
      </p:sp>
      <p:pic>
        <p:nvPicPr>
          <p:cNvPr id="12" name="Picture 11">
            <a:extLst>
              <a:ext uri="{FF2B5EF4-FFF2-40B4-BE49-F238E27FC236}">
                <a16:creationId xmlns:a16="http://schemas.microsoft.com/office/drawing/2014/main" id="{8A7F2C82-97F3-B2A6-3B0F-A795E10C7FB5}"/>
              </a:ext>
            </a:extLst>
          </p:cNvPr>
          <p:cNvPicPr>
            <a:picLocks noChangeAspect="1"/>
          </p:cNvPicPr>
          <p:nvPr/>
        </p:nvPicPr>
        <p:blipFill>
          <a:blip r:embed="rId4"/>
          <a:srcRect l="16564" t="8475" r="15734" b="33774"/>
          <a:stretch/>
        </p:blipFill>
        <p:spPr>
          <a:xfrm>
            <a:off x="7506675" y="1707506"/>
            <a:ext cx="3708261" cy="4828746"/>
          </a:xfrm>
          <a:prstGeom prst="rect">
            <a:avLst/>
          </a:prstGeom>
        </p:spPr>
      </p:pic>
      <p:sp>
        <p:nvSpPr>
          <p:cNvPr id="3" name="TextBox 2">
            <a:extLst>
              <a:ext uri="{FF2B5EF4-FFF2-40B4-BE49-F238E27FC236}">
                <a16:creationId xmlns:a16="http://schemas.microsoft.com/office/drawing/2014/main" id="{1CD17074-239B-1DB7-A468-CE19991A5E4A}"/>
              </a:ext>
            </a:extLst>
          </p:cNvPr>
          <p:cNvSpPr txBox="1"/>
          <p:nvPr/>
        </p:nvSpPr>
        <p:spPr>
          <a:xfrm>
            <a:off x="7499419" y="6536252"/>
            <a:ext cx="3708261" cy="307777"/>
          </a:xfrm>
          <a:prstGeom prst="rect">
            <a:avLst/>
          </a:prstGeom>
          <a:noFill/>
        </p:spPr>
        <p:txBody>
          <a:bodyPr wrap="square" rtlCol="0">
            <a:spAutoFit/>
          </a:bodyPr>
          <a:lstStyle/>
          <a:p>
            <a:r>
              <a:rPr lang="en-US" sz="1400" dirty="0">
                <a:solidFill>
                  <a:schemeClr val="bg1"/>
                </a:solidFill>
              </a:rPr>
              <a:t>Figure 5. Alignment of the gold standards</a:t>
            </a:r>
          </a:p>
        </p:txBody>
      </p:sp>
    </p:spTree>
    <p:extLst>
      <p:ext uri="{BB962C8B-B14F-4D97-AF65-F5344CB8AC3E}">
        <p14:creationId xmlns:p14="http://schemas.microsoft.com/office/powerpoint/2010/main" val="25450480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0B4A5B-53CE-B239-5F53-158180A099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A2AD40-0858-BEB2-4308-8B8AD7105B97}"/>
              </a:ext>
            </a:extLst>
          </p:cNvPr>
          <p:cNvSpPr>
            <a:spLocks noGrp="1"/>
          </p:cNvSpPr>
          <p:nvPr>
            <p:ph type="ctrTitle"/>
          </p:nvPr>
        </p:nvSpPr>
        <p:spPr>
          <a:xfrm>
            <a:off x="703400" y="871759"/>
            <a:ext cx="5227171" cy="794672"/>
          </a:xfrm>
        </p:spPr>
        <p:txBody>
          <a:bodyPr>
            <a:normAutofit fontScale="90000"/>
          </a:bodyPr>
          <a:lstStyle/>
          <a:p>
            <a:pPr>
              <a:lnSpc>
                <a:spcPct val="90000"/>
              </a:lnSpc>
            </a:pPr>
            <a:r>
              <a:rPr lang="en-US" sz="4200" dirty="0"/>
              <a:t>Seq2Topt prediction</a:t>
            </a:r>
          </a:p>
        </p:txBody>
      </p:sp>
      <p:pic>
        <p:nvPicPr>
          <p:cNvPr id="4" name="Picture 3">
            <a:extLst>
              <a:ext uri="{FF2B5EF4-FFF2-40B4-BE49-F238E27FC236}">
                <a16:creationId xmlns:a16="http://schemas.microsoft.com/office/drawing/2014/main" id="{A98E8180-3E7B-18EE-617A-B630D2C1A443}"/>
              </a:ext>
            </a:extLst>
          </p:cNvPr>
          <p:cNvPicPr>
            <a:picLocks noChangeAspect="1"/>
          </p:cNvPicPr>
          <p:nvPr/>
        </p:nvPicPr>
        <p:blipFill>
          <a:blip r:embed="rId3"/>
          <a:srcRect r="17222"/>
          <a:stretch>
            <a:fillRect/>
          </a:stretch>
        </p:blipFill>
        <p:spPr>
          <a:xfrm>
            <a:off x="6515100" y="10"/>
            <a:ext cx="5676900" cy="6857990"/>
          </a:xfrm>
          <a:prstGeom prst="rect">
            <a:avLst/>
          </a:prstGeom>
        </p:spPr>
      </p:pic>
      <p:sp>
        <p:nvSpPr>
          <p:cNvPr id="3" name="TextBox 2">
            <a:extLst>
              <a:ext uri="{FF2B5EF4-FFF2-40B4-BE49-F238E27FC236}">
                <a16:creationId xmlns:a16="http://schemas.microsoft.com/office/drawing/2014/main" id="{B4B5FDDD-CB3F-B077-1910-67CCC884B1DC}"/>
              </a:ext>
            </a:extLst>
          </p:cNvPr>
          <p:cNvSpPr txBox="1"/>
          <p:nvPr/>
        </p:nvSpPr>
        <p:spPr>
          <a:xfrm>
            <a:off x="703400" y="1666431"/>
            <a:ext cx="5392600" cy="5078313"/>
          </a:xfrm>
          <a:prstGeom prst="rect">
            <a:avLst/>
          </a:prstGeom>
          <a:noFill/>
        </p:spPr>
        <p:txBody>
          <a:bodyPr wrap="square" rtlCol="0">
            <a:spAutoFit/>
          </a:bodyPr>
          <a:lstStyle/>
          <a:p>
            <a:r>
              <a:rPr lang="en-GB" dirty="0"/>
              <a:t>Seq2Topt is a deep learning model that predicts enzyme optimal temperature (</a:t>
            </a:r>
            <a:r>
              <a:rPr lang="en-GB" dirty="0" err="1"/>
              <a:t>Topt</a:t>
            </a:r>
            <a:r>
              <a:rPr lang="en-GB" dirty="0"/>
              <a:t>) ab initio.</a:t>
            </a:r>
          </a:p>
          <a:p>
            <a:endParaRPr lang="en-US" dirty="0"/>
          </a:p>
          <a:p>
            <a:pPr>
              <a:buFont typeface="Arial" panose="020B0604020202020204" pitchFamily="34" charset="0"/>
              <a:buChar char="•"/>
            </a:pPr>
            <a:r>
              <a:rPr lang="en-GB" dirty="0"/>
              <a:t>Seq2Topt showed variable predictive accuracy and limited biological interpretability. (RMSE= 12.26◦C and R2= 0.57)</a:t>
            </a:r>
          </a:p>
          <a:p>
            <a:endParaRPr lang="en-GB" dirty="0"/>
          </a:p>
          <a:p>
            <a:pPr>
              <a:buFont typeface="Arial" panose="020B0604020202020204" pitchFamily="34" charset="0"/>
              <a:buChar char="•"/>
            </a:pPr>
            <a:r>
              <a:rPr lang="en-GB" dirty="0"/>
              <a:t>Notably, predictions did not consistently align with known ecological data:</a:t>
            </a:r>
          </a:p>
          <a:p>
            <a:pPr>
              <a:buFont typeface="Arial" panose="020B0604020202020204" pitchFamily="34" charset="0"/>
              <a:buChar char="•"/>
            </a:pPr>
            <a:endParaRPr lang="en-GB" dirty="0"/>
          </a:p>
          <a:p>
            <a:pPr>
              <a:buFont typeface="Arial" panose="020B0604020202020204" pitchFamily="34" charset="0"/>
              <a:buChar char="•"/>
            </a:pPr>
            <a:r>
              <a:rPr lang="en-GB" dirty="0"/>
              <a:t>Psychrophilic 9GBG predicted at higher </a:t>
            </a:r>
            <a:r>
              <a:rPr lang="en-GB" dirty="0" err="1"/>
              <a:t>Topt</a:t>
            </a:r>
            <a:r>
              <a:rPr lang="en-GB" dirty="0"/>
              <a:t> (52.7°C) than thermophilic 7Z3M (45.3°C)</a:t>
            </a:r>
          </a:p>
          <a:p>
            <a:pPr>
              <a:buFont typeface="Arial" panose="020B0604020202020204" pitchFamily="34" charset="0"/>
              <a:buChar char="•"/>
            </a:pPr>
            <a:endParaRPr lang="en-GB" dirty="0"/>
          </a:p>
          <a:p>
            <a:pPr>
              <a:buFont typeface="Arial" panose="020B0604020202020204" pitchFamily="34" charset="0"/>
              <a:buChar char="•"/>
            </a:pPr>
            <a:r>
              <a:rPr lang="en-GB" dirty="0"/>
              <a:t>This contradicts experimental isolation data for 9GBG from near-freezing deep-sea environments (~0.4°C)</a:t>
            </a:r>
          </a:p>
          <a:p>
            <a:endParaRPr lang="en-US" dirty="0"/>
          </a:p>
          <a:p>
            <a:r>
              <a:rPr lang="en-US" dirty="0"/>
              <a:t>[4]</a:t>
            </a:r>
          </a:p>
        </p:txBody>
      </p:sp>
      <p:pic>
        <p:nvPicPr>
          <p:cNvPr id="7" name="Picture 6" descr="A graph of a temperature&#10;&#10;Description automatically generated">
            <a:extLst>
              <a:ext uri="{FF2B5EF4-FFF2-40B4-BE49-F238E27FC236}">
                <a16:creationId xmlns:a16="http://schemas.microsoft.com/office/drawing/2014/main" id="{96BF304D-6773-FE58-B647-DB2AF5524718}"/>
              </a:ext>
            </a:extLst>
          </p:cNvPr>
          <p:cNvPicPr>
            <a:picLocks noChangeAspect="1"/>
          </p:cNvPicPr>
          <p:nvPr/>
        </p:nvPicPr>
        <p:blipFill>
          <a:blip r:embed="rId4"/>
          <a:stretch>
            <a:fillRect/>
          </a:stretch>
        </p:blipFill>
        <p:spPr>
          <a:xfrm>
            <a:off x="6680529" y="1417052"/>
            <a:ext cx="5350924" cy="4023895"/>
          </a:xfrm>
          <a:prstGeom prst="rect">
            <a:avLst/>
          </a:prstGeom>
        </p:spPr>
      </p:pic>
      <p:sp>
        <p:nvSpPr>
          <p:cNvPr id="5" name="TextBox 4">
            <a:extLst>
              <a:ext uri="{FF2B5EF4-FFF2-40B4-BE49-F238E27FC236}">
                <a16:creationId xmlns:a16="http://schemas.microsoft.com/office/drawing/2014/main" id="{6EAF26AE-0ACF-F448-8B30-5D1A6945B517}"/>
              </a:ext>
            </a:extLst>
          </p:cNvPr>
          <p:cNvSpPr txBox="1"/>
          <p:nvPr/>
        </p:nvSpPr>
        <p:spPr>
          <a:xfrm>
            <a:off x="6678088" y="5440947"/>
            <a:ext cx="5350924" cy="307777"/>
          </a:xfrm>
          <a:prstGeom prst="rect">
            <a:avLst/>
          </a:prstGeom>
          <a:noFill/>
        </p:spPr>
        <p:txBody>
          <a:bodyPr wrap="square" rtlCol="0">
            <a:spAutoFit/>
          </a:bodyPr>
          <a:lstStyle/>
          <a:p>
            <a:r>
              <a:rPr lang="en-US" sz="1400" dirty="0">
                <a:solidFill>
                  <a:schemeClr val="bg1"/>
                </a:solidFill>
              </a:rPr>
              <a:t>Figure 6. Distribution of Seq2Topt optimal temperature predictions</a:t>
            </a:r>
          </a:p>
        </p:txBody>
      </p:sp>
    </p:spTree>
    <p:extLst>
      <p:ext uri="{BB962C8B-B14F-4D97-AF65-F5344CB8AC3E}">
        <p14:creationId xmlns:p14="http://schemas.microsoft.com/office/powerpoint/2010/main" val="15309755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008117-9F80-26A0-7DCC-451C2FFDBE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96BCF5-7103-EE95-344A-0385BE147889}"/>
              </a:ext>
            </a:extLst>
          </p:cNvPr>
          <p:cNvSpPr>
            <a:spLocks noGrp="1"/>
          </p:cNvSpPr>
          <p:nvPr>
            <p:ph type="ctrTitle"/>
          </p:nvPr>
        </p:nvSpPr>
        <p:spPr>
          <a:xfrm>
            <a:off x="703400" y="871759"/>
            <a:ext cx="5227171" cy="794672"/>
          </a:xfrm>
        </p:spPr>
        <p:txBody>
          <a:bodyPr>
            <a:normAutofit fontScale="90000"/>
          </a:bodyPr>
          <a:lstStyle/>
          <a:p>
            <a:pPr>
              <a:lnSpc>
                <a:spcPct val="90000"/>
              </a:lnSpc>
            </a:pPr>
            <a:r>
              <a:rPr lang="en-US" sz="4200" dirty="0"/>
              <a:t>Agentic literature search </a:t>
            </a:r>
          </a:p>
        </p:txBody>
      </p:sp>
      <p:pic>
        <p:nvPicPr>
          <p:cNvPr id="4" name="Picture 3">
            <a:extLst>
              <a:ext uri="{FF2B5EF4-FFF2-40B4-BE49-F238E27FC236}">
                <a16:creationId xmlns:a16="http://schemas.microsoft.com/office/drawing/2014/main" id="{E0FDEB1B-A93D-14C7-6375-99C47BDCFA70}"/>
              </a:ext>
            </a:extLst>
          </p:cNvPr>
          <p:cNvPicPr>
            <a:picLocks noChangeAspect="1"/>
          </p:cNvPicPr>
          <p:nvPr/>
        </p:nvPicPr>
        <p:blipFill>
          <a:blip r:embed="rId3"/>
          <a:srcRect r="17222"/>
          <a:stretch>
            <a:fillRect/>
          </a:stretch>
        </p:blipFill>
        <p:spPr>
          <a:xfrm>
            <a:off x="6515100" y="10"/>
            <a:ext cx="5676900" cy="6857990"/>
          </a:xfrm>
          <a:prstGeom prst="rect">
            <a:avLst/>
          </a:prstGeom>
        </p:spPr>
      </p:pic>
      <p:sp>
        <p:nvSpPr>
          <p:cNvPr id="3" name="TextBox 2">
            <a:extLst>
              <a:ext uri="{FF2B5EF4-FFF2-40B4-BE49-F238E27FC236}">
                <a16:creationId xmlns:a16="http://schemas.microsoft.com/office/drawing/2014/main" id="{DC53FAC7-FB6C-DF20-D726-3982BE968E37}"/>
              </a:ext>
            </a:extLst>
          </p:cNvPr>
          <p:cNvSpPr txBox="1"/>
          <p:nvPr/>
        </p:nvSpPr>
        <p:spPr>
          <a:xfrm>
            <a:off x="703400" y="2052918"/>
            <a:ext cx="5392599" cy="5078313"/>
          </a:xfrm>
          <a:prstGeom prst="rect">
            <a:avLst/>
          </a:prstGeom>
          <a:noFill/>
        </p:spPr>
        <p:txBody>
          <a:bodyPr wrap="square" rtlCol="0">
            <a:spAutoFit/>
          </a:bodyPr>
          <a:lstStyle/>
          <a:p>
            <a:pPr marL="285750" indent="-285750">
              <a:buFontTx/>
              <a:buChar char="-"/>
            </a:pPr>
            <a:r>
              <a:rPr lang="en-GB" dirty="0"/>
              <a:t>Metadata may contain implicit information about thermal adaptation. (e.g. sampled from hydrothermal vent, deep snow ice etc.)</a:t>
            </a:r>
          </a:p>
          <a:p>
            <a:pPr marL="285750" indent="-285750">
              <a:buFontTx/>
              <a:buChar char="-"/>
            </a:pPr>
            <a:endParaRPr lang="en-GB" dirty="0"/>
          </a:p>
          <a:p>
            <a:pPr marL="285750" indent="-285750">
              <a:buFontTx/>
              <a:buChar char="-"/>
            </a:pPr>
            <a:r>
              <a:rPr lang="en-GB" dirty="0"/>
              <a:t>Literature may contain implicit or explicit information about thermal adaptation. (e.g. studies on an organisms activity at different temperatures)</a:t>
            </a:r>
          </a:p>
          <a:p>
            <a:pPr marL="285750" indent="-285750">
              <a:buFontTx/>
              <a:buChar char="-"/>
            </a:pPr>
            <a:endParaRPr lang="en-GB" dirty="0"/>
          </a:p>
          <a:p>
            <a:pPr marL="285750" indent="-285750">
              <a:buFontTx/>
              <a:buChar char="-"/>
            </a:pPr>
            <a:r>
              <a:rPr lang="en-GB" dirty="0"/>
              <a:t>Can an Agentic LLM system be used to make accurate classifications of thermal adaptation from literature and metadata.</a:t>
            </a:r>
          </a:p>
          <a:p>
            <a:pPr marL="285750" indent="-285750">
              <a:buFontTx/>
              <a:buChar char="-"/>
            </a:pPr>
            <a:endParaRPr lang="en-GB" dirty="0"/>
          </a:p>
          <a:p>
            <a:pPr marL="285750" indent="-285750">
              <a:buFontTx/>
              <a:buChar char="-"/>
            </a:pPr>
            <a:r>
              <a:rPr lang="en-GB" dirty="0"/>
              <a:t>Created a test dataset, and trialled different versions to optimize for classification accuracy.</a:t>
            </a:r>
          </a:p>
          <a:p>
            <a:endParaRPr lang="en-GB" dirty="0"/>
          </a:p>
          <a:p>
            <a:endParaRPr lang="en-US" dirty="0"/>
          </a:p>
          <a:p>
            <a:endParaRPr lang="en-US" dirty="0"/>
          </a:p>
          <a:p>
            <a:endParaRPr lang="en-US" dirty="0"/>
          </a:p>
        </p:txBody>
      </p:sp>
      <p:sp>
        <p:nvSpPr>
          <p:cNvPr id="5" name="TextBox 4">
            <a:extLst>
              <a:ext uri="{FF2B5EF4-FFF2-40B4-BE49-F238E27FC236}">
                <a16:creationId xmlns:a16="http://schemas.microsoft.com/office/drawing/2014/main" id="{747DF21C-4EF3-5DCF-AFEF-79C093E396DA}"/>
              </a:ext>
            </a:extLst>
          </p:cNvPr>
          <p:cNvSpPr txBox="1"/>
          <p:nvPr/>
        </p:nvSpPr>
        <p:spPr>
          <a:xfrm>
            <a:off x="8439150" y="1570643"/>
            <a:ext cx="1828800" cy="369332"/>
          </a:xfrm>
          <a:prstGeom prst="rect">
            <a:avLst/>
          </a:prstGeom>
          <a:noFill/>
        </p:spPr>
        <p:txBody>
          <a:bodyPr wrap="square" rtlCol="0">
            <a:spAutoFit/>
          </a:bodyPr>
          <a:lstStyle/>
          <a:p>
            <a:r>
              <a:rPr lang="en-US" dirty="0">
                <a:solidFill>
                  <a:schemeClr val="bg1"/>
                </a:solidFill>
              </a:rPr>
              <a:t>Summary Graph</a:t>
            </a:r>
          </a:p>
        </p:txBody>
      </p:sp>
      <p:sp>
        <p:nvSpPr>
          <p:cNvPr id="6" name="TextBox 5">
            <a:extLst>
              <a:ext uri="{FF2B5EF4-FFF2-40B4-BE49-F238E27FC236}">
                <a16:creationId xmlns:a16="http://schemas.microsoft.com/office/drawing/2014/main" id="{858041A9-7613-9D0E-63DE-82B96F488598}"/>
              </a:ext>
            </a:extLst>
          </p:cNvPr>
          <p:cNvSpPr txBox="1"/>
          <p:nvPr/>
        </p:nvSpPr>
        <p:spPr>
          <a:xfrm>
            <a:off x="8357348" y="4249271"/>
            <a:ext cx="2891117" cy="369332"/>
          </a:xfrm>
          <a:prstGeom prst="rect">
            <a:avLst/>
          </a:prstGeom>
          <a:noFill/>
        </p:spPr>
        <p:txBody>
          <a:bodyPr wrap="square" rtlCol="0">
            <a:spAutoFit/>
          </a:bodyPr>
          <a:lstStyle/>
          <a:p>
            <a:r>
              <a:rPr lang="en-US" dirty="0">
                <a:solidFill>
                  <a:schemeClr val="bg1"/>
                </a:solidFill>
              </a:rPr>
              <a:t>Seq2opt / TMP boxplot</a:t>
            </a:r>
          </a:p>
        </p:txBody>
      </p:sp>
      <p:pic>
        <p:nvPicPr>
          <p:cNvPr id="9" name="Picture 8" descr="A diagram of a computer&#10;&#10;Description automatically generated">
            <a:extLst>
              <a:ext uri="{FF2B5EF4-FFF2-40B4-BE49-F238E27FC236}">
                <a16:creationId xmlns:a16="http://schemas.microsoft.com/office/drawing/2014/main" id="{02C646F9-9A51-54AC-E303-3B6B5361733C}"/>
              </a:ext>
            </a:extLst>
          </p:cNvPr>
          <p:cNvPicPr>
            <a:picLocks noChangeAspect="1"/>
          </p:cNvPicPr>
          <p:nvPr/>
        </p:nvPicPr>
        <p:blipFill>
          <a:blip r:embed="rId4"/>
          <a:stretch>
            <a:fillRect/>
          </a:stretch>
        </p:blipFill>
        <p:spPr>
          <a:xfrm>
            <a:off x="7956081" y="682251"/>
            <a:ext cx="2794937" cy="5493498"/>
          </a:xfrm>
          <a:prstGeom prst="rect">
            <a:avLst/>
          </a:prstGeom>
        </p:spPr>
      </p:pic>
      <p:sp>
        <p:nvSpPr>
          <p:cNvPr id="7" name="TextBox 6">
            <a:extLst>
              <a:ext uri="{FF2B5EF4-FFF2-40B4-BE49-F238E27FC236}">
                <a16:creationId xmlns:a16="http://schemas.microsoft.com/office/drawing/2014/main" id="{3034220E-295A-B63D-AFAA-800A78A164F6}"/>
              </a:ext>
            </a:extLst>
          </p:cNvPr>
          <p:cNvSpPr txBox="1"/>
          <p:nvPr/>
        </p:nvSpPr>
        <p:spPr>
          <a:xfrm>
            <a:off x="7956081" y="6209097"/>
            <a:ext cx="2794937" cy="523220"/>
          </a:xfrm>
          <a:prstGeom prst="rect">
            <a:avLst/>
          </a:prstGeom>
          <a:noFill/>
        </p:spPr>
        <p:txBody>
          <a:bodyPr wrap="square" rtlCol="0">
            <a:spAutoFit/>
          </a:bodyPr>
          <a:lstStyle/>
          <a:p>
            <a:r>
              <a:rPr lang="en-US" sz="1400" dirty="0">
                <a:solidFill>
                  <a:schemeClr val="bg1"/>
                </a:solidFill>
              </a:rPr>
              <a:t>Figure 9. Decision graph for TMP Summary </a:t>
            </a:r>
          </a:p>
        </p:txBody>
      </p:sp>
    </p:spTree>
    <p:extLst>
      <p:ext uri="{BB962C8B-B14F-4D97-AF65-F5344CB8AC3E}">
        <p14:creationId xmlns:p14="http://schemas.microsoft.com/office/powerpoint/2010/main" val="1054017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8BB638-B0C9-BF53-EDB6-FEAC0507E3D2}"/>
            </a:ext>
          </a:extLst>
        </p:cNvPr>
        <p:cNvGrpSpPr/>
        <p:nvPr/>
      </p:nvGrpSpPr>
      <p:grpSpPr>
        <a:xfrm>
          <a:off x="0" y="0"/>
          <a:ext cx="0" cy="0"/>
          <a:chOff x="0" y="0"/>
          <a:chExt cx="0" cy="0"/>
        </a:xfrm>
      </p:grpSpPr>
      <p:pic>
        <p:nvPicPr>
          <p:cNvPr id="12" name="Picture 11" descr="A blue squares with white text&#10;&#10;Description automatically generated">
            <a:extLst>
              <a:ext uri="{FF2B5EF4-FFF2-40B4-BE49-F238E27FC236}">
                <a16:creationId xmlns:a16="http://schemas.microsoft.com/office/drawing/2014/main" id="{16221684-51DC-387F-C915-A2D1B3597DC0}"/>
              </a:ext>
            </a:extLst>
          </p:cNvPr>
          <p:cNvPicPr>
            <a:picLocks noChangeAspect="1"/>
          </p:cNvPicPr>
          <p:nvPr/>
        </p:nvPicPr>
        <p:blipFill>
          <a:blip r:embed="rId3"/>
          <a:stretch>
            <a:fillRect/>
          </a:stretch>
        </p:blipFill>
        <p:spPr>
          <a:xfrm>
            <a:off x="8196943" y="1676400"/>
            <a:ext cx="3810175" cy="2824012"/>
          </a:xfrm>
          <a:prstGeom prst="rect">
            <a:avLst/>
          </a:prstGeom>
        </p:spPr>
      </p:pic>
      <p:pic>
        <p:nvPicPr>
          <p:cNvPr id="16" name="Picture 15" descr="A graph of a number of blue squares&#10;&#10;Description automatically generated with medium confidence">
            <a:extLst>
              <a:ext uri="{FF2B5EF4-FFF2-40B4-BE49-F238E27FC236}">
                <a16:creationId xmlns:a16="http://schemas.microsoft.com/office/drawing/2014/main" id="{B8FC5795-39EE-902E-EF53-0C27D1309460}"/>
              </a:ext>
            </a:extLst>
          </p:cNvPr>
          <p:cNvPicPr>
            <a:picLocks noChangeAspect="1"/>
          </p:cNvPicPr>
          <p:nvPr/>
        </p:nvPicPr>
        <p:blipFill>
          <a:blip r:embed="rId4"/>
          <a:stretch>
            <a:fillRect/>
          </a:stretch>
        </p:blipFill>
        <p:spPr>
          <a:xfrm>
            <a:off x="4110153" y="1676399"/>
            <a:ext cx="3810176" cy="2824013"/>
          </a:xfrm>
          <a:prstGeom prst="rect">
            <a:avLst/>
          </a:prstGeom>
        </p:spPr>
      </p:pic>
      <p:cxnSp>
        <p:nvCxnSpPr>
          <p:cNvPr id="18" name="Straight Connector 17">
            <a:extLst>
              <a:ext uri="{FF2B5EF4-FFF2-40B4-BE49-F238E27FC236}">
                <a16:creationId xmlns:a16="http://schemas.microsoft.com/office/drawing/2014/main" id="{DE43005C-1FA5-FE05-AE34-D2F1D47A2CC4}"/>
              </a:ext>
            </a:extLst>
          </p:cNvPr>
          <p:cNvCxnSpPr/>
          <p:nvPr/>
        </p:nvCxnSpPr>
        <p:spPr>
          <a:xfrm>
            <a:off x="4049486" y="718457"/>
            <a:ext cx="0" cy="5421086"/>
          </a:xfrm>
          <a:prstGeom prst="line">
            <a:avLst/>
          </a:prstGeom>
        </p:spPr>
        <p:style>
          <a:lnRef idx="3">
            <a:schemeClr val="dk1"/>
          </a:lnRef>
          <a:fillRef idx="0">
            <a:schemeClr val="dk1"/>
          </a:fillRef>
          <a:effectRef idx="2">
            <a:schemeClr val="dk1"/>
          </a:effectRef>
          <a:fontRef idx="minor">
            <a:schemeClr val="tx1"/>
          </a:fontRef>
        </p:style>
      </p:cxnSp>
      <p:cxnSp>
        <p:nvCxnSpPr>
          <p:cNvPr id="19" name="Straight Connector 18">
            <a:extLst>
              <a:ext uri="{FF2B5EF4-FFF2-40B4-BE49-F238E27FC236}">
                <a16:creationId xmlns:a16="http://schemas.microsoft.com/office/drawing/2014/main" id="{712450E4-7467-7290-529D-B58647A63770}"/>
              </a:ext>
            </a:extLst>
          </p:cNvPr>
          <p:cNvCxnSpPr/>
          <p:nvPr/>
        </p:nvCxnSpPr>
        <p:spPr>
          <a:xfrm>
            <a:off x="8196943" y="718457"/>
            <a:ext cx="0" cy="5421086"/>
          </a:xfrm>
          <a:prstGeom prst="line">
            <a:avLst/>
          </a:prstGeom>
        </p:spPr>
        <p:style>
          <a:lnRef idx="3">
            <a:schemeClr val="dk1"/>
          </a:lnRef>
          <a:fillRef idx="0">
            <a:schemeClr val="dk1"/>
          </a:fillRef>
          <a:effectRef idx="2">
            <a:schemeClr val="dk1"/>
          </a:effectRef>
          <a:fontRef idx="minor">
            <a:schemeClr val="tx1"/>
          </a:fontRef>
        </p:style>
      </p:cxnSp>
      <p:sp>
        <p:nvSpPr>
          <p:cNvPr id="20" name="TextBox 19">
            <a:extLst>
              <a:ext uri="{FF2B5EF4-FFF2-40B4-BE49-F238E27FC236}">
                <a16:creationId xmlns:a16="http://schemas.microsoft.com/office/drawing/2014/main" id="{0983CBC1-D89E-44DD-1807-D88FE529A5C8}"/>
              </a:ext>
            </a:extLst>
          </p:cNvPr>
          <p:cNvSpPr txBox="1"/>
          <p:nvPr/>
        </p:nvSpPr>
        <p:spPr>
          <a:xfrm>
            <a:off x="1796143" y="195943"/>
            <a:ext cx="764376" cy="369332"/>
          </a:xfrm>
          <a:prstGeom prst="rect">
            <a:avLst/>
          </a:prstGeom>
          <a:noFill/>
        </p:spPr>
        <p:txBody>
          <a:bodyPr wrap="none" rtlCol="0">
            <a:spAutoFit/>
          </a:bodyPr>
          <a:lstStyle/>
          <a:p>
            <a:r>
              <a:rPr lang="en-US" dirty="0"/>
              <a:t>FAST</a:t>
            </a:r>
          </a:p>
        </p:txBody>
      </p:sp>
      <p:sp>
        <p:nvSpPr>
          <p:cNvPr id="21" name="TextBox 20">
            <a:extLst>
              <a:ext uri="{FF2B5EF4-FFF2-40B4-BE49-F238E27FC236}">
                <a16:creationId xmlns:a16="http://schemas.microsoft.com/office/drawing/2014/main" id="{337B562C-8AAA-0159-C9D3-9E3FC7E64A65}"/>
              </a:ext>
            </a:extLst>
          </p:cNvPr>
          <p:cNvSpPr txBox="1"/>
          <p:nvPr/>
        </p:nvSpPr>
        <p:spPr>
          <a:xfrm>
            <a:off x="5180781" y="195943"/>
            <a:ext cx="1830437" cy="369332"/>
          </a:xfrm>
          <a:prstGeom prst="rect">
            <a:avLst/>
          </a:prstGeom>
          <a:noFill/>
        </p:spPr>
        <p:txBody>
          <a:bodyPr wrap="none" rtlCol="0">
            <a:spAutoFit/>
          </a:bodyPr>
          <a:lstStyle/>
          <a:p>
            <a:r>
              <a:rPr lang="en-US" dirty="0"/>
              <a:t>DEMOCRATIC</a:t>
            </a:r>
          </a:p>
        </p:txBody>
      </p:sp>
      <p:sp>
        <p:nvSpPr>
          <p:cNvPr id="22" name="TextBox 21">
            <a:extLst>
              <a:ext uri="{FF2B5EF4-FFF2-40B4-BE49-F238E27FC236}">
                <a16:creationId xmlns:a16="http://schemas.microsoft.com/office/drawing/2014/main" id="{ECE85A40-18AD-9B12-AA9B-235BF683FAE7}"/>
              </a:ext>
            </a:extLst>
          </p:cNvPr>
          <p:cNvSpPr txBox="1"/>
          <p:nvPr/>
        </p:nvSpPr>
        <p:spPr>
          <a:xfrm>
            <a:off x="9296400" y="195943"/>
            <a:ext cx="1440844" cy="369332"/>
          </a:xfrm>
          <a:prstGeom prst="rect">
            <a:avLst/>
          </a:prstGeom>
          <a:noFill/>
        </p:spPr>
        <p:txBody>
          <a:bodyPr wrap="none" rtlCol="0">
            <a:spAutoFit/>
          </a:bodyPr>
          <a:lstStyle/>
          <a:p>
            <a:r>
              <a:rPr lang="en-US" dirty="0"/>
              <a:t>SUMMARY</a:t>
            </a:r>
          </a:p>
        </p:txBody>
      </p:sp>
      <p:sp>
        <p:nvSpPr>
          <p:cNvPr id="23" name="TextBox 22">
            <a:extLst>
              <a:ext uri="{FF2B5EF4-FFF2-40B4-BE49-F238E27FC236}">
                <a16:creationId xmlns:a16="http://schemas.microsoft.com/office/drawing/2014/main" id="{0C2C912B-2D5B-A445-1E5F-10D975194F94}"/>
              </a:ext>
            </a:extLst>
          </p:cNvPr>
          <p:cNvSpPr txBox="1"/>
          <p:nvPr/>
        </p:nvSpPr>
        <p:spPr>
          <a:xfrm>
            <a:off x="3988820" y="5611538"/>
            <a:ext cx="2383922" cy="369332"/>
          </a:xfrm>
          <a:prstGeom prst="rect">
            <a:avLst/>
          </a:prstGeom>
          <a:noFill/>
        </p:spPr>
        <p:txBody>
          <a:bodyPr wrap="none" rtlCol="0">
            <a:spAutoFit/>
          </a:bodyPr>
          <a:lstStyle/>
          <a:p>
            <a:r>
              <a:rPr lang="en-US" dirty="0"/>
              <a:t>Duration: 158 minutes</a:t>
            </a:r>
          </a:p>
        </p:txBody>
      </p:sp>
      <p:sp>
        <p:nvSpPr>
          <p:cNvPr id="24" name="TextBox 23">
            <a:extLst>
              <a:ext uri="{FF2B5EF4-FFF2-40B4-BE49-F238E27FC236}">
                <a16:creationId xmlns:a16="http://schemas.microsoft.com/office/drawing/2014/main" id="{357D6ACD-2132-91F8-EC9B-0DB980B16841}"/>
              </a:ext>
            </a:extLst>
          </p:cNvPr>
          <p:cNvSpPr txBox="1"/>
          <p:nvPr/>
        </p:nvSpPr>
        <p:spPr>
          <a:xfrm>
            <a:off x="662691" y="5611538"/>
            <a:ext cx="2266903" cy="369332"/>
          </a:xfrm>
          <a:prstGeom prst="rect">
            <a:avLst/>
          </a:prstGeom>
          <a:noFill/>
        </p:spPr>
        <p:txBody>
          <a:bodyPr wrap="none" rtlCol="0">
            <a:spAutoFit/>
          </a:bodyPr>
          <a:lstStyle/>
          <a:p>
            <a:r>
              <a:rPr lang="en-US" dirty="0"/>
              <a:t>Duration: 74 minutes</a:t>
            </a:r>
          </a:p>
        </p:txBody>
      </p:sp>
      <p:sp>
        <p:nvSpPr>
          <p:cNvPr id="25" name="TextBox 24">
            <a:extLst>
              <a:ext uri="{FF2B5EF4-FFF2-40B4-BE49-F238E27FC236}">
                <a16:creationId xmlns:a16="http://schemas.microsoft.com/office/drawing/2014/main" id="{E7E874C1-282B-08A1-7A8A-EF4512A2F7DF}"/>
              </a:ext>
            </a:extLst>
          </p:cNvPr>
          <p:cNvSpPr txBox="1"/>
          <p:nvPr/>
        </p:nvSpPr>
        <p:spPr>
          <a:xfrm>
            <a:off x="8279087" y="5611538"/>
            <a:ext cx="2383922" cy="369332"/>
          </a:xfrm>
          <a:prstGeom prst="rect">
            <a:avLst/>
          </a:prstGeom>
          <a:noFill/>
        </p:spPr>
        <p:txBody>
          <a:bodyPr wrap="none" rtlCol="0">
            <a:spAutoFit/>
          </a:bodyPr>
          <a:lstStyle/>
          <a:p>
            <a:r>
              <a:rPr lang="en-US" dirty="0"/>
              <a:t>Duration: 210 minutes</a:t>
            </a:r>
          </a:p>
        </p:txBody>
      </p:sp>
      <p:pic>
        <p:nvPicPr>
          <p:cNvPr id="5" name="Picture 4" descr="A graph of different colored squares&#10;&#10;Description automatically generated">
            <a:extLst>
              <a:ext uri="{FF2B5EF4-FFF2-40B4-BE49-F238E27FC236}">
                <a16:creationId xmlns:a16="http://schemas.microsoft.com/office/drawing/2014/main" id="{7C0328C4-833D-F53F-6FCD-91A2AE5E75F1}"/>
              </a:ext>
            </a:extLst>
          </p:cNvPr>
          <p:cNvPicPr>
            <a:picLocks noChangeAspect="1"/>
          </p:cNvPicPr>
          <p:nvPr/>
        </p:nvPicPr>
        <p:blipFill>
          <a:blip r:embed="rId5"/>
          <a:stretch>
            <a:fillRect/>
          </a:stretch>
        </p:blipFill>
        <p:spPr>
          <a:xfrm>
            <a:off x="0" y="1676399"/>
            <a:ext cx="3810178" cy="2824014"/>
          </a:xfrm>
          <a:prstGeom prst="rect">
            <a:avLst/>
          </a:prstGeom>
        </p:spPr>
      </p:pic>
      <p:sp>
        <p:nvSpPr>
          <p:cNvPr id="2" name="TextBox 1">
            <a:extLst>
              <a:ext uri="{FF2B5EF4-FFF2-40B4-BE49-F238E27FC236}">
                <a16:creationId xmlns:a16="http://schemas.microsoft.com/office/drawing/2014/main" id="{FA466C42-3AC7-182D-15CC-34836C62A4B7}"/>
              </a:ext>
            </a:extLst>
          </p:cNvPr>
          <p:cNvSpPr txBox="1"/>
          <p:nvPr/>
        </p:nvSpPr>
        <p:spPr>
          <a:xfrm>
            <a:off x="662691" y="6139543"/>
            <a:ext cx="7222382" cy="307777"/>
          </a:xfrm>
          <a:prstGeom prst="rect">
            <a:avLst/>
          </a:prstGeom>
          <a:noFill/>
        </p:spPr>
        <p:txBody>
          <a:bodyPr wrap="square" rtlCol="0">
            <a:spAutoFit/>
          </a:bodyPr>
          <a:lstStyle/>
          <a:p>
            <a:r>
              <a:rPr lang="en-US" sz="1400" dirty="0"/>
              <a:t>Figure 8. Confusion matrices of the classification results of the test data</a:t>
            </a:r>
          </a:p>
        </p:txBody>
      </p:sp>
    </p:spTree>
    <p:extLst>
      <p:ext uri="{BB962C8B-B14F-4D97-AF65-F5344CB8AC3E}">
        <p14:creationId xmlns:p14="http://schemas.microsoft.com/office/powerpoint/2010/main" val="11628635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9A219B-C711-CFD4-395A-2B3BFC9DD6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069064-93C9-ACF7-AA34-AA8543E04564}"/>
              </a:ext>
            </a:extLst>
          </p:cNvPr>
          <p:cNvSpPr>
            <a:spLocks noGrp="1"/>
          </p:cNvSpPr>
          <p:nvPr>
            <p:ph type="ctrTitle"/>
          </p:nvPr>
        </p:nvSpPr>
        <p:spPr>
          <a:xfrm>
            <a:off x="703400" y="871759"/>
            <a:ext cx="5227171" cy="794672"/>
          </a:xfrm>
        </p:spPr>
        <p:txBody>
          <a:bodyPr>
            <a:normAutofit fontScale="90000"/>
          </a:bodyPr>
          <a:lstStyle/>
          <a:p>
            <a:pPr>
              <a:lnSpc>
                <a:spcPct val="90000"/>
              </a:lnSpc>
            </a:pPr>
            <a:r>
              <a:rPr lang="en-US" sz="4200" dirty="0"/>
              <a:t>Agentic literature search</a:t>
            </a:r>
          </a:p>
        </p:txBody>
      </p:sp>
      <p:pic>
        <p:nvPicPr>
          <p:cNvPr id="4" name="Picture 3">
            <a:extLst>
              <a:ext uri="{FF2B5EF4-FFF2-40B4-BE49-F238E27FC236}">
                <a16:creationId xmlns:a16="http://schemas.microsoft.com/office/drawing/2014/main" id="{F7755725-F7F8-6FA1-DAE5-09CAEAABA2DE}"/>
              </a:ext>
            </a:extLst>
          </p:cNvPr>
          <p:cNvPicPr>
            <a:picLocks noChangeAspect="1"/>
          </p:cNvPicPr>
          <p:nvPr/>
        </p:nvPicPr>
        <p:blipFill>
          <a:blip r:embed="rId3"/>
          <a:srcRect r="17222"/>
          <a:stretch>
            <a:fillRect/>
          </a:stretch>
        </p:blipFill>
        <p:spPr>
          <a:xfrm>
            <a:off x="6515100" y="10"/>
            <a:ext cx="5676900" cy="6857990"/>
          </a:xfrm>
          <a:prstGeom prst="rect">
            <a:avLst/>
          </a:prstGeom>
        </p:spPr>
      </p:pic>
      <p:sp>
        <p:nvSpPr>
          <p:cNvPr id="3" name="TextBox 2">
            <a:extLst>
              <a:ext uri="{FF2B5EF4-FFF2-40B4-BE49-F238E27FC236}">
                <a16:creationId xmlns:a16="http://schemas.microsoft.com/office/drawing/2014/main" id="{C8DA425B-D595-DCEC-BAD1-1E4194E22D5F}"/>
              </a:ext>
            </a:extLst>
          </p:cNvPr>
          <p:cNvSpPr txBox="1"/>
          <p:nvPr/>
        </p:nvSpPr>
        <p:spPr>
          <a:xfrm>
            <a:off x="703400" y="1976718"/>
            <a:ext cx="5392599" cy="4524315"/>
          </a:xfrm>
          <a:prstGeom prst="rect">
            <a:avLst/>
          </a:prstGeom>
          <a:noFill/>
        </p:spPr>
        <p:txBody>
          <a:bodyPr wrap="square" rtlCol="0">
            <a:spAutoFit/>
          </a:bodyPr>
          <a:lstStyle/>
          <a:p>
            <a:r>
              <a:rPr lang="en-US" dirty="0"/>
              <a:t>Ran TMP for all accessions in my top hits database.</a:t>
            </a:r>
          </a:p>
          <a:p>
            <a:endParaRPr lang="en-US" dirty="0"/>
          </a:p>
          <a:p>
            <a:r>
              <a:rPr lang="en-US" dirty="0"/>
              <a:t>Identified 6 Psychrophiles. </a:t>
            </a:r>
          </a:p>
          <a:p>
            <a:endParaRPr lang="en-US" dirty="0"/>
          </a:p>
          <a:p>
            <a:r>
              <a:rPr lang="en-US" dirty="0"/>
              <a:t>When plotted with the SEQ2TOPT prediction a divergence begins to emerge.</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
        <p:nvSpPr>
          <p:cNvPr id="6" name="TextBox 5">
            <a:extLst>
              <a:ext uri="{FF2B5EF4-FFF2-40B4-BE49-F238E27FC236}">
                <a16:creationId xmlns:a16="http://schemas.microsoft.com/office/drawing/2014/main" id="{736E3133-4818-147D-12B3-7C2A229A81A1}"/>
              </a:ext>
            </a:extLst>
          </p:cNvPr>
          <p:cNvSpPr txBox="1"/>
          <p:nvPr/>
        </p:nvSpPr>
        <p:spPr>
          <a:xfrm>
            <a:off x="8357348" y="4249271"/>
            <a:ext cx="2891117" cy="369332"/>
          </a:xfrm>
          <a:prstGeom prst="rect">
            <a:avLst/>
          </a:prstGeom>
          <a:noFill/>
        </p:spPr>
        <p:txBody>
          <a:bodyPr wrap="square" rtlCol="0">
            <a:spAutoFit/>
          </a:bodyPr>
          <a:lstStyle/>
          <a:p>
            <a:r>
              <a:rPr lang="en-US" dirty="0">
                <a:solidFill>
                  <a:schemeClr val="bg1"/>
                </a:solidFill>
              </a:rPr>
              <a:t>Seq2opt / TMP boxplot</a:t>
            </a:r>
          </a:p>
        </p:txBody>
      </p:sp>
      <p:pic>
        <p:nvPicPr>
          <p:cNvPr id="7" name="Picture 6" descr="A diagram of a temperature&#10;&#10;Description automatically generated">
            <a:extLst>
              <a:ext uri="{FF2B5EF4-FFF2-40B4-BE49-F238E27FC236}">
                <a16:creationId xmlns:a16="http://schemas.microsoft.com/office/drawing/2014/main" id="{33D93173-6101-0E87-76A2-709F7D487D43}"/>
              </a:ext>
            </a:extLst>
          </p:cNvPr>
          <p:cNvPicPr>
            <a:picLocks noChangeAspect="1"/>
          </p:cNvPicPr>
          <p:nvPr/>
        </p:nvPicPr>
        <p:blipFill>
          <a:blip r:embed="rId4"/>
          <a:stretch>
            <a:fillRect/>
          </a:stretch>
        </p:blipFill>
        <p:spPr>
          <a:xfrm>
            <a:off x="6935975" y="2928905"/>
            <a:ext cx="4835150" cy="3600825"/>
          </a:xfrm>
          <a:prstGeom prst="rect">
            <a:avLst/>
          </a:prstGeom>
        </p:spPr>
      </p:pic>
      <p:pic>
        <p:nvPicPr>
          <p:cNvPr id="23" name="Picture 22" descr="A chart of a number of diagrams&#10;&#10;Description automatically generated with medium confidence">
            <a:extLst>
              <a:ext uri="{FF2B5EF4-FFF2-40B4-BE49-F238E27FC236}">
                <a16:creationId xmlns:a16="http://schemas.microsoft.com/office/drawing/2014/main" id="{39FFFDE1-028F-1474-EBAF-EE970EF6ADF5}"/>
              </a:ext>
            </a:extLst>
          </p:cNvPr>
          <p:cNvPicPr>
            <a:picLocks noChangeAspect="1"/>
          </p:cNvPicPr>
          <p:nvPr/>
        </p:nvPicPr>
        <p:blipFill>
          <a:blip r:embed="rId5"/>
          <a:stretch>
            <a:fillRect/>
          </a:stretch>
        </p:blipFill>
        <p:spPr>
          <a:xfrm>
            <a:off x="9386264" y="112441"/>
            <a:ext cx="2733765" cy="2733765"/>
          </a:xfrm>
          <a:prstGeom prst="rect">
            <a:avLst/>
          </a:prstGeom>
        </p:spPr>
      </p:pic>
      <p:pic>
        <p:nvPicPr>
          <p:cNvPr id="8" name="Picture 7" descr="A pie chart with a number of different colored circles&#10;&#10;Description automatically generated">
            <a:extLst>
              <a:ext uri="{FF2B5EF4-FFF2-40B4-BE49-F238E27FC236}">
                <a16:creationId xmlns:a16="http://schemas.microsoft.com/office/drawing/2014/main" id="{29D9AD4E-9B46-BF17-5DDF-05021107E42E}"/>
              </a:ext>
            </a:extLst>
          </p:cNvPr>
          <p:cNvPicPr>
            <a:picLocks noChangeAspect="1"/>
          </p:cNvPicPr>
          <p:nvPr/>
        </p:nvPicPr>
        <p:blipFill>
          <a:blip r:embed="rId6"/>
          <a:stretch>
            <a:fillRect/>
          </a:stretch>
        </p:blipFill>
        <p:spPr>
          <a:xfrm>
            <a:off x="6580528" y="112442"/>
            <a:ext cx="2733765" cy="2733765"/>
          </a:xfrm>
          <a:prstGeom prst="rect">
            <a:avLst/>
          </a:prstGeom>
        </p:spPr>
      </p:pic>
      <p:sp>
        <p:nvSpPr>
          <p:cNvPr id="9" name="TextBox 8">
            <a:extLst>
              <a:ext uri="{FF2B5EF4-FFF2-40B4-BE49-F238E27FC236}">
                <a16:creationId xmlns:a16="http://schemas.microsoft.com/office/drawing/2014/main" id="{06ECAC24-00A0-AAFC-C44F-9EAEAA7B425D}"/>
              </a:ext>
            </a:extLst>
          </p:cNvPr>
          <p:cNvSpPr txBox="1"/>
          <p:nvPr/>
        </p:nvSpPr>
        <p:spPr>
          <a:xfrm>
            <a:off x="6515100" y="2599986"/>
            <a:ext cx="2415346" cy="246221"/>
          </a:xfrm>
          <a:prstGeom prst="rect">
            <a:avLst/>
          </a:prstGeom>
          <a:noFill/>
        </p:spPr>
        <p:txBody>
          <a:bodyPr wrap="square" rtlCol="0">
            <a:spAutoFit/>
          </a:bodyPr>
          <a:lstStyle/>
          <a:p>
            <a:r>
              <a:rPr lang="en-US" sz="1000" dirty="0"/>
              <a:t>Figure 10. Number of results on NCBI</a:t>
            </a:r>
          </a:p>
        </p:txBody>
      </p:sp>
      <p:sp>
        <p:nvSpPr>
          <p:cNvPr id="10" name="TextBox 9">
            <a:extLst>
              <a:ext uri="{FF2B5EF4-FFF2-40B4-BE49-F238E27FC236}">
                <a16:creationId xmlns:a16="http://schemas.microsoft.com/office/drawing/2014/main" id="{56A88BEE-D955-5A38-63A4-002E3751963A}"/>
              </a:ext>
            </a:extLst>
          </p:cNvPr>
          <p:cNvSpPr txBox="1"/>
          <p:nvPr/>
        </p:nvSpPr>
        <p:spPr>
          <a:xfrm>
            <a:off x="9314293" y="2610611"/>
            <a:ext cx="2943135" cy="246221"/>
          </a:xfrm>
          <a:prstGeom prst="rect">
            <a:avLst/>
          </a:prstGeom>
          <a:noFill/>
        </p:spPr>
        <p:txBody>
          <a:bodyPr wrap="square" rtlCol="0">
            <a:spAutoFit/>
          </a:bodyPr>
          <a:lstStyle/>
          <a:p>
            <a:r>
              <a:rPr lang="en-US" sz="1000" dirty="0"/>
              <a:t>Figure 11. Sum of each classification from TMP</a:t>
            </a:r>
          </a:p>
        </p:txBody>
      </p:sp>
      <p:sp>
        <p:nvSpPr>
          <p:cNvPr id="11" name="TextBox 10">
            <a:extLst>
              <a:ext uri="{FF2B5EF4-FFF2-40B4-BE49-F238E27FC236}">
                <a16:creationId xmlns:a16="http://schemas.microsoft.com/office/drawing/2014/main" id="{7B8281F9-461B-4FAD-351A-88A9AE460A0D}"/>
              </a:ext>
            </a:extLst>
          </p:cNvPr>
          <p:cNvSpPr txBox="1"/>
          <p:nvPr/>
        </p:nvSpPr>
        <p:spPr>
          <a:xfrm>
            <a:off x="6884325" y="6529730"/>
            <a:ext cx="5675126" cy="307777"/>
          </a:xfrm>
          <a:prstGeom prst="rect">
            <a:avLst/>
          </a:prstGeom>
          <a:noFill/>
        </p:spPr>
        <p:txBody>
          <a:bodyPr wrap="square" rtlCol="0">
            <a:spAutoFit/>
          </a:bodyPr>
          <a:lstStyle/>
          <a:p>
            <a:r>
              <a:rPr lang="en-US" sz="1400" dirty="0">
                <a:solidFill>
                  <a:schemeClr val="bg1"/>
                </a:solidFill>
              </a:rPr>
              <a:t>Figure 12. Seq2Topt predictions for TMP predictions</a:t>
            </a:r>
          </a:p>
        </p:txBody>
      </p:sp>
    </p:spTree>
    <p:extLst>
      <p:ext uri="{BB962C8B-B14F-4D97-AF65-F5344CB8AC3E}">
        <p14:creationId xmlns:p14="http://schemas.microsoft.com/office/powerpoint/2010/main" val="35881025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CB09A8-41B1-169C-2715-6618F039E2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909C32-BF08-B64E-3DCF-492BF9E265AA}"/>
              </a:ext>
            </a:extLst>
          </p:cNvPr>
          <p:cNvSpPr>
            <a:spLocks noGrp="1"/>
          </p:cNvSpPr>
          <p:nvPr>
            <p:ph type="ctrTitle"/>
          </p:nvPr>
        </p:nvSpPr>
        <p:spPr>
          <a:xfrm>
            <a:off x="703400" y="871759"/>
            <a:ext cx="5227171" cy="794672"/>
          </a:xfrm>
        </p:spPr>
        <p:txBody>
          <a:bodyPr>
            <a:normAutofit fontScale="90000"/>
          </a:bodyPr>
          <a:lstStyle/>
          <a:p>
            <a:pPr>
              <a:lnSpc>
                <a:spcPct val="90000"/>
              </a:lnSpc>
            </a:pPr>
            <a:r>
              <a:rPr lang="en-US" sz="4200" dirty="0"/>
              <a:t>Structural modelling</a:t>
            </a:r>
          </a:p>
        </p:txBody>
      </p:sp>
      <p:pic>
        <p:nvPicPr>
          <p:cNvPr id="4" name="Picture 3">
            <a:extLst>
              <a:ext uri="{FF2B5EF4-FFF2-40B4-BE49-F238E27FC236}">
                <a16:creationId xmlns:a16="http://schemas.microsoft.com/office/drawing/2014/main" id="{1D4A2F58-2AE3-5164-5CFE-321730505F9C}"/>
              </a:ext>
            </a:extLst>
          </p:cNvPr>
          <p:cNvPicPr>
            <a:picLocks noChangeAspect="1"/>
          </p:cNvPicPr>
          <p:nvPr/>
        </p:nvPicPr>
        <p:blipFill>
          <a:blip r:embed="rId3"/>
          <a:srcRect r="17222"/>
          <a:stretch>
            <a:fillRect/>
          </a:stretch>
        </p:blipFill>
        <p:spPr>
          <a:xfrm>
            <a:off x="6515100" y="10"/>
            <a:ext cx="5676900" cy="6857990"/>
          </a:xfrm>
          <a:prstGeom prst="rect">
            <a:avLst/>
          </a:prstGeom>
        </p:spPr>
      </p:pic>
      <p:pic>
        <p:nvPicPr>
          <p:cNvPr id="5" name="Picture 4" descr="A green and yellow spiral structure&#10;&#10;Description automatically generated with medium confidence">
            <a:extLst>
              <a:ext uri="{FF2B5EF4-FFF2-40B4-BE49-F238E27FC236}">
                <a16:creationId xmlns:a16="http://schemas.microsoft.com/office/drawing/2014/main" id="{8A71A9E5-E3B7-7FFE-9316-2C668D2FDC92}"/>
              </a:ext>
            </a:extLst>
          </p:cNvPr>
          <p:cNvPicPr>
            <a:picLocks noChangeAspect="1"/>
          </p:cNvPicPr>
          <p:nvPr/>
        </p:nvPicPr>
        <p:blipFill>
          <a:blip r:embed="rId4"/>
          <a:stretch>
            <a:fillRect/>
          </a:stretch>
        </p:blipFill>
        <p:spPr>
          <a:xfrm>
            <a:off x="6986343" y="1372347"/>
            <a:ext cx="5009554" cy="4113306"/>
          </a:xfrm>
          <a:prstGeom prst="rect">
            <a:avLst/>
          </a:prstGeom>
        </p:spPr>
      </p:pic>
      <p:sp>
        <p:nvSpPr>
          <p:cNvPr id="6" name="TextBox 5">
            <a:extLst>
              <a:ext uri="{FF2B5EF4-FFF2-40B4-BE49-F238E27FC236}">
                <a16:creationId xmlns:a16="http://schemas.microsoft.com/office/drawing/2014/main" id="{4DBECE16-51F6-CDD3-43A4-A78F0029DB5A}"/>
              </a:ext>
            </a:extLst>
          </p:cNvPr>
          <p:cNvSpPr txBox="1"/>
          <p:nvPr/>
        </p:nvSpPr>
        <p:spPr>
          <a:xfrm>
            <a:off x="6986343" y="5254821"/>
            <a:ext cx="4457104" cy="230832"/>
          </a:xfrm>
          <a:prstGeom prst="rect">
            <a:avLst/>
          </a:prstGeom>
          <a:noFill/>
        </p:spPr>
        <p:txBody>
          <a:bodyPr wrap="square" rtlCol="0">
            <a:spAutoFit/>
          </a:bodyPr>
          <a:lstStyle/>
          <a:p>
            <a:r>
              <a:rPr lang="en-US" sz="900" dirty="0" err="1">
                <a:solidFill>
                  <a:schemeClr val="bg1"/>
                </a:solidFill>
              </a:rPr>
              <a:t>UvsX</a:t>
            </a:r>
            <a:r>
              <a:rPr lang="en-US" sz="900" dirty="0">
                <a:solidFill>
                  <a:schemeClr val="bg1"/>
                </a:solidFill>
              </a:rPr>
              <a:t> crystal structure (green) aligned with the </a:t>
            </a:r>
            <a:r>
              <a:rPr lang="en-US" sz="900" dirty="0" err="1">
                <a:solidFill>
                  <a:schemeClr val="bg1"/>
                </a:solidFill>
              </a:rPr>
              <a:t>alphafold</a:t>
            </a:r>
            <a:r>
              <a:rPr lang="en-US" sz="900" dirty="0">
                <a:solidFill>
                  <a:schemeClr val="bg1"/>
                </a:solidFill>
              </a:rPr>
              <a:t> </a:t>
            </a:r>
            <a:r>
              <a:rPr lang="en-US" sz="900" dirty="0" err="1">
                <a:solidFill>
                  <a:schemeClr val="bg1"/>
                </a:solidFill>
              </a:rPr>
              <a:t>UvsX</a:t>
            </a:r>
            <a:r>
              <a:rPr lang="en-US" sz="900" dirty="0">
                <a:solidFill>
                  <a:schemeClr val="bg1"/>
                </a:solidFill>
              </a:rPr>
              <a:t> prediction (yellow)</a:t>
            </a:r>
          </a:p>
        </p:txBody>
      </p:sp>
      <p:sp>
        <p:nvSpPr>
          <p:cNvPr id="3" name="TextBox 2">
            <a:extLst>
              <a:ext uri="{FF2B5EF4-FFF2-40B4-BE49-F238E27FC236}">
                <a16:creationId xmlns:a16="http://schemas.microsoft.com/office/drawing/2014/main" id="{90DB1B3C-C287-AD27-46F8-BB0771334C3B}"/>
              </a:ext>
            </a:extLst>
          </p:cNvPr>
          <p:cNvSpPr txBox="1"/>
          <p:nvPr/>
        </p:nvSpPr>
        <p:spPr>
          <a:xfrm>
            <a:off x="703400" y="1953928"/>
            <a:ext cx="5392599" cy="5078313"/>
          </a:xfrm>
          <a:prstGeom prst="rect">
            <a:avLst/>
          </a:prstGeom>
          <a:noFill/>
        </p:spPr>
        <p:txBody>
          <a:bodyPr wrap="square" rtlCol="0">
            <a:spAutoFit/>
          </a:bodyPr>
          <a:lstStyle/>
          <a:p>
            <a:r>
              <a:rPr lang="en-US" dirty="0"/>
              <a:t>Molecular Dynamics simulations require a 3D structure.</a:t>
            </a:r>
          </a:p>
          <a:p>
            <a:endParaRPr lang="en-US" dirty="0"/>
          </a:p>
          <a:p>
            <a:r>
              <a:rPr lang="en-US" dirty="0"/>
              <a:t>Evaluated Boltz and </a:t>
            </a:r>
            <a:r>
              <a:rPr lang="en-US" dirty="0" err="1"/>
              <a:t>Alphafold</a:t>
            </a:r>
            <a:r>
              <a:rPr lang="en-US" dirty="0"/>
              <a:t> structures. Compared alignments to crystal structure.</a:t>
            </a:r>
          </a:p>
          <a:p>
            <a:endParaRPr lang="en-US" dirty="0"/>
          </a:p>
          <a:p>
            <a:r>
              <a:rPr lang="en-US" dirty="0"/>
              <a:t>Found that </a:t>
            </a:r>
            <a:r>
              <a:rPr lang="en-US" dirty="0" err="1"/>
              <a:t>Alphafold</a:t>
            </a:r>
            <a:r>
              <a:rPr lang="en-US" dirty="0"/>
              <a:t> had much greater alignment with the lab validated crystal structures.</a:t>
            </a:r>
          </a:p>
          <a:p>
            <a:endParaRPr lang="en-US" dirty="0"/>
          </a:p>
          <a:p>
            <a:r>
              <a:rPr lang="en-US" dirty="0"/>
              <a:t>Used </a:t>
            </a:r>
            <a:r>
              <a:rPr lang="en-US" dirty="0" err="1"/>
              <a:t>Alphafold</a:t>
            </a:r>
            <a:r>
              <a:rPr lang="en-US" dirty="0"/>
              <a:t> structures for Molecular dynamics simulations</a:t>
            </a:r>
          </a:p>
          <a:p>
            <a:endParaRPr lang="en-US" dirty="0"/>
          </a:p>
          <a:p>
            <a:endParaRPr lang="en-US" dirty="0"/>
          </a:p>
          <a:p>
            <a:endParaRPr lang="en-US" dirty="0"/>
          </a:p>
          <a:p>
            <a:endParaRPr lang="en-US" dirty="0"/>
          </a:p>
          <a:p>
            <a:r>
              <a:rPr lang="en-US" dirty="0"/>
              <a:t>[5][6]</a:t>
            </a:r>
          </a:p>
          <a:p>
            <a:endParaRPr lang="en-US" dirty="0"/>
          </a:p>
          <a:p>
            <a:endParaRPr lang="en-US" dirty="0"/>
          </a:p>
        </p:txBody>
      </p:sp>
    </p:spTree>
    <p:extLst>
      <p:ext uri="{BB962C8B-B14F-4D97-AF65-F5344CB8AC3E}">
        <p14:creationId xmlns:p14="http://schemas.microsoft.com/office/powerpoint/2010/main" val="25614348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5BDE66-8000-3BC4-1F89-D27C1E2048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8BB860-0FCD-1B91-F482-283CBEEB85D5}"/>
              </a:ext>
            </a:extLst>
          </p:cNvPr>
          <p:cNvSpPr>
            <a:spLocks noGrp="1"/>
          </p:cNvSpPr>
          <p:nvPr>
            <p:ph type="ctrTitle"/>
          </p:nvPr>
        </p:nvSpPr>
        <p:spPr>
          <a:xfrm>
            <a:off x="703400" y="871759"/>
            <a:ext cx="5227171" cy="794672"/>
          </a:xfrm>
        </p:spPr>
        <p:txBody>
          <a:bodyPr>
            <a:normAutofit fontScale="90000"/>
          </a:bodyPr>
          <a:lstStyle/>
          <a:p>
            <a:pPr>
              <a:lnSpc>
                <a:spcPct val="90000"/>
              </a:lnSpc>
            </a:pPr>
            <a:r>
              <a:rPr lang="en-US" sz="4200" dirty="0"/>
              <a:t>Molecular dynamics</a:t>
            </a:r>
          </a:p>
        </p:txBody>
      </p:sp>
      <p:pic>
        <p:nvPicPr>
          <p:cNvPr id="4" name="Picture 3">
            <a:extLst>
              <a:ext uri="{FF2B5EF4-FFF2-40B4-BE49-F238E27FC236}">
                <a16:creationId xmlns:a16="http://schemas.microsoft.com/office/drawing/2014/main" id="{39685B7B-CFD1-2CE4-313D-0F44D166B9ED}"/>
              </a:ext>
            </a:extLst>
          </p:cNvPr>
          <p:cNvPicPr>
            <a:picLocks noChangeAspect="1"/>
          </p:cNvPicPr>
          <p:nvPr/>
        </p:nvPicPr>
        <p:blipFill>
          <a:blip r:embed="rId5"/>
          <a:srcRect r="17222"/>
          <a:stretch>
            <a:fillRect/>
          </a:stretch>
        </p:blipFill>
        <p:spPr>
          <a:xfrm>
            <a:off x="6515100" y="10"/>
            <a:ext cx="5676900" cy="6857990"/>
          </a:xfrm>
          <a:prstGeom prst="rect">
            <a:avLst/>
          </a:prstGeom>
        </p:spPr>
      </p:pic>
      <p:sp>
        <p:nvSpPr>
          <p:cNvPr id="3" name="TextBox 2">
            <a:extLst>
              <a:ext uri="{FF2B5EF4-FFF2-40B4-BE49-F238E27FC236}">
                <a16:creationId xmlns:a16="http://schemas.microsoft.com/office/drawing/2014/main" id="{85776E5D-7C32-1522-D521-C6F5CEF10908}"/>
              </a:ext>
            </a:extLst>
          </p:cNvPr>
          <p:cNvSpPr txBox="1"/>
          <p:nvPr/>
        </p:nvSpPr>
        <p:spPr>
          <a:xfrm>
            <a:off x="703400" y="1524395"/>
            <a:ext cx="5445002" cy="4278094"/>
          </a:xfrm>
          <a:prstGeom prst="rect">
            <a:avLst/>
          </a:prstGeom>
          <a:noFill/>
        </p:spPr>
        <p:txBody>
          <a:bodyPr wrap="square" rtlCol="0">
            <a:spAutoFit/>
          </a:bodyPr>
          <a:lstStyle/>
          <a:p>
            <a:r>
              <a:rPr lang="en-GB" sz="1600" dirty="0"/>
              <a:t>Molecular dynamics simulations performed using GROMACS</a:t>
            </a:r>
          </a:p>
          <a:p>
            <a:endParaRPr lang="en-GB" sz="1600" dirty="0"/>
          </a:p>
          <a:p>
            <a:r>
              <a:rPr lang="en-GB" sz="1600" dirty="0"/>
              <a:t>Circumvents expensive, labour intensive and timely wet-lab experimentation</a:t>
            </a:r>
          </a:p>
          <a:p>
            <a:endParaRPr lang="en-GB" sz="1600" dirty="0"/>
          </a:p>
          <a:p>
            <a:r>
              <a:rPr lang="en-GB" sz="1600" dirty="0"/>
              <a:t>Candidate top hits, gold standards (crystal &amp; predicted) simulated across three temperatures:</a:t>
            </a:r>
          </a:p>
          <a:p>
            <a:pPr marL="285750" indent="-285750">
              <a:buFontTx/>
              <a:buChar char="-"/>
            </a:pPr>
            <a:r>
              <a:rPr lang="en-GB" sz="1600" dirty="0"/>
              <a:t>Cold (288k / 15</a:t>
            </a:r>
            <a:r>
              <a:rPr lang="en-GB" sz="1600" baseline="30000" dirty="0"/>
              <a:t>o</a:t>
            </a:r>
            <a:r>
              <a:rPr lang="en-GB" sz="1600" dirty="0"/>
              <a:t>c)</a:t>
            </a:r>
          </a:p>
          <a:p>
            <a:pPr marL="285750" indent="-285750">
              <a:buFontTx/>
              <a:buChar char="-"/>
            </a:pPr>
            <a:r>
              <a:rPr lang="en-GB" sz="1600" dirty="0"/>
              <a:t>Moderate (310k / 37</a:t>
            </a:r>
            <a:r>
              <a:rPr lang="en-GB" sz="1600" baseline="30000" dirty="0"/>
              <a:t>o</a:t>
            </a:r>
            <a:r>
              <a:rPr lang="en-GB" sz="1600" dirty="0"/>
              <a:t>c)</a:t>
            </a:r>
          </a:p>
          <a:p>
            <a:pPr marL="285750" indent="-285750">
              <a:buFontTx/>
              <a:buChar char="-"/>
            </a:pPr>
            <a:r>
              <a:rPr lang="en-GB" sz="1600" dirty="0"/>
              <a:t>Hot (338k / 65</a:t>
            </a:r>
            <a:r>
              <a:rPr lang="en-GB" sz="1600" baseline="30000" dirty="0"/>
              <a:t>o</a:t>
            </a:r>
            <a:r>
              <a:rPr lang="en-GB" sz="1600" dirty="0"/>
              <a:t>c)</a:t>
            </a:r>
          </a:p>
          <a:p>
            <a:endParaRPr lang="en-GB" sz="1600" dirty="0"/>
          </a:p>
          <a:p>
            <a:r>
              <a:rPr lang="en-GB" sz="1600" dirty="0"/>
              <a:t>Allows direct comparison of:</a:t>
            </a:r>
          </a:p>
          <a:p>
            <a:pPr marL="285750" indent="-285750">
              <a:buFontTx/>
              <a:buChar char="-"/>
            </a:pPr>
            <a:r>
              <a:rPr lang="en-GB" sz="1600" dirty="0"/>
              <a:t>Structural stability</a:t>
            </a:r>
          </a:p>
          <a:p>
            <a:pPr marL="285750" indent="-285750">
              <a:buFontTx/>
              <a:buChar char="-"/>
            </a:pPr>
            <a:r>
              <a:rPr lang="en-GB" sz="1600" dirty="0"/>
              <a:t>Flexibility dynamics</a:t>
            </a:r>
          </a:p>
          <a:p>
            <a:pPr marL="285750" indent="-285750">
              <a:buFontTx/>
              <a:buChar char="-"/>
            </a:pPr>
            <a:r>
              <a:rPr lang="en-GB" sz="1600" dirty="0"/>
              <a:t>Temperature-dependent conformational changes</a:t>
            </a:r>
          </a:p>
          <a:p>
            <a:pPr marL="285750" indent="-285750">
              <a:buFontTx/>
              <a:buChar char="-"/>
            </a:pPr>
            <a:endParaRPr lang="en-GB" sz="1600" dirty="0"/>
          </a:p>
        </p:txBody>
      </p:sp>
      <p:sp>
        <p:nvSpPr>
          <p:cNvPr id="5" name="TextBox 4">
            <a:extLst>
              <a:ext uri="{FF2B5EF4-FFF2-40B4-BE49-F238E27FC236}">
                <a16:creationId xmlns:a16="http://schemas.microsoft.com/office/drawing/2014/main" id="{95E671AC-7352-E073-2868-29DA337E611A}"/>
              </a:ext>
            </a:extLst>
          </p:cNvPr>
          <p:cNvSpPr txBox="1"/>
          <p:nvPr/>
        </p:nvSpPr>
        <p:spPr>
          <a:xfrm>
            <a:off x="703400" y="5617823"/>
            <a:ext cx="1654620" cy="923330"/>
          </a:xfrm>
          <a:prstGeom prst="rect">
            <a:avLst/>
          </a:prstGeom>
          <a:noFill/>
        </p:spPr>
        <p:txBody>
          <a:bodyPr wrap="none" rtlCol="0">
            <a:spAutoFit/>
          </a:bodyPr>
          <a:lstStyle/>
          <a:p>
            <a:r>
              <a:rPr lang="en-US" dirty="0"/>
              <a:t>Still ongoing…</a:t>
            </a:r>
          </a:p>
          <a:p>
            <a:endParaRPr lang="en-US" dirty="0"/>
          </a:p>
          <a:p>
            <a:r>
              <a:rPr lang="en-US" dirty="0"/>
              <a:t>[7]</a:t>
            </a:r>
          </a:p>
        </p:txBody>
      </p:sp>
      <p:pic>
        <p:nvPicPr>
          <p:cNvPr id="8" name="trajectroy_sped_up.mov">
            <a:hlinkClick r:id="" action="ppaction://media"/>
            <a:extLst>
              <a:ext uri="{FF2B5EF4-FFF2-40B4-BE49-F238E27FC236}">
                <a16:creationId xmlns:a16="http://schemas.microsoft.com/office/drawing/2014/main" id="{02358A28-6069-37FB-FBDE-86379234B855}"/>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6527292" y="1666431"/>
            <a:ext cx="5604043" cy="3152274"/>
          </a:xfrm>
          <a:prstGeom prst="rect">
            <a:avLst/>
          </a:prstGeom>
        </p:spPr>
      </p:pic>
    </p:spTree>
    <p:extLst>
      <p:ext uri="{BB962C8B-B14F-4D97-AF65-F5344CB8AC3E}">
        <p14:creationId xmlns:p14="http://schemas.microsoft.com/office/powerpoint/2010/main" val="35014739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9875"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8"/>
                </p:tgtEl>
              </p:cMediaNode>
            </p:video>
            <p:seq concurrent="1" nextAc="seek">
              <p:cTn id="8" restart="whenNotActive" fill="hold" evtFilter="cancelBubble" nodeType="interactiveSeq">
                <p:stCondLst>
                  <p:cond evt="onClick" delay="0">
                    <p:tgtEl>
                      <p:spTgt spid="8"/>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8"/>
                                        </p:tgtEl>
                                      </p:cBhvr>
                                    </p:cmd>
                                  </p:childTnLst>
                                </p:cTn>
                              </p:par>
                            </p:childTnLst>
                          </p:cTn>
                        </p:par>
                      </p:childTnLst>
                    </p:cTn>
                  </p:par>
                </p:childTnLst>
              </p:cTn>
              <p:nextCondLst>
                <p:cond evt="onClick" delay="0">
                  <p:tgtEl>
                    <p:spTgt spid="8"/>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6DC266-857F-148A-9948-7A000BEE98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785C33-FF0E-FB76-BBDC-7EE616160952}"/>
              </a:ext>
            </a:extLst>
          </p:cNvPr>
          <p:cNvSpPr>
            <a:spLocks noGrp="1"/>
          </p:cNvSpPr>
          <p:nvPr>
            <p:ph type="ctrTitle"/>
          </p:nvPr>
        </p:nvSpPr>
        <p:spPr>
          <a:xfrm>
            <a:off x="703400" y="871758"/>
            <a:ext cx="5227171" cy="1555755"/>
          </a:xfrm>
        </p:spPr>
        <p:txBody>
          <a:bodyPr>
            <a:normAutofit fontScale="90000"/>
          </a:bodyPr>
          <a:lstStyle/>
          <a:p>
            <a:pPr>
              <a:lnSpc>
                <a:spcPct val="90000"/>
              </a:lnSpc>
            </a:pPr>
            <a:r>
              <a:rPr lang="en-US" sz="4200" dirty="0"/>
              <a:t>Molecular dynamics</a:t>
            </a:r>
            <a:br>
              <a:rPr lang="en-US" sz="4200" dirty="0"/>
            </a:br>
            <a:r>
              <a:rPr lang="en-US" sz="4200" dirty="0"/>
              <a:t>Ortholog Results</a:t>
            </a:r>
          </a:p>
        </p:txBody>
      </p:sp>
      <p:pic>
        <p:nvPicPr>
          <p:cNvPr id="4" name="Picture 3">
            <a:extLst>
              <a:ext uri="{FF2B5EF4-FFF2-40B4-BE49-F238E27FC236}">
                <a16:creationId xmlns:a16="http://schemas.microsoft.com/office/drawing/2014/main" id="{FC27E901-7C01-DEA1-F3BF-C99A851A7C91}"/>
              </a:ext>
            </a:extLst>
          </p:cNvPr>
          <p:cNvPicPr>
            <a:picLocks noChangeAspect="1"/>
          </p:cNvPicPr>
          <p:nvPr/>
        </p:nvPicPr>
        <p:blipFill>
          <a:blip r:embed="rId3"/>
          <a:srcRect r="17222"/>
          <a:stretch>
            <a:fillRect/>
          </a:stretch>
        </p:blipFill>
        <p:spPr>
          <a:xfrm>
            <a:off x="6515100" y="10"/>
            <a:ext cx="5676900" cy="6857990"/>
          </a:xfrm>
          <a:prstGeom prst="rect">
            <a:avLst/>
          </a:prstGeom>
        </p:spPr>
      </p:pic>
      <p:pic>
        <p:nvPicPr>
          <p:cNvPr id="5" name="Picture 4" descr="A graph with different colored lines&#10;&#10;Description automatically generated">
            <a:extLst>
              <a:ext uri="{FF2B5EF4-FFF2-40B4-BE49-F238E27FC236}">
                <a16:creationId xmlns:a16="http://schemas.microsoft.com/office/drawing/2014/main" id="{E84AEA23-D965-6907-BC9B-C3F5476D6898}"/>
              </a:ext>
            </a:extLst>
          </p:cNvPr>
          <p:cNvPicPr>
            <a:picLocks noChangeAspect="1"/>
          </p:cNvPicPr>
          <p:nvPr/>
        </p:nvPicPr>
        <p:blipFill>
          <a:blip r:embed="rId4"/>
          <a:stretch>
            <a:fillRect/>
          </a:stretch>
        </p:blipFill>
        <p:spPr>
          <a:xfrm>
            <a:off x="6729017" y="871758"/>
            <a:ext cx="5249065" cy="2056866"/>
          </a:xfrm>
          <a:prstGeom prst="rect">
            <a:avLst/>
          </a:prstGeom>
        </p:spPr>
      </p:pic>
      <p:sp>
        <p:nvSpPr>
          <p:cNvPr id="8" name="TextBox 7">
            <a:extLst>
              <a:ext uri="{FF2B5EF4-FFF2-40B4-BE49-F238E27FC236}">
                <a16:creationId xmlns:a16="http://schemas.microsoft.com/office/drawing/2014/main" id="{D1AF63A4-E6F2-F582-6357-2D7AAF02C803}"/>
              </a:ext>
            </a:extLst>
          </p:cNvPr>
          <p:cNvSpPr txBox="1"/>
          <p:nvPr/>
        </p:nvSpPr>
        <p:spPr>
          <a:xfrm>
            <a:off x="703400" y="2035629"/>
            <a:ext cx="5558031" cy="3970318"/>
          </a:xfrm>
          <a:prstGeom prst="rect">
            <a:avLst/>
          </a:prstGeom>
          <a:noFill/>
        </p:spPr>
        <p:txBody>
          <a:bodyPr wrap="square" rtlCol="0">
            <a:spAutoFit/>
          </a:bodyPr>
          <a:lstStyle/>
          <a:p>
            <a:r>
              <a:rPr lang="en-US" dirty="0"/>
              <a:t>From the database an ortholog has been identified that demonstrates behavior analogous to what you would expect from a psychrophilic protein.</a:t>
            </a:r>
          </a:p>
          <a:p>
            <a:endParaRPr lang="en-US" dirty="0"/>
          </a:p>
          <a:p>
            <a:r>
              <a:rPr lang="en-US" dirty="0"/>
              <a:t>RMSD is increased under thermophilic conditions (1.218 nm (12.2 </a:t>
            </a:r>
            <a:r>
              <a:rPr lang="en-US" dirty="0" err="1"/>
              <a:t>Å</a:t>
            </a:r>
            <a:r>
              <a:rPr lang="en-US" dirty="0"/>
              <a:t>) compared with psychrophilic conditions (0.864 nm (8.6 </a:t>
            </a:r>
            <a:r>
              <a:rPr lang="en-US" dirty="0" err="1"/>
              <a:t>Å</a:t>
            </a:r>
            <a:r>
              <a:rPr lang="en-US" dirty="0"/>
              <a:t>) (upper). Alluding to </a:t>
            </a:r>
            <a:r>
              <a:rPr lang="en-US" dirty="0" err="1"/>
              <a:t>dentaturing</a:t>
            </a:r>
            <a:r>
              <a:rPr lang="en-US" dirty="0"/>
              <a:t> under increased temperatures</a:t>
            </a:r>
          </a:p>
          <a:p>
            <a:endParaRPr lang="en-US" dirty="0"/>
          </a:p>
          <a:p>
            <a:r>
              <a:rPr lang="en-US" dirty="0"/>
              <a:t>The RMSF plot (lower), key to understanding flexibility of the protein, reflects what you would expect from a psychrophilic protein. Mean of 0.879 nm in the psychrophilic condition.</a:t>
            </a:r>
          </a:p>
          <a:p>
            <a:endParaRPr lang="en-US" dirty="0"/>
          </a:p>
        </p:txBody>
      </p:sp>
      <p:pic>
        <p:nvPicPr>
          <p:cNvPr id="10" name="Picture 9" descr="A graph of a graph&#10;&#10;Description automatically generated">
            <a:extLst>
              <a:ext uri="{FF2B5EF4-FFF2-40B4-BE49-F238E27FC236}">
                <a16:creationId xmlns:a16="http://schemas.microsoft.com/office/drawing/2014/main" id="{7D45C431-B654-E470-6C75-8E9B0C984DFF}"/>
              </a:ext>
            </a:extLst>
          </p:cNvPr>
          <p:cNvPicPr>
            <a:picLocks noChangeAspect="1"/>
          </p:cNvPicPr>
          <p:nvPr/>
        </p:nvPicPr>
        <p:blipFill>
          <a:blip r:embed="rId5"/>
          <a:stretch>
            <a:fillRect/>
          </a:stretch>
        </p:blipFill>
        <p:spPr>
          <a:xfrm>
            <a:off x="6729017" y="3800372"/>
            <a:ext cx="5249065" cy="2059760"/>
          </a:xfrm>
          <a:prstGeom prst="rect">
            <a:avLst/>
          </a:prstGeom>
        </p:spPr>
      </p:pic>
    </p:spTree>
    <p:extLst>
      <p:ext uri="{BB962C8B-B14F-4D97-AF65-F5344CB8AC3E}">
        <p14:creationId xmlns:p14="http://schemas.microsoft.com/office/powerpoint/2010/main" val="18313346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F6F530-594B-8BEA-CBEC-08DB7CE1D3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D400D8-D78C-570E-77BC-7A67C7C8F15F}"/>
              </a:ext>
            </a:extLst>
          </p:cNvPr>
          <p:cNvSpPr>
            <a:spLocks noGrp="1"/>
          </p:cNvSpPr>
          <p:nvPr>
            <p:ph type="ctrTitle"/>
          </p:nvPr>
        </p:nvSpPr>
        <p:spPr>
          <a:xfrm>
            <a:off x="703400" y="871759"/>
            <a:ext cx="5227171" cy="794672"/>
          </a:xfrm>
        </p:spPr>
        <p:txBody>
          <a:bodyPr>
            <a:normAutofit/>
          </a:bodyPr>
          <a:lstStyle/>
          <a:p>
            <a:pPr>
              <a:lnSpc>
                <a:spcPct val="90000"/>
              </a:lnSpc>
            </a:pPr>
            <a:r>
              <a:rPr lang="en-US" sz="4200" dirty="0"/>
              <a:t>Future work</a:t>
            </a:r>
          </a:p>
        </p:txBody>
      </p:sp>
      <p:pic>
        <p:nvPicPr>
          <p:cNvPr id="4" name="Picture 3">
            <a:extLst>
              <a:ext uri="{FF2B5EF4-FFF2-40B4-BE49-F238E27FC236}">
                <a16:creationId xmlns:a16="http://schemas.microsoft.com/office/drawing/2014/main" id="{D69E6D74-CF58-8476-9E5F-D9861CF3472F}"/>
              </a:ext>
            </a:extLst>
          </p:cNvPr>
          <p:cNvPicPr>
            <a:picLocks noChangeAspect="1"/>
          </p:cNvPicPr>
          <p:nvPr/>
        </p:nvPicPr>
        <p:blipFill>
          <a:blip r:embed="rId3"/>
          <a:srcRect r="17222"/>
          <a:stretch>
            <a:fillRect/>
          </a:stretch>
        </p:blipFill>
        <p:spPr>
          <a:xfrm>
            <a:off x="6515100" y="10"/>
            <a:ext cx="5676900" cy="6857990"/>
          </a:xfrm>
          <a:prstGeom prst="rect">
            <a:avLst/>
          </a:prstGeom>
        </p:spPr>
      </p:pic>
      <p:sp>
        <p:nvSpPr>
          <p:cNvPr id="5" name="TextBox 4">
            <a:extLst>
              <a:ext uri="{FF2B5EF4-FFF2-40B4-BE49-F238E27FC236}">
                <a16:creationId xmlns:a16="http://schemas.microsoft.com/office/drawing/2014/main" id="{739F7792-0EC0-525C-FC91-D220EBB48C48}"/>
              </a:ext>
            </a:extLst>
          </p:cNvPr>
          <p:cNvSpPr txBox="1"/>
          <p:nvPr/>
        </p:nvSpPr>
        <p:spPr>
          <a:xfrm>
            <a:off x="703400" y="1562986"/>
            <a:ext cx="5432091" cy="1477328"/>
          </a:xfrm>
          <a:prstGeom prst="rect">
            <a:avLst/>
          </a:prstGeom>
          <a:noFill/>
        </p:spPr>
        <p:txBody>
          <a:bodyPr wrap="square" rtlCol="0">
            <a:spAutoFit/>
          </a:bodyPr>
          <a:lstStyle/>
          <a:p>
            <a:r>
              <a:rPr lang="en-US" dirty="0"/>
              <a:t>Run Crystal structures through molecular dynamics pipeline to analyse behavior at different temperatures.</a:t>
            </a:r>
          </a:p>
          <a:p>
            <a:endParaRPr lang="en-US" dirty="0"/>
          </a:p>
          <a:p>
            <a:r>
              <a:rPr lang="en-US" dirty="0"/>
              <a:t>Add API LLM call ability to TMP agentic classifier software</a:t>
            </a:r>
          </a:p>
        </p:txBody>
      </p:sp>
    </p:spTree>
    <p:extLst>
      <p:ext uri="{BB962C8B-B14F-4D97-AF65-F5344CB8AC3E}">
        <p14:creationId xmlns:p14="http://schemas.microsoft.com/office/powerpoint/2010/main" val="31852503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827FBA-7947-88CB-3481-4B94A76937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36D1DC-F368-77C3-B3F8-A40B1D813BE7}"/>
              </a:ext>
            </a:extLst>
          </p:cNvPr>
          <p:cNvSpPr>
            <a:spLocks noGrp="1"/>
          </p:cNvSpPr>
          <p:nvPr>
            <p:ph type="ctrTitle"/>
          </p:nvPr>
        </p:nvSpPr>
        <p:spPr>
          <a:xfrm>
            <a:off x="703400" y="871759"/>
            <a:ext cx="5227171" cy="794672"/>
          </a:xfrm>
        </p:spPr>
        <p:txBody>
          <a:bodyPr>
            <a:normAutofit fontScale="90000"/>
          </a:bodyPr>
          <a:lstStyle/>
          <a:p>
            <a:pPr>
              <a:lnSpc>
                <a:spcPct val="90000"/>
              </a:lnSpc>
            </a:pPr>
            <a:r>
              <a:rPr lang="en-US" sz="4200" dirty="0"/>
              <a:t>Acknowledgements</a:t>
            </a:r>
          </a:p>
        </p:txBody>
      </p:sp>
      <p:pic>
        <p:nvPicPr>
          <p:cNvPr id="4" name="Picture 3">
            <a:extLst>
              <a:ext uri="{FF2B5EF4-FFF2-40B4-BE49-F238E27FC236}">
                <a16:creationId xmlns:a16="http://schemas.microsoft.com/office/drawing/2014/main" id="{B30B501C-EAEE-2F0D-4775-1702F1952C9E}"/>
              </a:ext>
            </a:extLst>
          </p:cNvPr>
          <p:cNvPicPr>
            <a:picLocks noChangeAspect="1"/>
          </p:cNvPicPr>
          <p:nvPr/>
        </p:nvPicPr>
        <p:blipFill>
          <a:blip r:embed="rId2"/>
          <a:srcRect r="17222"/>
          <a:stretch>
            <a:fillRect/>
          </a:stretch>
        </p:blipFill>
        <p:spPr>
          <a:xfrm>
            <a:off x="6515100" y="10"/>
            <a:ext cx="5676900" cy="6857990"/>
          </a:xfrm>
          <a:prstGeom prst="rect">
            <a:avLst/>
          </a:prstGeom>
        </p:spPr>
      </p:pic>
      <p:sp>
        <p:nvSpPr>
          <p:cNvPr id="5" name="TextBox 4">
            <a:extLst>
              <a:ext uri="{FF2B5EF4-FFF2-40B4-BE49-F238E27FC236}">
                <a16:creationId xmlns:a16="http://schemas.microsoft.com/office/drawing/2014/main" id="{505974E9-28F9-8F79-7564-F55758D36AB5}"/>
              </a:ext>
            </a:extLst>
          </p:cNvPr>
          <p:cNvSpPr txBox="1"/>
          <p:nvPr/>
        </p:nvSpPr>
        <p:spPr>
          <a:xfrm>
            <a:off x="703401" y="1666431"/>
            <a:ext cx="5227170" cy="1477328"/>
          </a:xfrm>
          <a:prstGeom prst="rect">
            <a:avLst/>
          </a:prstGeom>
          <a:noFill/>
        </p:spPr>
        <p:txBody>
          <a:bodyPr wrap="square" rtlCol="0">
            <a:spAutoFit/>
          </a:bodyPr>
          <a:lstStyle/>
          <a:p>
            <a:r>
              <a:rPr lang="en-US" dirty="0"/>
              <a:t>Thank you to Matt for being an extremely helpful supervisor for this project</a:t>
            </a:r>
          </a:p>
          <a:p>
            <a:endParaRPr lang="en-US" dirty="0"/>
          </a:p>
          <a:p>
            <a:r>
              <a:rPr lang="en-US" dirty="0"/>
              <a:t>Thanks to Emanuel for going through all of this with me.</a:t>
            </a:r>
          </a:p>
        </p:txBody>
      </p:sp>
    </p:spTree>
    <p:extLst>
      <p:ext uri="{BB962C8B-B14F-4D97-AF65-F5344CB8AC3E}">
        <p14:creationId xmlns:p14="http://schemas.microsoft.com/office/powerpoint/2010/main" val="4930971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B7864A-23A9-90B9-177D-38BA00C06E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F21700-B576-CFCD-A402-468E9EAB9DAE}"/>
              </a:ext>
            </a:extLst>
          </p:cNvPr>
          <p:cNvSpPr>
            <a:spLocks noGrp="1"/>
          </p:cNvSpPr>
          <p:nvPr>
            <p:ph type="ctrTitle"/>
          </p:nvPr>
        </p:nvSpPr>
        <p:spPr>
          <a:xfrm>
            <a:off x="703400" y="871759"/>
            <a:ext cx="5227171" cy="794672"/>
          </a:xfrm>
        </p:spPr>
        <p:txBody>
          <a:bodyPr>
            <a:normAutofit/>
          </a:bodyPr>
          <a:lstStyle/>
          <a:p>
            <a:pPr>
              <a:lnSpc>
                <a:spcPct val="90000"/>
              </a:lnSpc>
            </a:pPr>
            <a:r>
              <a:rPr lang="en-US" sz="4200" dirty="0"/>
              <a:t>References</a:t>
            </a:r>
          </a:p>
        </p:txBody>
      </p:sp>
      <p:pic>
        <p:nvPicPr>
          <p:cNvPr id="4" name="Picture 3">
            <a:extLst>
              <a:ext uri="{FF2B5EF4-FFF2-40B4-BE49-F238E27FC236}">
                <a16:creationId xmlns:a16="http://schemas.microsoft.com/office/drawing/2014/main" id="{0EF084AB-4697-7085-770A-6207820E1F10}"/>
              </a:ext>
            </a:extLst>
          </p:cNvPr>
          <p:cNvPicPr>
            <a:picLocks noChangeAspect="1"/>
          </p:cNvPicPr>
          <p:nvPr/>
        </p:nvPicPr>
        <p:blipFill>
          <a:blip r:embed="rId2"/>
          <a:srcRect r="17222"/>
          <a:stretch>
            <a:fillRect/>
          </a:stretch>
        </p:blipFill>
        <p:spPr>
          <a:xfrm>
            <a:off x="6515100" y="10"/>
            <a:ext cx="5676900" cy="6857990"/>
          </a:xfrm>
          <a:prstGeom prst="rect">
            <a:avLst/>
          </a:prstGeom>
        </p:spPr>
      </p:pic>
      <p:sp>
        <p:nvSpPr>
          <p:cNvPr id="3" name="TextBox 2">
            <a:extLst>
              <a:ext uri="{FF2B5EF4-FFF2-40B4-BE49-F238E27FC236}">
                <a16:creationId xmlns:a16="http://schemas.microsoft.com/office/drawing/2014/main" id="{33F2E002-BDBD-E949-FA29-F17D35721105}"/>
              </a:ext>
            </a:extLst>
          </p:cNvPr>
          <p:cNvSpPr txBox="1"/>
          <p:nvPr/>
        </p:nvSpPr>
        <p:spPr>
          <a:xfrm>
            <a:off x="703400" y="1666431"/>
            <a:ext cx="5676899" cy="4493538"/>
          </a:xfrm>
          <a:prstGeom prst="rect">
            <a:avLst/>
          </a:prstGeom>
          <a:noFill/>
        </p:spPr>
        <p:txBody>
          <a:bodyPr wrap="square" rtlCol="0">
            <a:spAutoFit/>
          </a:bodyPr>
          <a:lstStyle/>
          <a:p>
            <a:r>
              <a:rPr lang="en-US" sz="1100" dirty="0"/>
              <a:t>[1] </a:t>
            </a:r>
            <a:r>
              <a:rPr lang="en-GB" sz="1100" dirty="0"/>
              <a:t>Li, J. and Macdonald, J., 2015. Advances in isothermal amplification: novel strategies inspired by biological processes. Biosensors and Bioelectronics, 64, pp.196-211.</a:t>
            </a:r>
            <a:endParaRPr lang="en-US" sz="1100" dirty="0"/>
          </a:p>
          <a:p>
            <a:endParaRPr lang="en-US" sz="1100" dirty="0"/>
          </a:p>
          <a:p>
            <a:r>
              <a:rPr lang="en-US" sz="1100" dirty="0"/>
              <a:t>[2] </a:t>
            </a:r>
            <a:r>
              <a:rPr lang="en-GB" sz="1100" dirty="0"/>
              <a:t>Tarrant, E., Cormack, I.G., Hunter, C.E., </a:t>
            </a:r>
            <a:r>
              <a:rPr lang="en-GB" sz="1100" dirty="0" err="1"/>
              <a:t>Werbowy</a:t>
            </a:r>
            <a:r>
              <a:rPr lang="en-GB" sz="1100" dirty="0"/>
              <a:t>, O., </a:t>
            </a:r>
            <a:r>
              <a:rPr lang="en-GB" sz="1100" dirty="0" err="1"/>
              <a:t>Dorawa</a:t>
            </a:r>
            <a:r>
              <a:rPr lang="en-GB" sz="1100" dirty="0"/>
              <a:t>, S., Wang, L., Steen, I.H., </a:t>
            </a:r>
            <a:r>
              <a:rPr lang="en-GB" sz="1100" dirty="0" err="1"/>
              <a:t>Sandaa</a:t>
            </a:r>
            <a:r>
              <a:rPr lang="en-GB" sz="1100" dirty="0"/>
              <a:t>, R.A., </a:t>
            </a:r>
            <a:r>
              <a:rPr lang="en-GB" sz="1100" dirty="0" err="1"/>
              <a:t>Guðmundsdóttir</a:t>
            </a:r>
            <a:r>
              <a:rPr lang="en-GB" sz="1100" dirty="0"/>
              <a:t>, E.E., </a:t>
            </a:r>
            <a:r>
              <a:rPr lang="en-GB" sz="1100" dirty="0" err="1"/>
              <a:t>Ketelsen-Striberny</a:t>
            </a:r>
            <a:r>
              <a:rPr lang="en-GB" sz="1100" dirty="0"/>
              <a:t>, B. and Kaczorowska, A.K., 2026. Structure, function, and applications of two novel phage recombinases from extreme environments. Nucleic acids research, 54(4), p.gkag069.</a:t>
            </a:r>
            <a:endParaRPr lang="en-US" sz="1100" dirty="0"/>
          </a:p>
          <a:p>
            <a:endParaRPr lang="en-US" sz="1100" dirty="0"/>
          </a:p>
          <a:p>
            <a:r>
              <a:rPr lang="en-US" sz="1100" dirty="0"/>
              <a:t>[3] </a:t>
            </a:r>
            <a:r>
              <a:rPr lang="en-GB" sz="1100" dirty="0"/>
              <a:t>Eddy, S.R., 2011. Accelerated profile HMM searches. </a:t>
            </a:r>
            <a:r>
              <a:rPr lang="en-GB" sz="1100" dirty="0" err="1"/>
              <a:t>PLoS</a:t>
            </a:r>
            <a:r>
              <a:rPr lang="en-GB" sz="1100" dirty="0"/>
              <a:t> computational biology, 7(10), p.e1002195.</a:t>
            </a:r>
            <a:endParaRPr lang="en-US" sz="1100" dirty="0"/>
          </a:p>
          <a:p>
            <a:endParaRPr lang="en-US" sz="1100" dirty="0"/>
          </a:p>
          <a:p>
            <a:r>
              <a:rPr lang="en-US" sz="1100" dirty="0"/>
              <a:t>[4] </a:t>
            </a:r>
            <a:r>
              <a:rPr lang="en-GB" sz="1100" dirty="0"/>
              <a:t>Qiu, S., Hu, B., Zhao, J., Xu, W. and Yang, A., 2025. Seq2Topt: a sequence-based deep learning predictor of enzyme optimal temperature. Briefings in Bioinformatics, 26(2), p.bbaf114.</a:t>
            </a:r>
          </a:p>
          <a:p>
            <a:endParaRPr lang="en-US" sz="1100" dirty="0"/>
          </a:p>
          <a:p>
            <a:r>
              <a:rPr lang="en-US" sz="1100" dirty="0"/>
              <a:t>[5] </a:t>
            </a:r>
            <a:r>
              <a:rPr lang="en-GB" sz="1100" dirty="0"/>
              <a:t>Passaro, S., Corso, G., Wohlwend, J., Reveiz, M., Thaler, S., Somnath, V.R., Getz, N., </a:t>
            </a:r>
            <a:r>
              <a:rPr lang="en-GB" sz="1100" dirty="0" err="1"/>
              <a:t>Portnoi</a:t>
            </a:r>
            <a:r>
              <a:rPr lang="en-GB" sz="1100" dirty="0"/>
              <a:t>, T., Roy, J., Stark, H. and </a:t>
            </a:r>
            <a:r>
              <a:rPr lang="en-GB" sz="1100" dirty="0" err="1"/>
              <a:t>Kwabi</a:t>
            </a:r>
            <a:r>
              <a:rPr lang="en-GB" sz="1100" dirty="0"/>
              <a:t>-Addo, D., 2025. Boltz-2: Towards accurate and efficient binding affinity prediction. </a:t>
            </a:r>
            <a:r>
              <a:rPr lang="en-GB" sz="1100" dirty="0" err="1"/>
              <a:t>BioRxiv</a:t>
            </a:r>
            <a:r>
              <a:rPr lang="en-GB" sz="1100" dirty="0"/>
              <a:t>.</a:t>
            </a:r>
            <a:endParaRPr lang="en-US" sz="1100" dirty="0"/>
          </a:p>
          <a:p>
            <a:endParaRPr lang="en-US" sz="1100" dirty="0"/>
          </a:p>
          <a:p>
            <a:r>
              <a:rPr lang="en-US" sz="1100" dirty="0"/>
              <a:t>[6] </a:t>
            </a:r>
            <a:r>
              <a:rPr lang="en-GB" sz="1100" dirty="0"/>
              <a:t>Abramson, J., Adler, J., </a:t>
            </a:r>
            <a:r>
              <a:rPr lang="en-GB" sz="1100" dirty="0" err="1"/>
              <a:t>Dunger</a:t>
            </a:r>
            <a:r>
              <a:rPr lang="en-GB" sz="1100" dirty="0"/>
              <a:t>, J., Evans, R., Green, T., </a:t>
            </a:r>
            <a:r>
              <a:rPr lang="en-GB" sz="1100" dirty="0" err="1"/>
              <a:t>Pritzel</a:t>
            </a:r>
            <a:r>
              <a:rPr lang="en-GB" sz="1100" dirty="0"/>
              <a:t>, A., </a:t>
            </a:r>
            <a:r>
              <a:rPr lang="en-GB" sz="1100" dirty="0" err="1"/>
              <a:t>Ronneberger</a:t>
            </a:r>
            <a:r>
              <a:rPr lang="en-GB" sz="1100" dirty="0"/>
              <a:t>, O., Willmore, L., Ballard, A.J., Bambrick, J. and </a:t>
            </a:r>
            <a:r>
              <a:rPr lang="en-GB" sz="1100" dirty="0" err="1"/>
              <a:t>Bodenstein</a:t>
            </a:r>
            <a:r>
              <a:rPr lang="en-GB" sz="1100" dirty="0"/>
              <a:t>, S.W., 2024. Accurate structure prediction of biomolecular interactions with AlphaFold 3. Nature, 630(8016), pp.493-500.</a:t>
            </a:r>
            <a:endParaRPr lang="en-US" sz="1100" dirty="0"/>
          </a:p>
          <a:p>
            <a:endParaRPr lang="en-US" sz="1100" dirty="0"/>
          </a:p>
          <a:p>
            <a:r>
              <a:rPr lang="en-US" sz="1100" dirty="0"/>
              <a:t>[7] </a:t>
            </a:r>
            <a:r>
              <a:rPr lang="en-GB" sz="1100" dirty="0"/>
              <a:t>Van Der </a:t>
            </a:r>
            <a:r>
              <a:rPr lang="en-GB" sz="1100" dirty="0" err="1"/>
              <a:t>Spoel</a:t>
            </a:r>
            <a:r>
              <a:rPr lang="en-GB" sz="1100" dirty="0"/>
              <a:t>, D., Lindahl, E., Hess, B., </a:t>
            </a:r>
            <a:r>
              <a:rPr lang="en-GB" sz="1100" dirty="0" err="1"/>
              <a:t>Groenhof</a:t>
            </a:r>
            <a:r>
              <a:rPr lang="en-GB" sz="1100" dirty="0"/>
              <a:t>, G., Mark, A.E. and Berendsen, H.J., 2005. GROMACS: fast, flexible, and free. Journal of computational chemistry, 26(16), pp.1701-1718.</a:t>
            </a:r>
            <a:endParaRPr lang="en-US" sz="1100" dirty="0"/>
          </a:p>
        </p:txBody>
      </p:sp>
    </p:spTree>
    <p:extLst>
      <p:ext uri="{BB962C8B-B14F-4D97-AF65-F5344CB8AC3E}">
        <p14:creationId xmlns:p14="http://schemas.microsoft.com/office/powerpoint/2010/main" val="36598461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692040-ED46-0F6A-A946-3D728AEE55D8}"/>
              </a:ext>
            </a:extLst>
          </p:cNvPr>
          <p:cNvSpPr>
            <a:spLocks noGrp="1"/>
          </p:cNvSpPr>
          <p:nvPr>
            <p:ph type="title"/>
          </p:nvPr>
        </p:nvSpPr>
        <p:spPr/>
        <p:txBody>
          <a:bodyPr>
            <a:normAutofit fontScale="90000"/>
          </a:bodyPr>
          <a:lstStyle/>
          <a:p>
            <a:r>
              <a:rPr lang="en-US" dirty="0"/>
              <a:t>Thank you for listening </a:t>
            </a:r>
            <a:br>
              <a:rPr lang="en-US" dirty="0"/>
            </a:br>
            <a:endParaRPr lang="en-US" dirty="0"/>
          </a:p>
        </p:txBody>
      </p:sp>
      <p:sp>
        <p:nvSpPr>
          <p:cNvPr id="3" name="Content Placeholder 2">
            <a:extLst>
              <a:ext uri="{FF2B5EF4-FFF2-40B4-BE49-F238E27FC236}">
                <a16:creationId xmlns:a16="http://schemas.microsoft.com/office/drawing/2014/main" id="{EA0D48B5-9400-61F8-391D-DB4D89280861}"/>
              </a:ext>
            </a:extLst>
          </p:cNvPr>
          <p:cNvSpPr>
            <a:spLocks noGrp="1"/>
          </p:cNvSpPr>
          <p:nvPr>
            <p:ph idx="1"/>
          </p:nvPr>
        </p:nvSpPr>
        <p:spPr/>
        <p:txBody>
          <a:bodyPr>
            <a:normAutofit/>
          </a:bodyPr>
          <a:lstStyle/>
          <a:p>
            <a:pPr marL="0" indent="0">
              <a:buNone/>
            </a:pPr>
            <a:r>
              <a:rPr lang="en-US" sz="3600" dirty="0">
                <a:latin typeface="+mj-lt"/>
              </a:rPr>
              <a:t>Questions?</a:t>
            </a:r>
          </a:p>
        </p:txBody>
      </p:sp>
    </p:spTree>
    <p:extLst>
      <p:ext uri="{BB962C8B-B14F-4D97-AF65-F5344CB8AC3E}">
        <p14:creationId xmlns:p14="http://schemas.microsoft.com/office/powerpoint/2010/main" val="1863119838"/>
      </p:ext>
    </p:extLst>
  </p:cSld>
  <p:clrMapOvr>
    <a:masterClrMapping/>
  </p:clrMapOvr>
</p:sld>
</file>

<file path=ppt/theme/theme1.xml><?xml version="1.0" encoding="utf-8"?>
<a:theme xmlns:a="http://schemas.openxmlformats.org/drawingml/2006/main" name="ChronicleVTI">
  <a:themeElements>
    <a:clrScheme name="Chronicle">
      <a:dk1>
        <a:srgbClr val="000000"/>
      </a:dk1>
      <a:lt1>
        <a:srgbClr val="FFFFFF"/>
      </a:lt1>
      <a:dk2>
        <a:srgbClr val="1C1C32"/>
      </a:dk2>
      <a:lt2>
        <a:srgbClr val="F8F4F1"/>
      </a:lt2>
      <a:accent1>
        <a:srgbClr val="734B67"/>
      </a:accent1>
      <a:accent2>
        <a:srgbClr val="959EBB"/>
      </a:accent2>
      <a:accent3>
        <a:srgbClr val="596781"/>
      </a:accent3>
      <a:accent4>
        <a:srgbClr val="7F6E8C"/>
      </a:accent4>
      <a:accent5>
        <a:srgbClr val="DB9A8F"/>
      </a:accent5>
      <a:accent6>
        <a:srgbClr val="C29AB1"/>
      </a:accent6>
      <a:hlink>
        <a:srgbClr val="778BA2"/>
      </a:hlink>
      <a:folHlink>
        <a:srgbClr val="A27C99"/>
      </a:folHlink>
    </a:clrScheme>
    <a:fontScheme name="Univers Calisto">
      <a:majorFont>
        <a:latin typeface="Univers Condensed"/>
        <a:ea typeface=""/>
        <a:cs typeface=""/>
      </a:majorFont>
      <a:minorFont>
        <a:latin typeface="Calisto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ChronicleVTI" id="{508E4D90-5116-4BF0-876B-3F422DD1F65F}" vid="{AA21DC3D-92A8-43A4-8358-ED428371CD5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4730</TotalTime>
  <Words>2058</Words>
  <Application>Microsoft Macintosh PowerPoint</Application>
  <PresentationFormat>Widescreen</PresentationFormat>
  <Paragraphs>288</Paragraphs>
  <Slides>20</Slides>
  <Notes>17</Notes>
  <HiddenSlides>0</HiddenSlides>
  <MMClips>1</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Aptos</vt:lpstr>
      <vt:lpstr>Arial</vt:lpstr>
      <vt:lpstr>Calisto MT</vt:lpstr>
      <vt:lpstr>Univers Condensed</vt:lpstr>
      <vt:lpstr>ChronicleVTI</vt:lpstr>
      <vt:lpstr>Computational discovery of cold-adapted UvsX orthologs for  Ambient temperature RPA</vt:lpstr>
      <vt:lpstr>Background</vt:lpstr>
      <vt:lpstr>Project Rationale</vt:lpstr>
      <vt:lpstr>GOLD STANDARDS</vt:lpstr>
      <vt:lpstr>Database curation</vt:lpstr>
      <vt:lpstr>Database curation</vt:lpstr>
      <vt:lpstr>Database curation</vt:lpstr>
      <vt:lpstr>Database curation</vt:lpstr>
      <vt:lpstr>Database curation</vt:lpstr>
      <vt:lpstr>Seq2Topt prediction</vt:lpstr>
      <vt:lpstr>Agentic literature search </vt:lpstr>
      <vt:lpstr>PowerPoint Presentation</vt:lpstr>
      <vt:lpstr>Agentic literature search</vt:lpstr>
      <vt:lpstr>Structural modelling</vt:lpstr>
      <vt:lpstr>Molecular dynamics</vt:lpstr>
      <vt:lpstr>Molecular dynamics Ortholog Results</vt:lpstr>
      <vt:lpstr>Future work</vt:lpstr>
      <vt:lpstr>Acknowledgements</vt:lpstr>
      <vt:lpstr>References</vt:lpstr>
      <vt:lpstr>Thank you for listening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Maria Elisabete Duarte</dc:creator>
  <cp:lastModifiedBy>Maria Elisabete Duarte</cp:lastModifiedBy>
  <cp:revision>7</cp:revision>
  <dcterms:created xsi:type="dcterms:W3CDTF">2026-06-10T12:26:58Z</dcterms:created>
  <dcterms:modified xsi:type="dcterms:W3CDTF">2026-06-19T19:20:51Z</dcterms:modified>
</cp:coreProperties>
</file>