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743"/>
  </p:normalViewPr>
  <p:slideViewPr>
    <p:cSldViewPr snapToGrid="0">
      <p:cViewPr varScale="1">
        <p:scale>
          <a:sx n="138" d="100"/>
          <a:sy n="138" d="100"/>
        </p:scale>
        <p:origin x="6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A4A1-0227-D840-A78F-87E9AF2F4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DA068-7784-97CB-969F-1278238DF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D7252-C40A-4808-1B28-565E519B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EA55-52C1-6561-663D-5A219F10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18585-586E-6A2A-88BC-2BF6E4F3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06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2E4C-E37F-842D-755D-1559AAD3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604F5-6E87-7AA5-F053-1C7F66345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09FB1-6729-6A34-6D91-4B518CA0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39451-DBC2-57AB-52CC-9930A02B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DC81-7F35-5AC0-6057-1D49C982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8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1F40-17A0-E8AB-4136-A42734CC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5B282-8563-0E87-2496-63B107D4B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5CBBB-0E52-127C-2AB4-14E2FC96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4E7CB-8C96-9545-F935-3EED736F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2C171-D291-4891-0199-D8A6409B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2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8D44-6ED1-D984-EB28-25AAC1CE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2362-B380-EB9F-8BDA-582EAABBF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39452-A425-84F5-61A3-3564CCEF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86F67-2981-2A40-CF6F-B176C6BF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1CA08-4978-919D-AD7A-3A53922C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30A72-E138-41B9-3794-F18BD5CA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39DC-58A4-8C47-EE97-11280CAD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9C04C-02C4-8476-404F-C9A3FB6C0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76CEA-E91D-69C5-9991-A59B9A4AD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3A2AF-135F-60DB-2E8B-9992AE9D7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3EC2-88C5-B83D-0E56-1C6A340B7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C63B4-A5CB-8309-0AE7-6BB862F1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BC2B8-F8EF-E456-772E-F33B25D2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5AEAC-43C0-6AF3-200D-6A9EC862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136E-B059-A1F6-51DE-97EAF3D9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B7D7F-726C-FBFD-FE8C-56CE6714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99CB6-C7EB-5EF9-7925-B39707F6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F190B-AEBF-ACF9-21F4-7CBD65F7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F8F71-0A1F-4B78-6CBC-80212794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98E1D-DDB6-F071-11D5-481D3D5D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1ECF6-5F3F-0AB0-CB75-BC311DEF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69F2-C381-1107-B55A-D119963C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2E12C-96DD-52CA-9D78-83D4ECEE9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5668A-4130-DC72-64F5-9AD888492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B9280-01B2-F087-6454-71250FC9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65836-DFD1-A6AB-3553-88D2DABB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039FB-ACA1-A0B9-4328-C087F901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1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E98D-C3CB-202D-F3E6-48EC5C15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D5B97C-D501-BCE7-D20A-81BE50C71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14345-6F57-6D07-1BD3-8C860A25C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FF7AF-9B2D-2773-DDC6-024D790A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AE96C-1DC9-8E56-6B5E-63588FEB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96E29-7B95-3620-34F7-A587D9E4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7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0AAD-8E34-9212-BD9F-9B7AA7BE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B448A-24D3-32D3-0833-E59EA6AB4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37F26-11D7-319A-D9E9-B68C8ECC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0750B-9C74-B3F4-B425-C1E7A20C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B0A02-A060-6F74-A021-F6A8D5A0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CBCBA-EFCB-130E-3CDA-85646F7BF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8D893-8AEC-E201-C4E5-651799284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F8C3A-ACC4-D20B-F386-76B538B7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D553-296F-C9B3-6BBD-90F09AFC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8322D-9A10-306A-F389-62F3961A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8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7695D-B468-9A78-89D4-FF9F485F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B1EBD-93C9-D8B7-65E8-78100F2A9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8B9D-7138-5D15-D2D9-EC303E282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0735D-ABC4-1E4D-BECE-5842F62B5C5F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73A6A-694F-4B40-A572-FD10290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C537-5805-3351-6948-08F8AE3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DFF59-B183-544E-9DE2-0BF5E79A7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9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E1B1-B472-2050-97D4-847D8830ED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HMMER3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284CD-C16A-6862-8B8B-BC924A3EA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4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FBE8-1D88-6F49-A541-A39ED41B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HMMER3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915E-8053-F740-698F-D3CF8530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HMMER is used for searching sequence databases for sequence homologs using Hidden Markov Models</a:t>
            </a:r>
          </a:p>
          <a:p>
            <a:r>
              <a:rPr lang="en-US" dirty="0"/>
              <a:t>HMMER is designed to detect remote homologs as sensitively as possible</a:t>
            </a:r>
          </a:p>
          <a:p>
            <a:r>
              <a:rPr lang="en-US" dirty="0"/>
              <a:t>It uses alignments to search against a database, predicting which ones may also be apart of the alignment used for training.</a:t>
            </a:r>
          </a:p>
        </p:txBody>
      </p:sp>
    </p:spTree>
    <p:extLst>
      <p:ext uri="{BB962C8B-B14F-4D97-AF65-F5344CB8AC3E}">
        <p14:creationId xmlns:p14="http://schemas.microsoft.com/office/powerpoint/2010/main" val="426765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4882-733C-CB62-BD33-F63250A8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6378-63AD-3B7B-D168-B1A2D4F15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Observed states (sequence)</a:t>
            </a:r>
          </a:p>
          <a:p>
            <a:r>
              <a:rPr lang="en-US" dirty="0"/>
              <a:t>Hidden states (</a:t>
            </a:r>
            <a:r>
              <a:rPr lang="en-GB" dirty="0"/>
              <a:t>Match / Insert / Delete states</a:t>
            </a:r>
            <a:r>
              <a:rPr lang="en-US" dirty="0"/>
              <a:t>)</a:t>
            </a:r>
          </a:p>
          <a:p>
            <a:r>
              <a:rPr lang="en-US" dirty="0"/>
              <a:t>Observed states are used to infer hidden states based on how likely each observed state is found in a given hidden state and the likelihood of moving between states. </a:t>
            </a:r>
          </a:p>
          <a:p>
            <a:r>
              <a:rPr lang="en-GB" dirty="0"/>
              <a:t>The most probable path of hidden states (Viterbi)</a:t>
            </a:r>
          </a:p>
          <a:p>
            <a:r>
              <a:rPr lang="en-GB" dirty="0"/>
              <a:t>The overall probability of the sequence (Forward algorithm)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5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75F2-AC97-0032-1E4A-8CCD1686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86A6B-3C6D-574A-920E-91124B445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an alignment of sequences. In which there is an underlying hidden state (domains found in </a:t>
            </a:r>
            <a:r>
              <a:rPr lang="en-US" dirty="0" err="1"/>
              <a:t>UvsX</a:t>
            </a:r>
            <a:r>
              <a:rPr lang="en-US" dirty="0"/>
              <a:t>, ATP and </a:t>
            </a:r>
            <a:r>
              <a:rPr lang="en-US" dirty="0" err="1"/>
              <a:t>dna</a:t>
            </a:r>
            <a:r>
              <a:rPr lang="en-US" dirty="0"/>
              <a:t> binding sites). </a:t>
            </a:r>
          </a:p>
          <a:p>
            <a:r>
              <a:rPr lang="en-US" dirty="0"/>
              <a:t>We can infer what state a section of the protein is based on the observed sequence. </a:t>
            </a:r>
          </a:p>
          <a:p>
            <a:r>
              <a:rPr lang="en-US" dirty="0"/>
              <a:t>Conserved regions between the sequences</a:t>
            </a:r>
          </a:p>
          <a:p>
            <a:r>
              <a:rPr lang="en-US" dirty="0"/>
              <a:t>We can then create a HMM profile and scan this against the database .</a:t>
            </a:r>
          </a:p>
          <a:p>
            <a:r>
              <a:rPr lang="en-US" dirty="0"/>
              <a:t>HMM will output a score of each sequence based on how well it matches the conserved domains in the alignment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59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AE87-56DD-80CB-AA94-4AA0E280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0A12-0F0C-8614-E16B-48E1DC267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alignment of a protein family you want to search for in a database. Convert to a Stockholm format for HMMER3</a:t>
            </a:r>
          </a:p>
          <a:p>
            <a:r>
              <a:rPr lang="en-US" dirty="0"/>
              <a:t>Alignment captures conserved regions, variable regions and insertions or gaps</a:t>
            </a:r>
          </a:p>
        </p:txBody>
      </p:sp>
      <p:pic>
        <p:nvPicPr>
          <p:cNvPr id="5" name="Picture 4" descr="A close-up of a list of words&#10;&#10;Description automatically generated">
            <a:extLst>
              <a:ext uri="{FF2B5EF4-FFF2-40B4-BE49-F238E27FC236}">
                <a16:creationId xmlns:a16="http://schemas.microsoft.com/office/drawing/2014/main" id="{08CEFD34-DB0A-313C-A658-898F9F6D6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0" y="4001294"/>
            <a:ext cx="7772400" cy="174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6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101D-9D7A-4AAF-F006-1CE00CDAA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11075-DDEF-1348-39E0-8777E850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Profile HMM</a:t>
            </a:r>
          </a:p>
          <a:p>
            <a:r>
              <a:rPr lang="en-US" dirty="0"/>
              <a:t>HMMER converts alignment into a hidden Markov model.</a:t>
            </a:r>
          </a:p>
          <a:p>
            <a:r>
              <a:rPr lang="en-US" dirty="0"/>
              <a:t>Matched states = conserved positions</a:t>
            </a:r>
          </a:p>
          <a:p>
            <a:r>
              <a:rPr lang="en-US" dirty="0"/>
              <a:t>Insert states = flexible regions</a:t>
            </a:r>
          </a:p>
          <a:p>
            <a:r>
              <a:rPr lang="en-US" dirty="0"/>
              <a:t>Delete states = gaps</a:t>
            </a:r>
          </a:p>
        </p:txBody>
      </p:sp>
    </p:spTree>
    <p:extLst>
      <p:ext uri="{BB962C8B-B14F-4D97-AF65-F5344CB8AC3E}">
        <p14:creationId xmlns:p14="http://schemas.microsoft.com/office/powerpoint/2010/main" val="389468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0136-7EAF-7142-584E-64AC58BF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761E-35A8-591C-B50F-63EF1A0B3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</a:t>
            </a:r>
            <a:r>
              <a:rPr lang="en-US" dirty="0" err="1"/>
              <a:t>fasta</a:t>
            </a:r>
            <a:r>
              <a:rPr lang="en-US" dirty="0"/>
              <a:t> database using profile HMM</a:t>
            </a:r>
          </a:p>
          <a:p>
            <a:r>
              <a:rPr lang="en-GB" dirty="0"/>
              <a:t>The output returns sequences ranked by their likelihood of belonging to the same protein family.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4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4311-049B-C3BB-9E62-1A572189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E47A-D4B8-8299-D05F-3C97C2C53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I do alignment of only the ATP and DNA binding domains. </a:t>
            </a:r>
          </a:p>
          <a:p>
            <a:r>
              <a:rPr lang="en-US" dirty="0"/>
              <a:t>Create a profile HMM for each domain. </a:t>
            </a:r>
          </a:p>
          <a:p>
            <a:r>
              <a:rPr lang="en-US" dirty="0"/>
              <a:t>Should I do both and compare seqs identified. Can be apart of the scoring system</a:t>
            </a:r>
          </a:p>
        </p:txBody>
      </p:sp>
    </p:spTree>
    <p:extLst>
      <p:ext uri="{BB962C8B-B14F-4D97-AF65-F5344CB8AC3E}">
        <p14:creationId xmlns:p14="http://schemas.microsoft.com/office/powerpoint/2010/main" val="1700753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11879</TotalTime>
  <Words>330</Words>
  <Application>Microsoft Macintosh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HMMER3</vt:lpstr>
      <vt:lpstr>What HMMER3 does</vt:lpstr>
      <vt:lpstr>Hidden Markov models</vt:lpstr>
      <vt:lpstr>My application</vt:lpstr>
      <vt:lpstr>Step 1</vt:lpstr>
      <vt:lpstr>Step 2</vt:lpstr>
      <vt:lpstr>Step 3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Elisabete Duarte</dc:creator>
  <cp:lastModifiedBy>Maria Elisabete Duarte</cp:lastModifiedBy>
  <cp:revision>1</cp:revision>
  <dcterms:created xsi:type="dcterms:W3CDTF">2026-03-31T16:03:45Z</dcterms:created>
  <dcterms:modified xsi:type="dcterms:W3CDTF">2026-04-08T22:03:16Z</dcterms:modified>
</cp:coreProperties>
</file>