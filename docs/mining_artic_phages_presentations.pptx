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4"/>
  </p:sldMasterIdLst>
  <p:notesMasterIdLst>
    <p:notesMasterId r:id="rId22"/>
  </p:notesMasterIdLst>
  <p:handoutMasterIdLst>
    <p:handoutMasterId r:id="rId23"/>
  </p:handoutMasterIdLst>
  <p:sldIdLst>
    <p:sldId id="259" r:id="rId5"/>
    <p:sldId id="264" r:id="rId6"/>
    <p:sldId id="260" r:id="rId7"/>
    <p:sldId id="261" r:id="rId8"/>
    <p:sldId id="262" r:id="rId9"/>
    <p:sldId id="263" r:id="rId10"/>
    <p:sldId id="269" r:id="rId11"/>
    <p:sldId id="271" r:id="rId12"/>
    <p:sldId id="265" r:id="rId13"/>
    <p:sldId id="266" r:id="rId14"/>
    <p:sldId id="272" r:id="rId15"/>
    <p:sldId id="275" r:id="rId16"/>
    <p:sldId id="267" r:id="rId17"/>
    <p:sldId id="273" r:id="rId18"/>
    <p:sldId id="268" r:id="rId19"/>
    <p:sldId id="270" r:id="rId20"/>
    <p:sldId id="274" r:id="rId21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1008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321">
          <p15:clr>
            <a:srgbClr val="A4A3A4"/>
          </p15:clr>
        </p15:guide>
        <p15:guide id="5" pos="3839">
          <p15:clr>
            <a:srgbClr val="A4A3A4"/>
          </p15:clr>
        </p15:guide>
        <p15:guide id="6" pos="1007">
          <p15:clr>
            <a:srgbClr val="A4A3A4"/>
          </p15:clr>
        </p15:guide>
        <p15:guide id="7" pos="7173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0106BA-7C7D-1E3A-3F9B-FF8FF0C7297A}" v="1" dt="2026-03-19T10:22:57.05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879" autoAdjust="0"/>
    <p:restoredTop sz="94743"/>
  </p:normalViewPr>
  <p:slideViewPr>
    <p:cSldViewPr showGuides="1">
      <p:cViewPr varScale="1">
        <p:scale>
          <a:sx n="138" d="100"/>
          <a:sy n="138" d="100"/>
        </p:scale>
        <p:origin x="656" y="488"/>
      </p:cViewPr>
      <p:guideLst>
        <p:guide orient="horz" pos="2160"/>
        <p:guide orient="horz" pos="1008"/>
        <p:guide orient="horz" pos="3888"/>
        <p:guide orient="horz" pos="321"/>
        <p:guide pos="3839"/>
        <p:guide pos="1007"/>
        <p:guide pos="7173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howGuides="1">
      <p:cViewPr varScale="1">
        <p:scale>
          <a:sx n="76" d="100"/>
          <a:sy n="76" d="100"/>
        </p:scale>
        <p:origin x="3264" y="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B7646E-8811-423A-9C42-2CBFADA00A96}" type="datetimeFigureOut">
              <a:rPr lang="en-US" smtClean="0"/>
              <a:t>3/19/26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360E59-1627-4404-ACC5-51C744AB0F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2254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D677E230-58DD-43ED-96A1-552DDAB53532}" type="datetimeFigureOut">
              <a:rPr lang="en-US" smtClean="0"/>
              <a:pPr/>
              <a:t>3/19/26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841221E5-7225-48EB-A4EE-420E7BFCF70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669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0741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www.sciencedirect.com</a:t>
            </a:r>
            <a:r>
              <a:rPr lang="en-US" dirty="0"/>
              <a:t>/science/article/</a:t>
            </a:r>
            <a:r>
              <a:rPr lang="en-US" dirty="0" err="1"/>
              <a:t>pii</a:t>
            </a:r>
            <a:r>
              <a:rPr lang="en-US" dirty="0"/>
              <a:t>/S0956566314006654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3859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 bwMode="ltGray"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28669" y="1600200"/>
            <a:ext cx="8329031" cy="2680127"/>
          </a:xfrm>
          <a:noFill/>
          <a:effectLst>
            <a:softEdge rad="31750"/>
          </a:effectLst>
        </p:spPr>
        <p:txBody>
          <a:bodyPr anchor="b">
            <a:noAutofit/>
          </a:bodyPr>
          <a:lstStyle>
            <a:lvl1pPr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28669" y="4344915"/>
            <a:ext cx="7516442" cy="111608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32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699025" y="6356351"/>
            <a:ext cx="1218883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0253C03-C60F-4FF5-BBBF-078D44B72E7D}" type="datetime1">
              <a:rPr lang="en-US" smtClean="0"/>
              <a:t>3/19/26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114708" y="6356351"/>
            <a:ext cx="397406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85571" y="6356351"/>
            <a:ext cx="609441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DC1BBB0-96F0-4077-A278-0F3FB5C104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988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40BF0-453F-47A9-9012-5AED3B22E7A1}" type="datetime1">
              <a:rPr lang="en-US" smtClean="0"/>
              <a:t>3/19/26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529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8613" y="1600201"/>
            <a:ext cx="8283272" cy="2654064"/>
          </a:xfrm>
        </p:spPr>
        <p:txBody>
          <a:bodyPr anchor="b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98613" y="4259996"/>
            <a:ext cx="7264623" cy="1150203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32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F6906E3-B742-4986-90B6-990F07048832}" type="datetime1">
              <a:rPr lang="en-US" smtClean="0"/>
              <a:t>3/19/26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DC1BBB0-96F0-4077-A278-0F3FB5C104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911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93436" y="1600200"/>
            <a:ext cx="4814586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61651" y="1600200"/>
            <a:ext cx="4814586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 baseline="0"/>
            </a:lvl6pPr>
            <a:lvl7pPr>
              <a:defRPr sz="1800" baseline="0"/>
            </a:lvl7pPr>
            <a:lvl8pPr>
              <a:defRPr sz="1800" baseline="0"/>
            </a:lvl8pPr>
            <a:lvl9pPr>
              <a:defRPr sz="18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A372C-B131-4034-B61F-BCF761990A4F}" type="datetime1">
              <a:rPr lang="en-US" smtClean="0"/>
              <a:t>3/19/26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401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3436" y="177800"/>
            <a:ext cx="9782801" cy="123983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93436" y="1499616"/>
            <a:ext cx="4818888" cy="938784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24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93436" y="2514706"/>
            <a:ext cx="4814586" cy="365749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 baseline="0"/>
            </a:lvl8pPr>
            <a:lvl9pPr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9524" y="1499616"/>
            <a:ext cx="4818888" cy="938784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24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9524" y="2514600"/>
            <a:ext cx="4818888" cy="365556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70B50-D705-4567-8892-606DA8DDC082}" type="datetime1">
              <a:rPr lang="en-US" smtClean="0"/>
              <a:t>3/19/26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950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93B8A-AC5E-448D-90F1-5F90DC8C0860}" type="datetime1">
              <a:rPr lang="en-US" smtClean="0"/>
              <a:t>3/19/26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679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D0D57-1DF2-4CE0-A88F-4398D994BF4C}" type="datetime1">
              <a:rPr lang="en-US" smtClean="0"/>
              <a:t>3/19/26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>
            <a:lvl1pPr algn="r">
              <a:defRPr lang="en-US" smtClean="0"/>
            </a:lvl1pPr>
          </a:lstStyle>
          <a:p>
            <a:fld id="{7DC1BBB0-96F0-4077-A278-0F3FB5C104D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6178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6098"/>
            <a:ext cx="1218882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1598612" y="381000"/>
            <a:ext cx="3293422" cy="1371600"/>
          </a:xfrm>
        </p:spPr>
        <p:txBody>
          <a:bodyPr anchor="b">
            <a:normAutofit/>
          </a:bodyPr>
          <a:lstStyle>
            <a:lvl1pPr algn="l">
              <a:defRPr sz="2800" b="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white">
          <a:xfrm>
            <a:off x="1598612" y="1828800"/>
            <a:ext cx="3293422" cy="434340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32426" y="482600"/>
            <a:ext cx="6195986" cy="56896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 baseline="0"/>
            </a:lvl8pPr>
            <a:lvl9pPr>
              <a:defRPr sz="18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11A79-789F-42C6-A798-E2703A37BA23}" type="datetime1">
              <a:rPr lang="en-US" smtClean="0"/>
              <a:t>3/19/26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899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5103812" y="0"/>
            <a:ext cx="6324601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6718" y="381000"/>
            <a:ext cx="3293422" cy="1371600"/>
          </a:xfrm>
        </p:spPr>
        <p:txBody>
          <a:bodyPr anchor="b">
            <a:normAutofit/>
          </a:bodyPr>
          <a:lstStyle>
            <a:lvl1pPr algn="l">
              <a:defRPr sz="2800" b="0" cap="all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 bwMode="auto">
          <a:xfrm>
            <a:off x="5232426" y="482600"/>
            <a:ext cx="6043586" cy="5689600"/>
          </a:xfrm>
          <a:ln w="19050">
            <a:solidFill>
              <a:schemeClr val="bg1"/>
            </a:solidFill>
          </a:ln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16718" y="1828800"/>
            <a:ext cx="3293422" cy="434340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74BA6-2CAA-43FD-B6CB-325C80A91D3E}" type="datetime1">
              <a:rPr lang="en-US" smtClean="0"/>
              <a:t>3/19/26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038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56D9D-9483-42E7-8CD7-15EDE1A4DDC4}" type="datetime1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161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9612" y="685800"/>
            <a:ext cx="1787526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98613" y="685800"/>
            <a:ext cx="7848599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D5F10-92B8-46C7-A107-1CF6EB1C2F18}" type="datetime1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294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93436" y="177800"/>
            <a:ext cx="9782801" cy="12398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93436" y="1600200"/>
            <a:ext cx="9782801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80250" y="6316091"/>
            <a:ext cx="12188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baseline="0">
                <a:solidFill>
                  <a:schemeClr val="tx1"/>
                </a:solidFill>
              </a:defRPr>
            </a:lvl1pPr>
          </a:lstStyle>
          <a:p>
            <a:fld id="{0D141A01-0FF1-467E-B344-8F7D0706474A}" type="datetime1">
              <a:rPr lang="en-US" smtClean="0"/>
              <a:pPr/>
              <a:t>3/19/26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5933" y="6316091"/>
            <a:ext cx="39740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66796" y="6316091"/>
            <a:ext cx="6094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cap="all" baseline="0">
                <a:solidFill>
                  <a:schemeClr val="tx1"/>
                </a:solidFill>
              </a:defRPr>
            </a:lvl1pPr>
          </a:lstStyle>
          <a:p>
            <a:fld id="{7DC1BBB0-96F0-4077-A278-0F3FB5C104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629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46888" indent="-246888" algn="l" defTabSz="914400" rtl="0" eaLnBrk="1" latinLnBrk="0" hangingPunct="1">
        <a:lnSpc>
          <a:spcPct val="90000"/>
        </a:lnSpc>
        <a:spcBef>
          <a:spcPts val="1400"/>
        </a:spcBef>
        <a:buFont typeface="Euphemia" pitchFamily="34" charset="0"/>
        <a:buChar char="›"/>
        <a:defRPr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61264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97840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344168" indent="-246888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–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70992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07568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44144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80720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17296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0" orient="horz" pos="2160" userDrawn="1">
          <p15:clr>
            <a:srgbClr val="F26B43"/>
          </p15:clr>
        </p15:guide>
        <p15:guide id="1" pos="3839" userDrawn="1">
          <p15:clr>
            <a:srgbClr val="F26B43"/>
          </p15:clr>
        </p15:guide>
        <p15:guide id="2" pos="1007" userDrawn="1">
          <p15:clr>
            <a:srgbClr val="F26B43"/>
          </p15:clr>
        </p15:guide>
        <p15:guide id="3" pos="719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Week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/>
          </a:bodyPr>
          <a:lstStyle/>
          <a:p>
            <a:r>
              <a:rPr lang="en-GB" dirty="0"/>
              <a:t>Mining Arctic </a:t>
            </a:r>
            <a:r>
              <a:rPr lang="en-GB" dirty="0" err="1"/>
              <a:t>Phages</a:t>
            </a:r>
            <a:r>
              <a:rPr lang="en-GB" dirty="0"/>
              <a:t> to Build The Next </a:t>
            </a:r>
          </a:p>
          <a:p>
            <a:r>
              <a:rPr lang="en-GB" dirty="0"/>
              <a:t>Generation of NAAT-based Diagnostics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199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2DE0D-CA8F-4410-245E-C3EE3796D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Phases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0F3F4-29D7-5D41-1139-B66CB9E296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Phase 1: Literature review</a:t>
            </a:r>
          </a:p>
          <a:p>
            <a:r>
              <a:rPr lang="en-GB" dirty="0"/>
              <a:t>Phase 2: Identify candidate orthologs</a:t>
            </a:r>
          </a:p>
          <a:p>
            <a:r>
              <a:rPr lang="en-GB" dirty="0"/>
              <a:t>Phase 3: Filter candidate orthologs</a:t>
            </a:r>
          </a:p>
          <a:p>
            <a:r>
              <a:rPr lang="en-GB" dirty="0"/>
              <a:t>Phase 4: Classify thermal ranges of orthologs.</a:t>
            </a:r>
          </a:p>
        </p:txBody>
      </p:sp>
    </p:spTree>
    <p:extLst>
      <p:ext uri="{BB962C8B-B14F-4D97-AF65-F5344CB8AC3E}">
        <p14:creationId xmlns:p14="http://schemas.microsoft.com/office/powerpoint/2010/main" val="1107900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1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A review of the literature is needed to:</a:t>
            </a:r>
          </a:p>
          <a:p>
            <a:pPr lvl="0">
              <a:buFontTx/>
              <a:buChar char="-"/>
            </a:pPr>
            <a:r>
              <a:rPr lang="en-US" dirty="0"/>
              <a:t>Understand the biological system better</a:t>
            </a:r>
          </a:p>
          <a:p>
            <a:pPr lvl="0">
              <a:buFontTx/>
              <a:buChar char="-"/>
            </a:pPr>
            <a:r>
              <a:rPr lang="en-US" dirty="0"/>
              <a:t>Find tried and tested methods of discovery that I can base my methodology on. </a:t>
            </a:r>
          </a:p>
          <a:p>
            <a:pPr lvl="0">
              <a:buFontTx/>
              <a:buChar char="-"/>
            </a:pPr>
            <a:r>
              <a:rPr lang="en-US" dirty="0"/>
              <a:t>Identify potential markers to find orthologs.</a:t>
            </a:r>
          </a:p>
          <a:p>
            <a:pPr lvl="0">
              <a:buFontTx/>
              <a:buChar char="-"/>
            </a:pPr>
            <a:r>
              <a:rPr lang="en-US" dirty="0"/>
              <a:t>Useful databases and tools to make the best use of the search space </a:t>
            </a:r>
            <a:r>
              <a:rPr lang="en-US" dirty="0" err="1"/>
              <a:t>avaliable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1498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2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B286E5-D818-F8EF-A9F8-096B9631DD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Applicable methodologies applied to databases will provide a large sample of sequences</a:t>
            </a:r>
          </a:p>
          <a:p>
            <a:r>
              <a:rPr lang="en-GB" dirty="0"/>
              <a:t>BLAST, </a:t>
            </a:r>
            <a:r>
              <a:rPr lang="en-GB" dirty="0" err="1"/>
              <a:t>Kmer</a:t>
            </a:r>
            <a:r>
              <a:rPr lang="en-GB" dirty="0"/>
              <a:t> searching, marker searching, </a:t>
            </a:r>
            <a:r>
              <a:rPr lang="en-GB" dirty="0" err="1"/>
              <a:t>orthofinder</a:t>
            </a:r>
            <a:r>
              <a:rPr lang="en-GB" dirty="0"/>
              <a:t> and others will be used to get a large initial pool of potential candidates.</a:t>
            </a:r>
          </a:p>
          <a:p>
            <a:r>
              <a:rPr lang="en-GB" dirty="0"/>
              <a:t>Databases such as </a:t>
            </a:r>
            <a:r>
              <a:rPr lang="en-GB" dirty="0" err="1"/>
              <a:t>RefSeq</a:t>
            </a:r>
            <a:r>
              <a:rPr lang="en-GB" dirty="0"/>
              <a:t>, NCBI, Uniprot and </a:t>
            </a:r>
            <a:r>
              <a:rPr lang="en-GB" dirty="0" err="1"/>
              <a:t>PhageScope</a:t>
            </a:r>
            <a:r>
              <a:rPr lang="en-GB" dirty="0"/>
              <a:t>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70659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3: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1A2221A-1AC1-2738-244E-35FE7F398E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93436" y="1600200"/>
            <a:ext cx="10405632" cy="45720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Scrutiny of the initial candidate list to filter out low likelihood candidates.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Could potentially skip this step if unfiltered candidates does not prove to be a large burden on computation.</a:t>
            </a:r>
          </a:p>
        </p:txBody>
      </p:sp>
    </p:spTree>
    <p:extLst>
      <p:ext uri="{BB962C8B-B14F-4D97-AF65-F5344CB8AC3E}">
        <p14:creationId xmlns:p14="http://schemas.microsoft.com/office/powerpoint/2010/main" val="1893254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4: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>
          <a:xfrm>
            <a:off x="1593436" y="1600200"/>
            <a:ext cx="10477640" cy="4572000"/>
          </a:xfrm>
        </p:spPr>
        <p:txBody>
          <a:bodyPr/>
          <a:lstStyle/>
          <a:p>
            <a:r>
              <a:rPr lang="en-US" dirty="0"/>
              <a:t>Classify thermal ranges of candidates to identify most suitable and active candidates at the desired temp range</a:t>
            </a:r>
          </a:p>
          <a:p>
            <a:r>
              <a:rPr lang="en-US" dirty="0"/>
              <a:t>Computational methods will be used.</a:t>
            </a:r>
          </a:p>
          <a:p>
            <a:r>
              <a:rPr lang="en-US" dirty="0"/>
              <a:t>Further review of the literature will be done to find the best methods for this. (Molecular dynamics and others)</a:t>
            </a:r>
          </a:p>
          <a:p>
            <a:r>
              <a:rPr lang="en-US" dirty="0"/>
              <a:t>Structural comparisons, molecular dynamic simulation and ML models are potential methods that could be used.</a:t>
            </a:r>
          </a:p>
        </p:txBody>
      </p:sp>
    </p:spTree>
    <p:extLst>
      <p:ext uri="{BB962C8B-B14F-4D97-AF65-F5344CB8AC3E}">
        <p14:creationId xmlns:p14="http://schemas.microsoft.com/office/powerpoint/2010/main" val="963853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3B047-DCB7-ED42-7DAE-18B61FA0D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Market and application importance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0A17DF-59FB-B5AD-588C-A0713D7756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93436" y="1600200"/>
            <a:ext cx="5077040" cy="4572000"/>
          </a:xfrm>
        </p:spPr>
        <p:txBody>
          <a:bodyPr/>
          <a:lstStyle/>
          <a:p>
            <a:r>
              <a:rPr lang="en-GB" dirty="0"/>
              <a:t>NAAT is used in research, clinical diagnostics, agriculture, epidemiology and many other fields.</a:t>
            </a:r>
          </a:p>
          <a:p>
            <a:r>
              <a:rPr lang="en-GB" dirty="0"/>
              <a:t>Isothermal methods have built on traditional </a:t>
            </a:r>
            <a:r>
              <a:rPr lang="en-GB" dirty="0" err="1"/>
              <a:t>pcr</a:t>
            </a:r>
            <a:r>
              <a:rPr lang="en-GB" dirty="0"/>
              <a:t>. In which heating is not required to amplify large quantities of DNA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91C8CCA-52E8-8DB2-FDE4-3371C91F0980}"/>
              </a:ext>
            </a:extLst>
          </p:cNvPr>
          <p:cNvSpPr txBox="1">
            <a:spLocks/>
          </p:cNvSpPr>
          <p:nvPr/>
        </p:nvSpPr>
        <p:spPr>
          <a:xfrm>
            <a:off x="6670476" y="1607127"/>
            <a:ext cx="5077040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A005A0C-7B45-6C95-4A3D-355A440FED04}"/>
              </a:ext>
            </a:extLst>
          </p:cNvPr>
          <p:cNvSpPr txBox="1">
            <a:spLocks/>
          </p:cNvSpPr>
          <p:nvPr/>
        </p:nvSpPr>
        <p:spPr>
          <a:xfrm>
            <a:off x="6670476" y="1593273"/>
            <a:ext cx="5077040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Ambient NAAT circumvent the necessity for trained personnel and expensive equipment to perform a wide range of DNA amplification protocols in resource limited settings.</a:t>
            </a:r>
          </a:p>
        </p:txBody>
      </p:sp>
    </p:spTree>
    <p:extLst>
      <p:ext uri="{BB962C8B-B14F-4D97-AF65-F5344CB8AC3E}">
        <p14:creationId xmlns:p14="http://schemas.microsoft.com/office/powerpoint/2010/main" val="3368312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AAC71-16D1-2721-2B9F-E63408014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developments to achieve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4F513A-B97D-47EA-D52D-91F0F470F7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93436" y="1600200"/>
            <a:ext cx="9782800" cy="4572000"/>
          </a:xfrm>
        </p:spPr>
        <p:txBody>
          <a:bodyPr>
            <a:normAutofit lnSpcReduction="10000"/>
          </a:bodyPr>
          <a:lstStyle/>
          <a:p>
            <a:r>
              <a:rPr lang="en-GB" i="0" dirty="0">
                <a:solidFill>
                  <a:srgbClr val="1F1F1F"/>
                </a:solidFill>
                <a:effectLst/>
              </a:rPr>
              <a:t>balancing the requirements for improved speed, lower reaction volumes, reduced electricity requirements, and yet exhibiting high sensitivity and robustness</a:t>
            </a:r>
          </a:p>
          <a:p>
            <a:r>
              <a:rPr lang="en-GB" i="0" dirty="0">
                <a:solidFill>
                  <a:srgbClr val="1F1F1F"/>
                </a:solidFill>
                <a:effectLst/>
              </a:rPr>
              <a:t>employing higher multiplexed ability by allowing multiple (</a:t>
            </a:r>
            <a:r>
              <a:rPr lang="en-GB" i="1" dirty="0">
                <a:solidFill>
                  <a:srgbClr val="1F1F1F"/>
                </a:solidFill>
                <a:effectLst/>
              </a:rPr>
              <a:t>e.g.</a:t>
            </a:r>
            <a:r>
              <a:rPr lang="en-GB" i="0" dirty="0">
                <a:solidFill>
                  <a:srgbClr val="1F1F1F"/>
                </a:solidFill>
                <a:effectLst/>
              </a:rPr>
              <a:t> more than 5) reactions in one tube</a:t>
            </a:r>
            <a:endParaRPr lang="en-GB" dirty="0">
              <a:solidFill>
                <a:srgbClr val="1F1F1F"/>
              </a:solidFill>
            </a:endParaRPr>
          </a:p>
          <a:p>
            <a:r>
              <a:rPr lang="en-GB" i="0" dirty="0">
                <a:solidFill>
                  <a:srgbClr val="1F1F1F"/>
                </a:solidFill>
                <a:effectLst/>
              </a:rPr>
              <a:t>being more amenable to be integrated with other processes, such as sample preparation, </a:t>
            </a:r>
            <a:r>
              <a:rPr lang="en-GB" dirty="0">
                <a:solidFill>
                  <a:srgbClr val="1F1F1F"/>
                </a:solidFill>
              </a:rPr>
              <a:t>purification</a:t>
            </a:r>
            <a:r>
              <a:rPr lang="en-GB" i="0" dirty="0">
                <a:solidFill>
                  <a:srgbClr val="1F1F1F"/>
                </a:solidFill>
                <a:effectLst/>
              </a:rPr>
              <a:t> and detection, which paves the way for a fully automated system for POC application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201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5671B-E75F-B9A3-C777-217E91370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RPA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7EA4CF-EF1A-C281-2A51-29C80BA024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93436" y="1600200"/>
            <a:ext cx="9782800" cy="4572000"/>
          </a:xfrm>
        </p:spPr>
        <p:txBody>
          <a:bodyPr>
            <a:normAutofit lnSpcReduction="10000"/>
          </a:bodyPr>
          <a:lstStyle/>
          <a:p>
            <a:r>
              <a:rPr lang="en-GB" dirty="0"/>
              <a:t>A method to amplify targeted section of DNA.</a:t>
            </a:r>
          </a:p>
          <a:p>
            <a:r>
              <a:rPr lang="en-GB" dirty="0"/>
              <a:t>Recombinase proteins form a non specific complex with ssDNA primers to form a complex. </a:t>
            </a:r>
          </a:p>
          <a:p>
            <a:r>
              <a:rPr lang="en-GB" dirty="0"/>
              <a:t>Complex bind to target dsDNA. DNA is stabilised and then a strand displacing polymerase extends the DNA. </a:t>
            </a:r>
          </a:p>
          <a:p>
            <a:r>
              <a:rPr lang="en-GB" dirty="0" err="1"/>
              <a:t>uvsX</a:t>
            </a:r>
            <a:r>
              <a:rPr lang="en-GB" dirty="0"/>
              <a:t> is a recombinase identified, when used in tandem with </a:t>
            </a:r>
            <a:r>
              <a:rPr lang="en-GB" dirty="0" err="1"/>
              <a:t>uvsY</a:t>
            </a:r>
            <a:r>
              <a:rPr lang="en-GB" dirty="0"/>
              <a:t> and gp32, favourable conditions for RPA can be established. </a:t>
            </a:r>
          </a:p>
          <a:p>
            <a:r>
              <a:rPr lang="en-GB" dirty="0"/>
              <a:t>Incubation temps between 37</a:t>
            </a:r>
            <a:r>
              <a:rPr lang="en-GB" b="0" i="0" dirty="0">
                <a:solidFill>
                  <a:srgbClr val="1F1F1F"/>
                </a:solidFill>
                <a:effectLst/>
                <a:latin typeface="ElsevierGulliver"/>
              </a:rPr>
              <a:t>°C</a:t>
            </a:r>
            <a:r>
              <a:rPr lang="en-GB" dirty="0"/>
              <a:t>-42</a:t>
            </a:r>
            <a:r>
              <a:rPr lang="en-GB" b="0" i="0" dirty="0">
                <a:solidFill>
                  <a:srgbClr val="1F1F1F"/>
                </a:solidFill>
                <a:effectLst/>
                <a:latin typeface="ElsevierGulliver"/>
              </a:rPr>
              <a:t>°C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50430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2BADD-DC38-4DF5-A119-F6CA6442A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Computational discovery of LSRs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807D1-C94E-325B-13AC-42EC826B4B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93435" y="1600200"/>
            <a:ext cx="9782801" cy="4572000"/>
          </a:xfrm>
        </p:spPr>
        <p:txBody>
          <a:bodyPr>
            <a:normAutofit fontScale="92500"/>
          </a:bodyPr>
          <a:lstStyle/>
          <a:p>
            <a:r>
              <a:rPr lang="en-GB" dirty="0"/>
              <a:t>Large sample of genomes from NCBI </a:t>
            </a:r>
            <a:r>
              <a:rPr lang="en-GB" dirty="0" err="1"/>
              <a:t>RefSeq</a:t>
            </a:r>
            <a:r>
              <a:rPr lang="en-GB" dirty="0"/>
              <a:t> database were identified</a:t>
            </a:r>
          </a:p>
          <a:p>
            <a:r>
              <a:rPr lang="en-GB" dirty="0"/>
              <a:t>Clustered at the species level.</a:t>
            </a:r>
          </a:p>
          <a:p>
            <a:r>
              <a:rPr lang="en-GB" dirty="0"/>
              <a:t>Genomes were batched an annotated using prodigal.</a:t>
            </a:r>
          </a:p>
          <a:p>
            <a:r>
              <a:rPr lang="en-GB" dirty="0"/>
              <a:t>Searched for all encoded proteins that contained a Recombinase </a:t>
            </a:r>
            <a:r>
              <a:rPr lang="en-GB" dirty="0" err="1"/>
              <a:t>pfam</a:t>
            </a:r>
            <a:r>
              <a:rPr lang="en-GB" dirty="0"/>
              <a:t> domain. Genomes with predicted LSR compared to those without.</a:t>
            </a:r>
          </a:p>
          <a:p>
            <a:r>
              <a:rPr lang="en-GB" dirty="0" err="1"/>
              <a:t>MGEFinder</a:t>
            </a:r>
            <a:r>
              <a:rPr lang="en-GB" dirty="0"/>
              <a:t> used to find if MGE boundaries contained an LSR, alluding to Recombinant activity occurring.</a:t>
            </a:r>
          </a:p>
          <a:p>
            <a:r>
              <a:rPr lang="en-GB" dirty="0"/>
              <a:t>These genomes were added to the database.</a:t>
            </a:r>
          </a:p>
        </p:txBody>
      </p:sp>
    </p:spTree>
    <p:extLst>
      <p:ext uri="{BB962C8B-B14F-4D97-AF65-F5344CB8AC3E}">
        <p14:creationId xmlns:p14="http://schemas.microsoft.com/office/powerpoint/2010/main" val="3319148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3CD58-77A4-5332-47C9-572D68E88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Adaptations to Durrant et 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1969A0-A957-381B-466B-AAECC5DB6B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93436" y="1600200"/>
            <a:ext cx="9782800" cy="4572000"/>
          </a:xfrm>
        </p:spPr>
        <p:txBody>
          <a:bodyPr/>
          <a:lstStyle/>
          <a:p>
            <a:r>
              <a:rPr lang="en-US" dirty="0" err="1"/>
              <a:t>UvsX</a:t>
            </a:r>
            <a:r>
              <a:rPr lang="en-US" dirty="0"/>
              <a:t> doesn’t work with transposable elements. We wouldn’t be able to use </a:t>
            </a:r>
            <a:r>
              <a:rPr lang="en-US" dirty="0" err="1"/>
              <a:t>MGEFinder</a:t>
            </a:r>
            <a:r>
              <a:rPr lang="en-US" dirty="0"/>
              <a:t> to identify candidates</a:t>
            </a:r>
          </a:p>
          <a:p>
            <a:r>
              <a:rPr lang="en-US" dirty="0"/>
              <a:t>Specific markers and sequence similarity will be main predictors of potential recombinase activity.</a:t>
            </a:r>
          </a:p>
          <a:p>
            <a:r>
              <a:rPr lang="en-US" dirty="0"/>
              <a:t>Setting a threshold of similarity will be an important decision.</a:t>
            </a:r>
          </a:p>
          <a:p>
            <a:r>
              <a:rPr lang="en-US" dirty="0"/>
              <a:t>Alternatively we could first identify promising genomes and allow a larger level of difference.</a:t>
            </a:r>
          </a:p>
        </p:txBody>
      </p:sp>
    </p:spTree>
    <p:extLst>
      <p:ext uri="{BB962C8B-B14F-4D97-AF65-F5344CB8AC3E}">
        <p14:creationId xmlns:p14="http://schemas.microsoft.com/office/powerpoint/2010/main" val="3181318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EE2D-8238-D2A9-0281-2865DEC93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Potential strategies</a:t>
            </a:r>
          </a:p>
        </p:txBody>
      </p:sp>
      <p:pic>
        <p:nvPicPr>
          <p:cNvPr id="6" name="Content Placeholder 5" descr="A close-up of several squares&#10;&#10;Description automatically generated">
            <a:extLst>
              <a:ext uri="{FF2B5EF4-FFF2-40B4-BE49-F238E27FC236}">
                <a16:creationId xmlns:a16="http://schemas.microsoft.com/office/drawing/2014/main" id="{A7C292D3-A16F-EAAD-26CB-C815870B640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0198" y="2132856"/>
            <a:ext cx="10109275" cy="3704502"/>
          </a:xfrm>
        </p:spPr>
      </p:pic>
    </p:spTree>
    <p:extLst>
      <p:ext uri="{BB962C8B-B14F-4D97-AF65-F5344CB8AC3E}">
        <p14:creationId xmlns:p14="http://schemas.microsoft.com/office/powerpoint/2010/main" val="915207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BC779-617A-C987-77C7-8A25A5D23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Cold Enzyme adaptations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332021-9D46-AD19-5A0D-8454BE2C66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93436" y="1600200"/>
            <a:ext cx="9973584" cy="4572000"/>
          </a:xfrm>
        </p:spPr>
        <p:txBody>
          <a:bodyPr/>
          <a:lstStyle/>
          <a:p>
            <a:r>
              <a:rPr lang="en-GB" dirty="0"/>
              <a:t>Understanding typical adaptions enzymes evolve to withstand activity even in cold temperatures may help identify useful markers we can target during the search phase. </a:t>
            </a:r>
          </a:p>
          <a:p>
            <a:r>
              <a:rPr lang="en-GB" dirty="0"/>
              <a:t>Genome wide markers would help us identify any cold adapted phage. </a:t>
            </a:r>
          </a:p>
          <a:p>
            <a:r>
              <a:rPr lang="en-GB" dirty="0" err="1"/>
              <a:t>UvsX</a:t>
            </a:r>
            <a:r>
              <a:rPr lang="en-GB" dirty="0"/>
              <a:t> specific markers for cold adaptation will reveal potential candidates for high catalytic activity at ambient temperatures</a:t>
            </a:r>
          </a:p>
        </p:txBody>
      </p:sp>
    </p:spTree>
    <p:extLst>
      <p:ext uri="{BB962C8B-B14F-4D97-AF65-F5344CB8AC3E}">
        <p14:creationId xmlns:p14="http://schemas.microsoft.com/office/powerpoint/2010/main" val="2140282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1BED6-8451-229D-805C-115C4E6C4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Typical cold adaptations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CE8290-CFBC-8B23-1C7C-25DE71375B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93436" y="1600200"/>
            <a:ext cx="4933024" cy="4572000"/>
          </a:xfrm>
        </p:spPr>
        <p:txBody>
          <a:bodyPr/>
          <a:lstStyle/>
          <a:p>
            <a:r>
              <a:rPr lang="en-US" dirty="0"/>
              <a:t>Enzymes</a:t>
            </a:r>
          </a:p>
          <a:p>
            <a:r>
              <a:rPr lang="en-US" dirty="0"/>
              <a:t>Orthologs found in mesophiles tend to have high structural and sequence conservation</a:t>
            </a:r>
          </a:p>
          <a:p>
            <a:r>
              <a:rPr lang="en-US" dirty="0"/>
              <a:t>Main issue is overcoming the exponential decay in chemical reaction rates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9A46F4D-FCE7-1EDB-9286-A20E510884C2}"/>
              </a:ext>
            </a:extLst>
          </p:cNvPr>
          <p:cNvSpPr txBox="1">
            <a:spLocks/>
          </p:cNvSpPr>
          <p:nvPr/>
        </p:nvSpPr>
        <p:spPr>
          <a:xfrm>
            <a:off x="6484836" y="1600200"/>
            <a:ext cx="4933024" cy="4572000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Typical markers include; decreased core hydrophobicity, increased surface hydrophobicity and increased surface hydrophilicity.</a:t>
            </a:r>
          </a:p>
          <a:p>
            <a:r>
              <a:rPr lang="en-US" dirty="0"/>
              <a:t>Appears to be no particular structural or sequence elements that predacity </a:t>
            </a:r>
            <a:r>
              <a:rPr lang="en-US" dirty="0" err="1"/>
              <a:t>psychrophilicity</a:t>
            </a:r>
            <a:r>
              <a:rPr lang="en-US" dirty="0"/>
              <a:t>.</a:t>
            </a:r>
          </a:p>
          <a:p>
            <a:r>
              <a:rPr lang="en-US" dirty="0"/>
              <a:t>One prevailing hypothesis, is increased flexibility around active sites.</a:t>
            </a:r>
          </a:p>
          <a:p>
            <a:r>
              <a:rPr lang="en-US" dirty="0"/>
              <a:t>May be more useful to look for genome wide adaptations to identify potential candidate genomes and then look to identify the </a:t>
            </a:r>
            <a:r>
              <a:rPr lang="en-US" dirty="0" err="1"/>
              <a:t>prescence</a:t>
            </a:r>
            <a:r>
              <a:rPr lang="en-US" dirty="0"/>
              <a:t> of recombinases.</a:t>
            </a:r>
          </a:p>
          <a:p>
            <a:r>
              <a:rPr lang="en-US" dirty="0"/>
              <a:t>In general there is full conservation between cold and warm adapted enzymes.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6003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6C3BA-5865-5303-B547-6E021EB83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Justification for a Scandinavia field Trip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91CBBB-4245-F438-827C-AA263D0736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93435" y="1600200"/>
            <a:ext cx="9782801" cy="4572000"/>
          </a:xfrm>
        </p:spPr>
        <p:txBody>
          <a:bodyPr>
            <a:normAutofit lnSpcReduction="10000"/>
          </a:bodyPr>
          <a:lstStyle/>
          <a:p>
            <a:r>
              <a:rPr lang="en-GB" dirty="0"/>
              <a:t>Estimated 200 million tonnes of Bacteriophages on the planet. With an estimate of many ten millions of species on the planet.</a:t>
            </a:r>
          </a:p>
          <a:p>
            <a:r>
              <a:rPr lang="en-GB" dirty="0"/>
              <a:t>On the internet there are 30,000 bacteriophage genomes present (being generous) comprising roughly 14,000 unique species.</a:t>
            </a:r>
          </a:p>
          <a:p>
            <a:r>
              <a:rPr lang="en-GB" dirty="0"/>
              <a:t>A trip to collect polar ice and sequence any bacteriophages could return many novel genome sequences which may not be available online, increasing the search space for </a:t>
            </a:r>
            <a:r>
              <a:rPr lang="en-GB" dirty="0" err="1"/>
              <a:t>uvsX</a:t>
            </a:r>
            <a:r>
              <a:rPr lang="en-GB" dirty="0"/>
              <a:t> and potential identification of more active variants in lower temperature ranges.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7194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EF7EA-8146-4624-B267-EC543E485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pipeline to identify a wide range of industrially useful cold adapted enzymes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0929E-9840-9788-AADD-5ADE07CC73E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Using the knowledge and methodology to identify cold adapted </a:t>
            </a:r>
            <a:r>
              <a:rPr lang="en-US" dirty="0" err="1"/>
              <a:t>UvsX</a:t>
            </a:r>
            <a:endParaRPr lang="en-US" dirty="0"/>
          </a:p>
          <a:p>
            <a:r>
              <a:rPr lang="en-US" dirty="0"/>
              <a:t>Apply this to find all cold adapted orthologs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8146DA-2F33-1EB5-DBB4-E68A55C682D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Review literature to see which processes possess proteins that could be replaced with cold adapted orthologs.</a:t>
            </a:r>
          </a:p>
          <a:p>
            <a:r>
              <a:rPr lang="en-US" dirty="0"/>
              <a:t>Do more research into these to develop more useful products.</a:t>
            </a:r>
          </a:p>
        </p:txBody>
      </p:sp>
    </p:spTree>
    <p:extLst>
      <p:ext uri="{BB962C8B-B14F-4D97-AF65-F5344CB8AC3E}">
        <p14:creationId xmlns:p14="http://schemas.microsoft.com/office/powerpoint/2010/main" val="3029833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9CFFF-27B6-2FC2-2727-296F2FCBD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F13502-1F37-A238-47F4-9AE9408C9F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93435" y="1600200"/>
            <a:ext cx="9782801" cy="4572000"/>
          </a:xfrm>
        </p:spPr>
        <p:txBody>
          <a:bodyPr/>
          <a:lstStyle/>
          <a:p>
            <a:r>
              <a:rPr lang="en-US" dirty="0" err="1"/>
              <a:t>Kmer</a:t>
            </a:r>
            <a:r>
              <a:rPr lang="en-US" dirty="0"/>
              <a:t> searching. What size K. Protein or DNA seq?</a:t>
            </a:r>
          </a:p>
          <a:p>
            <a:r>
              <a:rPr lang="en-US" dirty="0"/>
              <a:t>Hidden Markov model. What are the state transitions. Do I look between bases? Observable states are Bases or whether </a:t>
            </a:r>
          </a:p>
          <a:p>
            <a:r>
              <a:rPr lang="en-US" dirty="0"/>
              <a:t>LOGAN contains reads or full assembled genomes? Does it have metadata such as species?</a:t>
            </a:r>
          </a:p>
          <a:p>
            <a:r>
              <a:rPr lang="en-US" dirty="0"/>
              <a:t>How can this be adapted for a wide variety of different systems, would it be useful?</a:t>
            </a:r>
          </a:p>
        </p:txBody>
      </p:sp>
    </p:spTree>
    <p:extLst>
      <p:ext uri="{BB962C8B-B14F-4D97-AF65-F5344CB8AC3E}">
        <p14:creationId xmlns:p14="http://schemas.microsoft.com/office/powerpoint/2010/main" val="312374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Snowflakes design template">
  <a:themeElements>
    <a:clrScheme name="Viole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Horizon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2159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28575" h="41275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/>
        </a:defPPr>
      </a:lstStyle>
      <a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a:style>
    </a:spDef>
    <a:lnDef>
      <a:spPr/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square" rtlCol="0" anchor="ctr" anchorCtr="1">
        <a:spAutoFit/>
      </a:bodyPr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Snowflakes design slides.potx" id="{DEE1F0AD-706A-4F4C-823D-ADFE5851E3EA}" vid="{52425298-8660-4232-B133-1A88C14B38E6}"/>
    </a:ext>
  </a:extLst>
</a:theme>
</file>

<file path=ppt/theme/theme2.xml><?xml version="1.0" encoding="utf-8"?>
<a:theme xmlns:a="http://schemas.openxmlformats.org/drawingml/2006/main" name="Office Theme">
  <a:themeElements>
    <a:clrScheme name="Viole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Horizon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2159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28575" h="41275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Viole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Horizon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2159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28575" h="41275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VSO_x0020_item_x0020_id xmlns="40262f94-9f35-4ac3-9a90-690165a166b7" xsi:nil="true"/>
    <Assetid_x0020_ xmlns="40262f94-9f35-4ac3-9a90-690165a166b7" xsi:nil="true"/>
    <Item_x0020_Details xmlns="40262f94-9f35-4ac3-9a90-690165a166b7" xsi:nil="true"/>
    <Template_x0020_details xmlns="40262f94-9f35-4ac3-9a90-690165a166b7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3F7D94069FF64A86F7DFF56D60E3BE" ma:contentTypeVersion="6" ma:contentTypeDescription="Create a new document." ma:contentTypeScope="" ma:versionID="c32302c77d4085ecf495bdddb7f5e889">
  <xsd:schema xmlns:xsd="http://www.w3.org/2001/XMLSchema" xmlns:xs="http://www.w3.org/2001/XMLSchema" xmlns:p="http://schemas.microsoft.com/office/2006/metadata/properties" xmlns:ns2="a4f35948-e619-41b3-aa29-22878b09cfd2" xmlns:ns3="40262f94-9f35-4ac3-9a90-690165a166b7" targetNamespace="http://schemas.microsoft.com/office/2006/metadata/properties" ma:root="true" ma:fieldsID="4ab5ae46be95f9d0be6107e8200be7a2" ns2:_="" ns3:_="">
    <xsd:import namespace="a4f35948-e619-41b3-aa29-22878b09cfd2"/>
    <xsd:import namespace="40262f94-9f35-4ac3-9a90-690165a166b7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VSO_x0020_item_x0020_id" minOccurs="0"/>
                <xsd:element ref="ns3:Item_x0020_Details" minOccurs="0"/>
                <xsd:element ref="ns3:Template_x0020_details" minOccurs="0"/>
                <xsd:element ref="ns3:Assetid_x0020_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f35948-e619-41b3-aa29-22878b09cfd2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262f94-9f35-4ac3-9a90-690165a166b7" elementFormDefault="qualified">
    <xsd:import namespace="http://schemas.microsoft.com/office/2006/documentManagement/types"/>
    <xsd:import namespace="http://schemas.microsoft.com/office/infopath/2007/PartnerControls"/>
    <xsd:element name="VSO_x0020_item_x0020_id" ma:index="10" nillable="true" ma:displayName="VSO item id" ma:description="Please add the bug number to refer to VSO items." ma:internalName="VSO_x0020_item_x0020_id">
      <xsd:simpleType>
        <xsd:restriction base="dms:Text">
          <xsd:maxLength value="255"/>
        </xsd:restriction>
      </xsd:simpleType>
    </xsd:element>
    <xsd:element name="Item_x0020_Details" ma:index="11" nillable="true" ma:displayName="Item Details" ma:internalName="Item_x0020_Details">
      <xsd:simpleType>
        <xsd:restriction base="dms:Note">
          <xsd:maxLength value="255"/>
        </xsd:restriction>
      </xsd:simpleType>
    </xsd:element>
    <xsd:element name="Template_x0020_details" ma:index="12" nillable="true" ma:displayName="Template details" ma:internalName="Template_x0020_details">
      <xsd:simpleType>
        <xsd:restriction base="dms:Text"/>
      </xsd:simpleType>
    </xsd:element>
    <xsd:element name="Assetid_x0020_" ma:index="13" nillable="true" ma:displayName="Assetid " ma:internalName="Assetid_x0020_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915ED37-D514-41C3-9B3C-B262145D17B7}">
  <ds:schemaRefs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40262f94-9f35-4ac3-9a90-690165a166b7"/>
    <ds:schemaRef ds:uri="a4f35948-e619-41b3-aa29-22878b09cfd2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3E783485-1103-4BBC-98A1-D39A248154C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8853CD7-B1C6-4FDD-B6D0-92A83B857D3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4f35948-e619-41b3-aa29-22878b09cfd2"/>
    <ds:schemaRef ds:uri="40262f94-9f35-4ac3-9a90-690165a166b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569df091-b013-40e3-86ee-bd9cb9e25814}" enabled="0" method="" siteId="{569df091-b013-40e3-86ee-bd9cb9e2581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Snowflakes design slides</Template>
  <TotalTime>1922</TotalTime>
  <Words>993</Words>
  <Application>Microsoft Macintosh PowerPoint</Application>
  <PresentationFormat>Custom</PresentationFormat>
  <Paragraphs>83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Century Gothic</vt:lpstr>
      <vt:lpstr>ElsevierGulliver</vt:lpstr>
      <vt:lpstr>Euphemia</vt:lpstr>
      <vt:lpstr>Wingdings</vt:lpstr>
      <vt:lpstr>Snowflakes design template</vt:lpstr>
      <vt:lpstr>Week 1</vt:lpstr>
      <vt:lpstr>Phases</vt:lpstr>
      <vt:lpstr>Phase 1</vt:lpstr>
      <vt:lpstr>Phase 2</vt:lpstr>
      <vt:lpstr>Phase 3:</vt:lpstr>
      <vt:lpstr>Phase 4:</vt:lpstr>
      <vt:lpstr>Market and application importance</vt:lpstr>
      <vt:lpstr>Key developments to achieve</vt:lpstr>
      <vt:lpstr>RPA</vt:lpstr>
      <vt:lpstr>Computational discovery of LSRs</vt:lpstr>
      <vt:lpstr>Adaptations to Durrant et al</vt:lpstr>
      <vt:lpstr>Potential strategies</vt:lpstr>
      <vt:lpstr>Cold Enzyme adaptations</vt:lpstr>
      <vt:lpstr>Typical cold adaptations</vt:lpstr>
      <vt:lpstr>Justification for a Scandinavia field Trip</vt:lpstr>
      <vt:lpstr>Creating pipeline to identify a wide range of industrially useful cold adapted enzymes</vt:lpstr>
      <vt:lpstr>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Jaime Duarte-Niemen</dc:creator>
  <cp:lastModifiedBy>Maria Elisabete Duarte</cp:lastModifiedBy>
  <cp:revision>5</cp:revision>
  <dcterms:created xsi:type="dcterms:W3CDTF">2026-03-17T12:04:20Z</dcterms:created>
  <dcterms:modified xsi:type="dcterms:W3CDTF">2026-03-20T13:08:41Z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Order">
    <vt:r8>74067300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</Properties>
</file>